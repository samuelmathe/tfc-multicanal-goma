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Lst>
  <p:sldSz cx="9144000" cy="5143500"/>
  <p:notesSz cx="51435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fr-FR" sz="1800" strike="noStrike" u="none">
                <a:solidFill>
                  <a:schemeClr val="dk1"/>
                </a:solidFill>
                <a:uFillTx/>
                <a:latin typeface="Calibri"/>
              </a:rPr>
              <a:t>Click to move the slide</a:t>
            </a:r>
            <a:endParaRPr b="0" lang="fr-FR" sz="1800" strike="noStrike" u="none">
              <a:solidFill>
                <a:schemeClr val="dk1"/>
              </a:solidFill>
              <a:uFillTx/>
              <a:latin typeface="Calibri"/>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fr-FR" sz="2000" strike="noStrike" u="none">
                <a:solidFill>
                  <a:srgbClr val="000000"/>
                </a:solidFill>
                <a:uFillTx/>
                <a:latin typeface="Arial"/>
              </a:rPr>
              <a:t>Click to edit the notes format</a:t>
            </a:r>
            <a:endParaRPr b="0" lang="fr-FR" sz="2000" strike="noStrike" u="none">
              <a:solidFill>
                <a:srgbClr val="000000"/>
              </a:solidFill>
              <a:uFillTx/>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fr-FR" sz="1400" strike="noStrike" u="none">
                <a:solidFill>
                  <a:srgbClr val="000000"/>
                </a:solidFill>
                <a:uFillTx/>
                <a:latin typeface="Times New Roman"/>
              </a:rPr>
              <a:t>&lt;header&gt;</a:t>
            </a:r>
            <a:endParaRPr b="0" lang="fr-FR" sz="1400" strike="noStrike" u="none">
              <a:solidFill>
                <a:srgbClr val="000000"/>
              </a:solidFill>
              <a:uFillTx/>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fr-FR" sz="1400" strike="noStrike" u="none">
                <a:solidFill>
                  <a:srgbClr val="000000"/>
                </a:solidFill>
                <a:uFillTx/>
                <a:latin typeface="Times New Roman"/>
              </a:defRPr>
            </a:lvl1pPr>
          </a:lstStyle>
          <a:p>
            <a:pPr indent="0" algn="r">
              <a:buNone/>
            </a:pPr>
            <a:r>
              <a:rPr b="0" lang="fr-FR" sz="1400" strike="noStrike" u="none">
                <a:solidFill>
                  <a:srgbClr val="000000"/>
                </a:solidFill>
                <a:uFillTx/>
                <a:latin typeface="Times New Roman"/>
              </a:rPr>
              <a:t>&lt;date/time&gt;</a:t>
            </a:r>
            <a:endParaRPr b="0" lang="fr-FR" sz="1400" strike="noStrike" u="none">
              <a:solidFill>
                <a:srgbClr val="000000"/>
              </a:solidFill>
              <a:uFillTx/>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fr-FR" sz="1400" strike="noStrike" u="none">
                <a:solidFill>
                  <a:srgbClr val="000000"/>
                </a:solidFill>
                <a:uFillTx/>
                <a:latin typeface="Times New Roman"/>
              </a:defRPr>
            </a:lvl1pPr>
          </a:lstStyle>
          <a:p>
            <a:pPr indent="0">
              <a:buNone/>
            </a:pPr>
            <a:r>
              <a:rPr b="0" lang="fr-FR" sz="1400" strike="noStrike" u="none">
                <a:solidFill>
                  <a:srgbClr val="000000"/>
                </a:solidFill>
                <a:uFillTx/>
                <a:latin typeface="Times New Roman"/>
              </a:rPr>
              <a:t>&lt;footer&gt;</a:t>
            </a:r>
            <a:endParaRPr b="0" lang="fr-FR" sz="1400" strike="noStrike" u="none">
              <a:solidFill>
                <a:srgbClr val="000000"/>
              </a:solidFill>
              <a:uFillTx/>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fr-FR" sz="1400" strike="noStrike" u="none">
                <a:solidFill>
                  <a:srgbClr val="000000"/>
                </a:solidFill>
                <a:uFillTx/>
                <a:latin typeface="Times New Roman"/>
              </a:defRPr>
            </a:lvl1pPr>
          </a:lstStyle>
          <a:p>
            <a:pPr indent="0" algn="r">
              <a:buNone/>
            </a:pPr>
            <a:fld id="{154885A1-F85A-4C47-B2F5-2C4A4266AA51}" type="slidenum">
              <a:rPr b="0" lang="fr-FR" sz="1400" strike="noStrike" u="none">
                <a:solidFill>
                  <a:srgbClr val="000000"/>
                </a:solidFill>
                <a:uFillTx/>
                <a:latin typeface="Times New Roman"/>
              </a:rPr>
              <a:t>&lt;number&gt;</a:t>
            </a:fld>
            <a:endParaRPr b="0" lang="fr-FR" sz="1400" strike="noStrike" u="none">
              <a:solidFill>
                <a:srgbClr val="000000"/>
              </a:solidFill>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sldImg"/>
          </p:nvPr>
        </p:nvSpPr>
        <p:spPr>
          <a:xfrm>
            <a:off x="685800" y="1143000"/>
            <a:ext cx="5486040" cy="3085920"/>
          </a:xfrm>
          <a:prstGeom prst="rect">
            <a:avLst/>
          </a:prstGeom>
          <a:ln w="0">
            <a:noFill/>
          </a:ln>
        </p:spPr>
      </p:sp>
      <p:sp>
        <p:nvSpPr>
          <p:cNvPr id="21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fr-FR" sz="1800" strike="noStrike" u="none">
              <a:solidFill>
                <a:srgbClr val="000000"/>
              </a:solidFill>
              <a:uFillTx/>
              <a:latin typeface="Arial"/>
            </a:endParaRPr>
          </a:p>
        </p:txBody>
      </p:sp>
      <p:sp>
        <p:nvSpPr>
          <p:cNvPr id="217"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fr-FR" sz="1200" strike="noStrike" u="none">
                <a:solidFill>
                  <a:schemeClr val="dk1"/>
                </a:solidFill>
                <a:uFillTx/>
                <a:latin typeface="+mn-lt"/>
                <a:ea typeface="+mn-ea"/>
              </a:defRPr>
            </a:lvl1pPr>
          </a:lstStyle>
          <a:p>
            <a:pPr indent="0" algn="r" defTabSz="914400">
              <a:lnSpc>
                <a:spcPct val="100000"/>
              </a:lnSpc>
              <a:buNone/>
            </a:pPr>
            <a:fld id="{813E5FC6-36BB-4158-B616-3B95370094C6}" type="slidenum">
              <a:rPr b="0" lang="fr-FR" sz="1200" strike="noStrike" u="none">
                <a:solidFill>
                  <a:schemeClr val="dk1"/>
                </a:solidFill>
                <a:uFillTx/>
                <a:latin typeface="+mn-lt"/>
                <a:ea typeface="+mn-ea"/>
              </a:rPr>
              <a:t>&lt;number&gt;</a:t>
            </a:fld>
            <a:endParaRPr b="0" lang="fr-FR" sz="1200" strike="noStrike" u="none">
              <a:solidFill>
                <a:srgbClr val="000000"/>
              </a:solidFill>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sldImg"/>
          </p:nvPr>
        </p:nvSpPr>
        <p:spPr>
          <a:xfrm>
            <a:off x="685800" y="1143000"/>
            <a:ext cx="5486040" cy="3085920"/>
          </a:xfrm>
          <a:prstGeom prst="rect">
            <a:avLst/>
          </a:prstGeom>
          <a:ln w="0">
            <a:noFill/>
          </a:ln>
        </p:spPr>
      </p:sp>
      <p:sp>
        <p:nvSpPr>
          <p:cNvPr id="21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fr-FR" sz="1800" strike="noStrike" u="none">
              <a:solidFill>
                <a:srgbClr val="000000"/>
              </a:solidFill>
              <a:uFillTx/>
              <a:latin typeface="Arial"/>
            </a:endParaRPr>
          </a:p>
        </p:txBody>
      </p:sp>
      <p:sp>
        <p:nvSpPr>
          <p:cNvPr id="220"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fr-FR" sz="1200" strike="noStrike" u="none">
                <a:solidFill>
                  <a:schemeClr val="dk1"/>
                </a:solidFill>
                <a:uFillTx/>
                <a:latin typeface="+mn-lt"/>
                <a:ea typeface="+mn-ea"/>
              </a:defRPr>
            </a:lvl1pPr>
          </a:lstStyle>
          <a:p>
            <a:pPr indent="0" algn="r" defTabSz="914400">
              <a:lnSpc>
                <a:spcPct val="100000"/>
              </a:lnSpc>
              <a:buNone/>
            </a:pPr>
            <a:fld id="{85F9736D-D5FD-4CA7-83FA-3D4B4D3E7109}" type="slidenum">
              <a:rPr b="0" lang="fr-FR" sz="1200" strike="noStrike" u="none">
                <a:solidFill>
                  <a:schemeClr val="dk1"/>
                </a:solidFill>
                <a:uFillTx/>
                <a:latin typeface="+mn-lt"/>
                <a:ea typeface="+mn-ea"/>
              </a:rPr>
              <a:t>&lt;number&gt;</a:t>
            </a:fld>
            <a:endParaRPr b="0" lang="fr-FR" sz="1200" strike="noStrike" u="none">
              <a:solidFill>
                <a:srgbClr val="000000"/>
              </a:solidFill>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sldImg"/>
          </p:nvPr>
        </p:nvSpPr>
        <p:spPr>
          <a:xfrm>
            <a:off x="685800" y="1143000"/>
            <a:ext cx="5486040" cy="3085920"/>
          </a:xfrm>
          <a:prstGeom prst="rect">
            <a:avLst/>
          </a:prstGeom>
          <a:ln w="0">
            <a:noFill/>
          </a:ln>
        </p:spPr>
      </p:sp>
      <p:sp>
        <p:nvSpPr>
          <p:cNvPr id="22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fr-FR" sz="1800" strike="noStrike" u="none">
              <a:solidFill>
                <a:srgbClr val="000000"/>
              </a:solidFill>
              <a:uFillTx/>
              <a:latin typeface="Arial"/>
            </a:endParaRPr>
          </a:p>
        </p:txBody>
      </p:sp>
      <p:sp>
        <p:nvSpPr>
          <p:cNvPr id="223"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fr-FR" sz="1200" strike="noStrike" u="none">
                <a:solidFill>
                  <a:schemeClr val="dk1"/>
                </a:solidFill>
                <a:uFillTx/>
                <a:latin typeface="+mn-lt"/>
                <a:ea typeface="+mn-ea"/>
              </a:defRPr>
            </a:lvl1pPr>
          </a:lstStyle>
          <a:p>
            <a:pPr indent="0" algn="r" defTabSz="914400">
              <a:lnSpc>
                <a:spcPct val="100000"/>
              </a:lnSpc>
              <a:buNone/>
            </a:pPr>
            <a:fld id="{9A81EA67-77B5-4E0C-AFB0-788AB14B0F0C}" type="slidenum">
              <a:rPr b="0" lang="fr-FR" sz="1200" strike="noStrike" u="none">
                <a:solidFill>
                  <a:schemeClr val="dk1"/>
                </a:solidFill>
                <a:uFillTx/>
                <a:latin typeface="+mn-lt"/>
                <a:ea typeface="+mn-ea"/>
              </a:rPr>
              <a:t>&lt;number&gt;</a:t>
            </a:fld>
            <a:endParaRPr b="0" lang="fr-FR" sz="1200" strike="noStrike" u="none">
              <a:solidFill>
                <a:srgbClr val="000000"/>
              </a:solidFill>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sldImg"/>
          </p:nvPr>
        </p:nvSpPr>
        <p:spPr>
          <a:xfrm>
            <a:off x="685800" y="1143000"/>
            <a:ext cx="5486040" cy="3085920"/>
          </a:xfrm>
          <a:prstGeom prst="rect">
            <a:avLst/>
          </a:prstGeom>
          <a:ln w="0">
            <a:noFill/>
          </a:ln>
        </p:spPr>
      </p:sp>
      <p:sp>
        <p:nvSpPr>
          <p:cNvPr id="22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fr-FR" sz="1800" strike="noStrike" u="none">
              <a:solidFill>
                <a:srgbClr val="000000"/>
              </a:solidFill>
              <a:uFillTx/>
              <a:latin typeface="Arial"/>
            </a:endParaRPr>
          </a:p>
        </p:txBody>
      </p:sp>
      <p:sp>
        <p:nvSpPr>
          <p:cNvPr id="226"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fr-FR" sz="1200" strike="noStrike" u="none">
                <a:solidFill>
                  <a:schemeClr val="dk1"/>
                </a:solidFill>
                <a:uFillTx/>
                <a:latin typeface="+mn-lt"/>
                <a:ea typeface="+mn-ea"/>
              </a:defRPr>
            </a:lvl1pPr>
          </a:lstStyle>
          <a:p>
            <a:pPr indent="0" algn="r" defTabSz="914400">
              <a:lnSpc>
                <a:spcPct val="100000"/>
              </a:lnSpc>
              <a:buNone/>
            </a:pPr>
            <a:fld id="{865C43CF-04C5-4763-906E-C4BCC8F86B37}" type="slidenum">
              <a:rPr b="0" lang="fr-FR" sz="1200" strike="noStrike" u="none">
                <a:solidFill>
                  <a:schemeClr val="dk1"/>
                </a:solidFill>
                <a:uFillTx/>
                <a:latin typeface="+mn-lt"/>
                <a:ea typeface="+mn-ea"/>
              </a:rPr>
              <a:t>&lt;number&gt;</a:t>
            </a:fld>
            <a:endParaRPr b="0" lang="fr-FR" sz="1200" strike="noStrike" u="none">
              <a:solidFill>
                <a:srgbClr val="000000"/>
              </a:solidFill>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sldImg"/>
          </p:nvPr>
        </p:nvSpPr>
        <p:spPr>
          <a:xfrm>
            <a:off x="685800" y="1143000"/>
            <a:ext cx="5486040" cy="3085920"/>
          </a:xfrm>
          <a:prstGeom prst="rect">
            <a:avLst/>
          </a:prstGeom>
          <a:ln w="0">
            <a:noFill/>
          </a:ln>
        </p:spPr>
      </p:sp>
      <p:sp>
        <p:nvSpPr>
          <p:cNvPr id="22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fr-FR" sz="1800" strike="noStrike" u="none">
              <a:solidFill>
                <a:srgbClr val="000000"/>
              </a:solidFill>
              <a:uFillTx/>
              <a:latin typeface="Arial"/>
            </a:endParaRPr>
          </a:p>
        </p:txBody>
      </p:sp>
      <p:sp>
        <p:nvSpPr>
          <p:cNvPr id="229"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fr-FR" sz="1200" strike="noStrike" u="none">
                <a:solidFill>
                  <a:schemeClr val="dk1"/>
                </a:solidFill>
                <a:uFillTx/>
                <a:latin typeface="+mn-lt"/>
                <a:ea typeface="+mn-ea"/>
              </a:defRPr>
            </a:lvl1pPr>
          </a:lstStyle>
          <a:p>
            <a:pPr indent="0" algn="r" defTabSz="914400">
              <a:lnSpc>
                <a:spcPct val="100000"/>
              </a:lnSpc>
              <a:buNone/>
            </a:pPr>
            <a:fld id="{F5BBB00A-F175-46F5-BC1A-90FE59859268}" type="slidenum">
              <a:rPr b="0" lang="fr-FR" sz="1200" strike="noStrike" u="none">
                <a:solidFill>
                  <a:schemeClr val="dk1"/>
                </a:solidFill>
                <a:uFillTx/>
                <a:latin typeface="+mn-lt"/>
                <a:ea typeface="+mn-ea"/>
              </a:rPr>
              <a:t>&lt;number&gt;</a:t>
            </a:fld>
            <a:endParaRPr b="0" lang="fr-FR" sz="1200" strike="noStrike" u="none">
              <a:solidFill>
                <a:srgbClr val="000000"/>
              </a:solidFill>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sldImg"/>
          </p:nvPr>
        </p:nvSpPr>
        <p:spPr>
          <a:xfrm>
            <a:off x="685800" y="1143000"/>
            <a:ext cx="5486040" cy="3085920"/>
          </a:xfrm>
          <a:prstGeom prst="rect">
            <a:avLst/>
          </a:prstGeom>
          <a:ln w="0">
            <a:noFill/>
          </a:ln>
        </p:spPr>
      </p:sp>
      <p:sp>
        <p:nvSpPr>
          <p:cNvPr id="23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fr-FR" sz="1800" strike="noStrike" u="none">
              <a:solidFill>
                <a:srgbClr val="000000"/>
              </a:solidFill>
              <a:uFillTx/>
              <a:latin typeface="Arial"/>
            </a:endParaRPr>
          </a:p>
        </p:txBody>
      </p:sp>
      <p:sp>
        <p:nvSpPr>
          <p:cNvPr id="232"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fr-FR" sz="1200" strike="noStrike" u="none">
                <a:solidFill>
                  <a:schemeClr val="dk1"/>
                </a:solidFill>
                <a:uFillTx/>
                <a:latin typeface="+mn-lt"/>
                <a:ea typeface="+mn-ea"/>
              </a:defRPr>
            </a:lvl1pPr>
          </a:lstStyle>
          <a:p>
            <a:pPr indent="0" algn="r" defTabSz="914400">
              <a:lnSpc>
                <a:spcPct val="100000"/>
              </a:lnSpc>
              <a:buNone/>
            </a:pPr>
            <a:fld id="{BAC02751-F3D2-4B3C-A0D3-0035E48294AA}" type="slidenum">
              <a:rPr b="0" lang="fr-FR" sz="1200" strike="noStrike" u="none">
                <a:solidFill>
                  <a:schemeClr val="dk1"/>
                </a:solidFill>
                <a:uFillTx/>
                <a:latin typeface="+mn-lt"/>
                <a:ea typeface="+mn-ea"/>
              </a:rPr>
              <a:t>&lt;number&gt;</a:t>
            </a:fld>
            <a:endParaRPr b="0" lang="fr-FR" sz="1200" strike="noStrike" u="none">
              <a:solidFill>
                <a:srgbClr val="000000"/>
              </a:solidFill>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sldImg"/>
          </p:nvPr>
        </p:nvSpPr>
        <p:spPr>
          <a:xfrm>
            <a:off x="685800" y="1143000"/>
            <a:ext cx="5486040" cy="3085920"/>
          </a:xfrm>
          <a:prstGeom prst="rect">
            <a:avLst/>
          </a:prstGeom>
          <a:ln w="0">
            <a:noFill/>
          </a:ln>
        </p:spPr>
      </p:sp>
      <p:sp>
        <p:nvSpPr>
          <p:cNvPr id="23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fr-FR" sz="1800" strike="noStrike" u="none">
              <a:solidFill>
                <a:srgbClr val="000000"/>
              </a:solidFill>
              <a:uFillTx/>
              <a:latin typeface="Arial"/>
            </a:endParaRPr>
          </a:p>
        </p:txBody>
      </p:sp>
      <p:sp>
        <p:nvSpPr>
          <p:cNvPr id="235"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fr-FR" sz="1200" strike="noStrike" u="none">
                <a:solidFill>
                  <a:schemeClr val="dk1"/>
                </a:solidFill>
                <a:uFillTx/>
                <a:latin typeface="+mn-lt"/>
                <a:ea typeface="+mn-ea"/>
              </a:defRPr>
            </a:lvl1pPr>
          </a:lstStyle>
          <a:p>
            <a:pPr indent="0" algn="r" defTabSz="914400">
              <a:lnSpc>
                <a:spcPct val="100000"/>
              </a:lnSpc>
              <a:buNone/>
            </a:pPr>
            <a:fld id="{7567069D-6CC6-45F3-AAFE-CCB7E58BE182}" type="slidenum">
              <a:rPr b="0" lang="fr-FR" sz="1200" strike="noStrike" u="none">
                <a:solidFill>
                  <a:schemeClr val="dk1"/>
                </a:solidFill>
                <a:uFillTx/>
                <a:latin typeface="+mn-lt"/>
                <a:ea typeface="+mn-ea"/>
              </a:rPr>
              <a:t>&lt;number&gt;</a:t>
            </a:fld>
            <a:endParaRPr b="0" lang="fr-FR" sz="1200" strike="noStrike" u="none">
              <a:solidFill>
                <a:srgbClr val="000000"/>
              </a:solidFill>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sldImg"/>
          </p:nvPr>
        </p:nvSpPr>
        <p:spPr>
          <a:xfrm>
            <a:off x="685800" y="1143000"/>
            <a:ext cx="5486040" cy="3085920"/>
          </a:xfrm>
          <a:prstGeom prst="rect">
            <a:avLst/>
          </a:prstGeom>
          <a:ln w="0">
            <a:noFill/>
          </a:ln>
        </p:spPr>
      </p:sp>
      <p:sp>
        <p:nvSpPr>
          <p:cNvPr id="23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fr-FR" sz="1800" strike="noStrike" u="none">
              <a:solidFill>
                <a:srgbClr val="000000"/>
              </a:solidFill>
              <a:uFillTx/>
              <a:latin typeface="Arial"/>
            </a:endParaRPr>
          </a:p>
        </p:txBody>
      </p:sp>
      <p:sp>
        <p:nvSpPr>
          <p:cNvPr id="238"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fr-FR" sz="1200" strike="noStrike" u="none">
                <a:solidFill>
                  <a:schemeClr val="dk1"/>
                </a:solidFill>
                <a:uFillTx/>
                <a:latin typeface="+mn-lt"/>
                <a:ea typeface="+mn-ea"/>
              </a:defRPr>
            </a:lvl1pPr>
          </a:lstStyle>
          <a:p>
            <a:pPr indent="0" algn="r" defTabSz="914400">
              <a:lnSpc>
                <a:spcPct val="100000"/>
              </a:lnSpc>
              <a:buNone/>
            </a:pPr>
            <a:fld id="{01C86964-47CA-4575-9D00-A094792D10B0}" type="slidenum">
              <a:rPr b="0" lang="fr-FR" sz="1200" strike="noStrike" u="none">
                <a:solidFill>
                  <a:schemeClr val="dk1"/>
                </a:solidFill>
                <a:uFillTx/>
                <a:latin typeface="+mn-lt"/>
                <a:ea typeface="+mn-ea"/>
              </a:rPr>
              <a:t>&lt;number&gt;</a:t>
            </a:fld>
            <a:endParaRPr b="0" lang="fr-FR" sz="1200" strike="noStrike" u="none">
              <a:solidFill>
                <a:srgbClr val="000000"/>
              </a:solidFill>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sldImg"/>
          </p:nvPr>
        </p:nvSpPr>
        <p:spPr>
          <a:xfrm>
            <a:off x="685800" y="1143000"/>
            <a:ext cx="5486040" cy="3085920"/>
          </a:xfrm>
          <a:prstGeom prst="rect">
            <a:avLst/>
          </a:prstGeom>
          <a:ln w="0">
            <a:noFill/>
          </a:ln>
        </p:spPr>
      </p:sp>
      <p:sp>
        <p:nvSpPr>
          <p:cNvPr id="24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fr-FR" sz="1800" strike="noStrike" u="none">
              <a:solidFill>
                <a:srgbClr val="000000"/>
              </a:solidFill>
              <a:uFillTx/>
              <a:latin typeface="Arial"/>
            </a:endParaRPr>
          </a:p>
        </p:txBody>
      </p:sp>
      <p:sp>
        <p:nvSpPr>
          <p:cNvPr id="241"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fr-FR" sz="1200" strike="noStrike" u="none">
                <a:solidFill>
                  <a:schemeClr val="dk1"/>
                </a:solidFill>
                <a:uFillTx/>
                <a:latin typeface="+mn-lt"/>
                <a:ea typeface="+mn-ea"/>
              </a:defRPr>
            </a:lvl1pPr>
          </a:lstStyle>
          <a:p>
            <a:pPr indent="0" algn="r" defTabSz="914400">
              <a:lnSpc>
                <a:spcPct val="100000"/>
              </a:lnSpc>
              <a:buNone/>
            </a:pPr>
            <a:fld id="{3A20CA5A-D7D0-4536-A4D8-AA5B04BAC229}" type="slidenum">
              <a:rPr b="0" lang="fr-FR" sz="1200" strike="noStrike" u="none">
                <a:solidFill>
                  <a:schemeClr val="dk1"/>
                </a:solidFill>
                <a:uFillTx/>
                <a:latin typeface="+mn-lt"/>
                <a:ea typeface="+mn-ea"/>
              </a:rPr>
              <a:t>&lt;number&gt;</a:t>
            </a:fld>
            <a:endParaRPr b="0" lang="fr-FR" sz="1200" strike="noStrike" u="none">
              <a:solidFill>
                <a:srgbClr val="000000"/>
              </a:solidFill>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type="sldImg"/>
          </p:nvPr>
        </p:nvSpPr>
        <p:spPr>
          <a:xfrm>
            <a:off x="685800" y="1143000"/>
            <a:ext cx="5486040" cy="3085920"/>
          </a:xfrm>
          <a:prstGeom prst="rect">
            <a:avLst/>
          </a:prstGeom>
          <a:ln w="0">
            <a:noFill/>
          </a:ln>
        </p:spPr>
      </p:sp>
      <p:sp>
        <p:nvSpPr>
          <p:cNvPr id="24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fr-FR" sz="1800" strike="noStrike" u="none">
              <a:solidFill>
                <a:srgbClr val="000000"/>
              </a:solidFill>
              <a:uFillTx/>
              <a:latin typeface="Arial"/>
            </a:endParaRPr>
          </a:p>
        </p:txBody>
      </p:sp>
      <p:sp>
        <p:nvSpPr>
          <p:cNvPr id="244"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fr-FR" sz="1200" strike="noStrike" u="none">
                <a:solidFill>
                  <a:schemeClr val="dk1"/>
                </a:solidFill>
                <a:uFillTx/>
                <a:latin typeface="+mn-lt"/>
                <a:ea typeface="+mn-ea"/>
              </a:defRPr>
            </a:lvl1pPr>
          </a:lstStyle>
          <a:p>
            <a:pPr indent="0" algn="r" defTabSz="914400">
              <a:lnSpc>
                <a:spcPct val="100000"/>
              </a:lnSpc>
              <a:buNone/>
            </a:pPr>
            <a:fld id="{AD2D4B67-4CF1-4AC0-89C1-C62F27FF35DB}" type="slidenum">
              <a:rPr b="0" lang="fr-FR" sz="1200" strike="noStrike" u="none">
                <a:solidFill>
                  <a:schemeClr val="dk1"/>
                </a:solidFill>
                <a:uFillTx/>
                <a:latin typeface="+mn-lt"/>
                <a:ea typeface="+mn-ea"/>
              </a:rPr>
              <a:t>&lt;number&gt;</a:t>
            </a:fld>
            <a:endParaRPr b="0" lang="fr-FR" sz="1200" strike="noStrike" u="none">
              <a:solidFill>
                <a:srgbClr val="000000"/>
              </a:solidFill>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PlaceHolder 1"/>
          <p:cNvSpPr>
            <a:spLocks noGrp="1"/>
          </p:cNvSpPr>
          <p:nvPr>
            <p:ph type="sldImg"/>
          </p:nvPr>
        </p:nvSpPr>
        <p:spPr>
          <a:xfrm>
            <a:off x="685800" y="1143000"/>
            <a:ext cx="5486040" cy="3085920"/>
          </a:xfrm>
          <a:prstGeom prst="rect">
            <a:avLst/>
          </a:prstGeom>
          <a:ln w="0">
            <a:noFill/>
          </a:ln>
        </p:spPr>
      </p:sp>
      <p:sp>
        <p:nvSpPr>
          <p:cNvPr id="24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fr-FR" sz="1800" strike="noStrike" u="none">
              <a:solidFill>
                <a:srgbClr val="000000"/>
              </a:solidFill>
              <a:uFillTx/>
              <a:latin typeface="Arial"/>
            </a:endParaRPr>
          </a:p>
        </p:txBody>
      </p:sp>
      <p:sp>
        <p:nvSpPr>
          <p:cNvPr id="247"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fr-FR" sz="1200" strike="noStrike" u="none">
                <a:solidFill>
                  <a:schemeClr val="dk1"/>
                </a:solidFill>
                <a:uFillTx/>
                <a:latin typeface="+mn-lt"/>
                <a:ea typeface="+mn-ea"/>
              </a:defRPr>
            </a:lvl1pPr>
          </a:lstStyle>
          <a:p>
            <a:pPr indent="0" algn="r" defTabSz="914400">
              <a:lnSpc>
                <a:spcPct val="100000"/>
              </a:lnSpc>
              <a:buNone/>
            </a:pPr>
            <a:fld id="{F64D35DF-2DA3-4964-9319-E844DAF56F77}" type="slidenum">
              <a:rPr b="0" lang="fr-FR" sz="1200" strike="noStrike" u="none">
                <a:solidFill>
                  <a:schemeClr val="dk1"/>
                </a:solidFill>
                <a:uFillTx/>
                <a:latin typeface="+mn-lt"/>
                <a:ea typeface="+mn-ea"/>
              </a:rPr>
              <a:t>&lt;number&gt;</a:t>
            </a:fld>
            <a:endParaRPr b="0" lang="fr-FR" sz="1200" strike="noStrike" u="none">
              <a:solidFill>
                <a:srgbClr val="000000"/>
              </a:solidFill>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r>
              <a:rPr b="0" lang="fr-FR" sz="1800" strike="noStrike" u="none">
                <a:solidFill>
                  <a:schemeClr val="dk1"/>
                </a:solidFill>
                <a:uFillTx/>
                <a:latin typeface="Calibri"/>
              </a:rPr>
              <a:t>Click to edit the title text format</a:t>
            </a:r>
            <a:endParaRPr b="0" lang="fr-FR" sz="1800" strike="noStrike" u="none">
              <a:solidFill>
                <a:schemeClr val="dk1"/>
              </a:solidFill>
              <a:uFillTx/>
              <a:latin typeface="Calibri"/>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fr-FR" sz="3200" strike="noStrike" u="none">
                <a:solidFill>
                  <a:schemeClr val="dk1"/>
                </a:solidFill>
                <a:uFillTx/>
                <a:latin typeface="Calibri"/>
              </a:rPr>
              <a:t>Click to edit the outline text format</a:t>
            </a:r>
            <a:endParaRPr b="0" lang="fr-FR" sz="3200" strike="noStrike" u="none">
              <a:solidFill>
                <a:schemeClr val="dk1"/>
              </a:solidFill>
              <a:uFillTx/>
              <a:latin typeface="Calibri"/>
            </a:endParaRPr>
          </a:p>
          <a:p>
            <a:pPr lvl="1" marL="864000" indent="-324000">
              <a:spcBef>
                <a:spcPts val="1134"/>
              </a:spcBef>
              <a:buClr>
                <a:srgbClr val="000000"/>
              </a:buClr>
              <a:buSzPct val="75000"/>
              <a:buFont typeface="Symbol" charset="2"/>
              <a:buChar char=""/>
            </a:pPr>
            <a:r>
              <a:rPr b="0" lang="fr-FR" sz="2400" strike="noStrike" u="none">
                <a:solidFill>
                  <a:schemeClr val="dk1"/>
                </a:solidFill>
                <a:uFillTx/>
                <a:latin typeface="Calibri"/>
              </a:rPr>
              <a:t>Second Outline Level</a:t>
            </a:r>
            <a:endParaRPr b="0" lang="fr-FR" sz="2400" strike="noStrike" u="none">
              <a:solidFill>
                <a:schemeClr val="dk1"/>
              </a:solidFill>
              <a:uFillTx/>
              <a:latin typeface="Calibri"/>
            </a:endParaRPr>
          </a:p>
          <a:p>
            <a:pPr lvl="2" marL="1296000" indent="-288000">
              <a:spcBef>
                <a:spcPts val="850"/>
              </a:spcBef>
              <a:buClr>
                <a:srgbClr val="000000"/>
              </a:buClr>
              <a:buSzPct val="45000"/>
              <a:buFont typeface="Wingdings" charset="2"/>
              <a:buChar char=""/>
            </a:pPr>
            <a:r>
              <a:rPr b="0" lang="fr-FR" sz="2000" strike="noStrike" u="none">
                <a:solidFill>
                  <a:schemeClr val="dk1"/>
                </a:solidFill>
                <a:uFillTx/>
                <a:latin typeface="Calibri"/>
              </a:rPr>
              <a:t>Third Outline Level</a:t>
            </a:r>
            <a:endParaRPr b="0" lang="fr-FR" sz="2000" strike="noStrike" u="none">
              <a:solidFill>
                <a:schemeClr val="dk1"/>
              </a:solidFill>
              <a:uFillTx/>
              <a:latin typeface="Calibri"/>
            </a:endParaRPr>
          </a:p>
          <a:p>
            <a:pPr lvl="3" marL="1728000" indent="-216000">
              <a:spcBef>
                <a:spcPts val="567"/>
              </a:spcBef>
              <a:buClr>
                <a:srgbClr val="000000"/>
              </a:buClr>
              <a:buSzPct val="75000"/>
              <a:buFont typeface="Symbol" charset="2"/>
              <a:buChar char=""/>
            </a:pPr>
            <a:r>
              <a:rPr b="0" lang="fr-FR" sz="2000" strike="noStrike" u="none">
                <a:solidFill>
                  <a:schemeClr val="dk1"/>
                </a:solidFill>
                <a:uFillTx/>
                <a:latin typeface="Calibri"/>
              </a:rPr>
              <a:t>Fourth Outline Level</a:t>
            </a:r>
            <a:endParaRPr b="0" lang="fr-FR" sz="2000" strike="noStrike" u="none">
              <a:solidFill>
                <a:schemeClr val="dk1"/>
              </a:solidFill>
              <a:uFillTx/>
              <a:latin typeface="Calibri"/>
            </a:endParaRPr>
          </a:p>
          <a:p>
            <a:pPr lvl="4" marL="2160000" indent="-216000">
              <a:spcBef>
                <a:spcPts val="283"/>
              </a:spcBef>
              <a:buClr>
                <a:srgbClr val="000000"/>
              </a:buClr>
              <a:buSzPct val="45000"/>
              <a:buFont typeface="Wingdings" charset="2"/>
              <a:buChar char=""/>
            </a:pPr>
            <a:r>
              <a:rPr b="0" lang="fr-FR" sz="2000" strike="noStrike" u="none">
                <a:solidFill>
                  <a:schemeClr val="dk1"/>
                </a:solidFill>
                <a:uFillTx/>
                <a:latin typeface="Calibri"/>
              </a:rPr>
              <a:t>Fifth Outline Level</a:t>
            </a:r>
            <a:endParaRPr b="0" lang="fr-FR" sz="2000" strike="noStrike" u="none">
              <a:solidFill>
                <a:schemeClr val="dk1"/>
              </a:solidFill>
              <a:uFillTx/>
              <a:latin typeface="Calibri"/>
            </a:endParaRPr>
          </a:p>
          <a:p>
            <a:pPr lvl="5" marL="2592000" indent="-216000">
              <a:spcBef>
                <a:spcPts val="283"/>
              </a:spcBef>
              <a:buClr>
                <a:srgbClr val="000000"/>
              </a:buClr>
              <a:buSzPct val="45000"/>
              <a:buFont typeface="Wingdings" charset="2"/>
              <a:buChar char=""/>
            </a:pPr>
            <a:r>
              <a:rPr b="0" lang="fr-FR" sz="2000" strike="noStrike" u="none">
                <a:solidFill>
                  <a:schemeClr val="dk1"/>
                </a:solidFill>
                <a:uFillTx/>
                <a:latin typeface="Calibri"/>
              </a:rPr>
              <a:t>Sixth Outline Level</a:t>
            </a:r>
            <a:endParaRPr b="0" lang="fr-FR" sz="2000" strike="noStrike" u="none">
              <a:solidFill>
                <a:schemeClr val="dk1"/>
              </a:solidFill>
              <a:uFillTx/>
              <a:latin typeface="Calibri"/>
            </a:endParaRPr>
          </a:p>
          <a:p>
            <a:pPr lvl="6" marL="3024000" indent="-216000">
              <a:spcBef>
                <a:spcPts val="283"/>
              </a:spcBef>
              <a:buClr>
                <a:srgbClr val="000000"/>
              </a:buClr>
              <a:buSzPct val="45000"/>
              <a:buFont typeface="Wingdings" charset="2"/>
              <a:buChar char=""/>
            </a:pPr>
            <a:r>
              <a:rPr b="0" lang="fr-FR" sz="2000" strike="noStrike" u="none">
                <a:solidFill>
                  <a:schemeClr val="dk1"/>
                </a:solidFill>
                <a:uFillTx/>
                <a:latin typeface="Calibri"/>
              </a:rPr>
              <a:t>Seventh Outline Level</a:t>
            </a:r>
            <a:endParaRPr b="0" lang="fr-FR" sz="2000" strike="noStrike" u="none">
              <a:solidFill>
                <a:schemeClr val="dk1"/>
              </a:solidFill>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8" name="Shape 0"/>
          <p:cNvSpPr/>
          <p:nvPr/>
        </p:nvSpPr>
        <p:spPr>
          <a:xfrm>
            <a:off x="0" y="0"/>
            <a:ext cx="164160" cy="5143320"/>
          </a:xfrm>
          <a:prstGeom prst="rect">
            <a:avLst/>
          </a:prstGeom>
          <a:solidFill>
            <a:srgbClr val="00b4d8"/>
          </a:solidFill>
          <a:ln w="12700">
            <a:solidFill>
              <a:srgbClr val="00b4d8"/>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9" name="Shape 1"/>
          <p:cNvSpPr/>
          <p:nvPr/>
        </p:nvSpPr>
        <p:spPr>
          <a:xfrm>
            <a:off x="0" y="4663440"/>
            <a:ext cx="9143640" cy="479880"/>
          </a:xfrm>
          <a:prstGeom prst="rect">
            <a:avLst/>
          </a:prstGeom>
          <a:solidFill>
            <a:srgbClr val="065a82"/>
          </a:solidFill>
          <a:ln w="12700">
            <a:solidFill>
              <a:srgbClr val="065a82"/>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10" name="Text 2"/>
          <p:cNvSpPr/>
          <p:nvPr/>
        </p:nvSpPr>
        <p:spPr>
          <a:xfrm>
            <a:off x="365760" y="274320"/>
            <a:ext cx="841212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900" spc="201" strike="noStrike" u="none">
                <a:solidFill>
                  <a:srgbClr val="00b4d8"/>
                </a:solidFill>
                <a:uFillTx/>
                <a:latin typeface="Calibri"/>
              </a:rPr>
              <a:t>UNIVERSITÉ [NOM] — FACULTÉ DE GÉNIE</a:t>
            </a:r>
            <a:endParaRPr b="0" lang="fr-FR" sz="900" strike="noStrike" u="none">
              <a:solidFill>
                <a:srgbClr val="ffffff"/>
              </a:solidFill>
              <a:uFillTx/>
              <a:latin typeface="Arial"/>
            </a:endParaRPr>
          </a:p>
        </p:txBody>
      </p:sp>
      <p:sp>
        <p:nvSpPr>
          <p:cNvPr id="11" name="Text 3"/>
          <p:cNvSpPr/>
          <p:nvPr/>
        </p:nvSpPr>
        <p:spPr>
          <a:xfrm>
            <a:off x="365760" y="822960"/>
            <a:ext cx="841212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2800" strike="noStrike" u="none">
                <a:solidFill>
                  <a:srgbClr val="ffffff"/>
                </a:solidFill>
                <a:uFillTx/>
                <a:latin typeface="Calibri"/>
              </a:rPr>
              <a:t>Conception d'un Système IoT de</a:t>
            </a:r>
            <a:endParaRPr b="0" lang="fr-FR" sz="2800" strike="noStrike" u="none">
              <a:solidFill>
                <a:srgbClr val="ffffff"/>
              </a:solidFill>
              <a:uFillTx/>
              <a:latin typeface="Arial"/>
            </a:endParaRPr>
          </a:p>
        </p:txBody>
      </p:sp>
      <p:sp>
        <p:nvSpPr>
          <p:cNvPr id="12" name="Text 4"/>
          <p:cNvSpPr/>
          <p:nvPr/>
        </p:nvSpPr>
        <p:spPr>
          <a:xfrm>
            <a:off x="365760" y="1417320"/>
            <a:ext cx="841212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2800" strike="noStrike" u="none">
                <a:solidFill>
                  <a:srgbClr val="00b4d8"/>
                </a:solidFill>
                <a:uFillTx/>
                <a:latin typeface="Calibri"/>
              </a:rPr>
              <a:t>Comptage et de Coupure Automatique</a:t>
            </a:r>
            <a:endParaRPr b="0" lang="fr-FR" sz="2800" strike="noStrike" u="none">
              <a:solidFill>
                <a:srgbClr val="ffffff"/>
              </a:solidFill>
              <a:uFillTx/>
              <a:latin typeface="Arial"/>
            </a:endParaRPr>
          </a:p>
        </p:txBody>
      </p:sp>
      <p:sp>
        <p:nvSpPr>
          <p:cNvPr id="13" name="Text 5"/>
          <p:cNvSpPr/>
          <p:nvPr/>
        </p:nvSpPr>
        <p:spPr>
          <a:xfrm>
            <a:off x="365760" y="2011680"/>
            <a:ext cx="841212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2800" strike="noStrike" u="none">
                <a:solidFill>
                  <a:srgbClr val="ffffff"/>
                </a:solidFill>
                <a:uFillTx/>
                <a:latin typeface="Calibri"/>
              </a:rPr>
              <a:t>d'Énergie pour la Gestion Transparente</a:t>
            </a:r>
            <a:endParaRPr b="0" lang="fr-FR" sz="2800" strike="noStrike" u="none">
              <a:solidFill>
                <a:srgbClr val="ffffff"/>
              </a:solidFill>
              <a:uFillTx/>
              <a:latin typeface="Arial"/>
            </a:endParaRPr>
          </a:p>
        </p:txBody>
      </p:sp>
      <p:sp>
        <p:nvSpPr>
          <p:cNvPr id="14" name="Text 6"/>
          <p:cNvSpPr/>
          <p:nvPr/>
        </p:nvSpPr>
        <p:spPr>
          <a:xfrm>
            <a:off x="365760" y="2606040"/>
            <a:ext cx="841212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2800" strike="noStrike" u="none">
                <a:solidFill>
                  <a:srgbClr val="f59e0b"/>
                </a:solidFill>
                <a:uFillTx/>
                <a:latin typeface="Calibri"/>
              </a:rPr>
              <a:t>en Milieu Locatif Urbain</a:t>
            </a:r>
            <a:endParaRPr b="0" lang="fr-FR" sz="2800" strike="noStrike" u="none">
              <a:solidFill>
                <a:srgbClr val="ffffff"/>
              </a:solidFill>
              <a:uFillTx/>
              <a:latin typeface="Arial"/>
            </a:endParaRPr>
          </a:p>
        </p:txBody>
      </p:sp>
      <p:sp>
        <p:nvSpPr>
          <p:cNvPr id="15" name="Shape 7"/>
          <p:cNvSpPr/>
          <p:nvPr/>
        </p:nvSpPr>
        <p:spPr>
          <a:xfrm>
            <a:off x="365760" y="3337560"/>
            <a:ext cx="2742840" cy="36360"/>
          </a:xfrm>
          <a:prstGeom prst="rect">
            <a:avLst/>
          </a:prstGeom>
          <a:solidFill>
            <a:srgbClr val="1c7293"/>
          </a:solidFill>
          <a:ln w="12700">
            <a:solidFill>
              <a:srgbClr val="1c7293"/>
            </a:solidFill>
            <a:round/>
          </a:ln>
        </p:spPr>
        <p:style>
          <a:lnRef idx="0"/>
          <a:fillRef idx="0"/>
          <a:effectRef idx="0"/>
          <a:fontRef idx="minor"/>
        </p:style>
        <p:txBody>
          <a:bodyPr lIns="90000" rIns="90000" tIns="-8280" bIns="-8280" anchor="t">
            <a:noAutofit/>
          </a:bodyPr>
          <a:p>
            <a:endParaRPr b="0" lang="fr-FR" sz="1800" strike="noStrike" u="none">
              <a:solidFill>
                <a:srgbClr val="ffffff"/>
              </a:solidFill>
              <a:uFillTx/>
              <a:latin typeface="Arial"/>
            </a:endParaRPr>
          </a:p>
        </p:txBody>
      </p:sp>
      <p:sp>
        <p:nvSpPr>
          <p:cNvPr id="16" name="Text 8"/>
          <p:cNvSpPr/>
          <p:nvPr/>
        </p:nvSpPr>
        <p:spPr>
          <a:xfrm>
            <a:off x="365760" y="3520440"/>
            <a:ext cx="82292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1200" strike="noStrike" u="none">
                <a:solidFill>
                  <a:srgbClr val="f0f4f8"/>
                </a:solidFill>
                <a:uFillTx/>
                <a:latin typeface="Calibri"/>
              </a:rPr>
              <a:t>Travail de Fin de Cycle — G3 Génie Informatique</a:t>
            </a:r>
            <a:endParaRPr b="0" lang="fr-FR" sz="1200" strike="noStrike" u="none">
              <a:solidFill>
                <a:srgbClr val="ffffff"/>
              </a:solidFill>
              <a:uFillTx/>
              <a:latin typeface="Arial"/>
            </a:endParaRPr>
          </a:p>
        </p:txBody>
      </p:sp>
      <p:sp>
        <p:nvSpPr>
          <p:cNvPr id="17" name="Text 9"/>
          <p:cNvSpPr/>
          <p:nvPr/>
        </p:nvSpPr>
        <p:spPr>
          <a:xfrm>
            <a:off x="365760" y="384048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1000" strike="noStrike" u="none">
                <a:solidFill>
                  <a:srgbClr val="64748b"/>
                </a:solidFill>
                <a:uFillTx/>
                <a:latin typeface="Calibri"/>
              </a:rPr>
              <a:t>Présenté par : [Votre Nom]  |  Encadreur : [Nom Encadreur]  |  Année : 2025–2026</a:t>
            </a:r>
            <a:endParaRPr b="0" lang="fr-FR" sz="1000" strike="noStrike" u="none">
              <a:solidFill>
                <a:srgbClr val="ffffff"/>
              </a:solidFill>
              <a:uFillTx/>
              <a:latin typeface="Arial"/>
            </a:endParaRPr>
          </a:p>
        </p:txBody>
      </p:sp>
      <p:sp>
        <p:nvSpPr>
          <p:cNvPr id="18" name="Shape 10"/>
          <p:cNvSpPr/>
          <p:nvPr/>
        </p:nvSpPr>
        <p:spPr>
          <a:xfrm>
            <a:off x="6858000" y="3474720"/>
            <a:ext cx="1919880" cy="639720"/>
          </a:xfrm>
          <a:prstGeom prst="roundRect">
            <a:avLst>
              <a:gd name="adj" fmla="val 17143"/>
            </a:avLst>
          </a:prstGeom>
          <a:solidFill>
            <a:srgbClr val="1c7293"/>
          </a:solidFill>
          <a:ln w="12700">
            <a:solidFill>
              <a:srgbClr val="1c7293"/>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19" name="Text 11"/>
          <p:cNvSpPr/>
          <p:nvPr/>
        </p:nvSpPr>
        <p:spPr>
          <a:xfrm>
            <a:off x="6858000" y="3474720"/>
            <a:ext cx="191988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100" strike="noStrike" u="none">
                <a:solidFill>
                  <a:srgbClr val="ffffff"/>
                </a:solidFill>
                <a:uFillTx/>
                <a:latin typeface="Calibri"/>
              </a:rPr>
              <a:t>📍 </a:t>
            </a:r>
            <a:r>
              <a:rPr b="1" lang="fr-FR" sz="1100" strike="noStrike" u="none">
                <a:solidFill>
                  <a:srgbClr val="ffffff"/>
                </a:solidFill>
                <a:uFillTx/>
                <a:latin typeface="Calibri"/>
              </a:rPr>
              <a:t>Goma, RDC</a:t>
            </a:r>
            <a:endParaRPr b="0" lang="fr-FR" sz="1100" strike="noStrike" u="none">
              <a:solidFill>
                <a:srgbClr val="ffffff"/>
              </a:solidFill>
              <a:uFillTx/>
              <a:latin typeface="Arial"/>
            </a:endParaRPr>
          </a:p>
        </p:txBody>
      </p:sp>
      <p:sp>
        <p:nvSpPr>
          <p:cNvPr id="20" name="Text 12"/>
          <p:cNvSpPr/>
          <p:nvPr/>
        </p:nvSpPr>
        <p:spPr>
          <a:xfrm>
            <a:off x="228600" y="4709160"/>
            <a:ext cx="86864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fr-FR" sz="800" strike="noStrike" u="none">
                <a:solidFill>
                  <a:srgbClr val="8aafc8"/>
                </a:solidFill>
                <a:uFillTx/>
                <a:latin typeface="Calibri"/>
              </a:rPr>
              <a:t>Mots-clés : ESP32 — IoT — ACS712 — ZMPT101B — Énergie — Milieu locatif — Goma</a:t>
            </a:r>
            <a:endParaRPr b="0" lang="fr-FR" sz="8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ff6ff"/>
        </a:solidFill>
      </p:bgPr>
    </p:bg>
    <p:spTree>
      <p:nvGrpSpPr>
        <p:cNvPr id="1" name=""/>
        <p:cNvGrpSpPr/>
        <p:nvPr/>
      </p:nvGrpSpPr>
      <p:grpSpPr>
        <a:xfrm>
          <a:off x="0" y="0"/>
          <a:ext cx="0" cy="0"/>
          <a:chOff x="0" y="0"/>
          <a:chExt cx="0" cy="0"/>
        </a:xfrm>
      </p:grpSpPr>
      <p:sp>
        <p:nvSpPr>
          <p:cNvPr id="21" name="Shape 0"/>
          <p:cNvSpPr/>
          <p:nvPr/>
        </p:nvSpPr>
        <p:spPr>
          <a:xfrm>
            <a:off x="0" y="0"/>
            <a:ext cx="9143640" cy="914040"/>
          </a:xfrm>
          <a:prstGeom prst="rect">
            <a:avLst/>
          </a:prstGeom>
          <a:solidFill>
            <a:srgbClr val="065a82"/>
          </a:solidFill>
          <a:ln w="12700">
            <a:solidFill>
              <a:srgbClr val="065a82"/>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22" name="Text 1"/>
          <p:cNvSpPr/>
          <p:nvPr/>
        </p:nvSpPr>
        <p:spPr>
          <a:xfrm>
            <a:off x="457200" y="0"/>
            <a:ext cx="8229240" cy="914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2200" spc="300" strike="noStrike" u="none">
                <a:solidFill>
                  <a:srgbClr val="ffffff"/>
                </a:solidFill>
                <a:uFillTx/>
                <a:latin typeface="Calibri"/>
              </a:rPr>
              <a:t>PLAN DE PRÉSENTATION</a:t>
            </a:r>
            <a:endParaRPr b="0" lang="fr-FR" sz="2200" strike="noStrike" u="none">
              <a:solidFill>
                <a:srgbClr val="000000"/>
              </a:solidFill>
              <a:uFillTx/>
              <a:latin typeface="Arial"/>
            </a:endParaRPr>
          </a:p>
        </p:txBody>
      </p:sp>
      <p:sp>
        <p:nvSpPr>
          <p:cNvPr id="23" name="Shape 2"/>
          <p:cNvSpPr/>
          <p:nvPr/>
        </p:nvSpPr>
        <p:spPr>
          <a:xfrm>
            <a:off x="457200" y="1188720"/>
            <a:ext cx="3840120" cy="1005480"/>
          </a:xfrm>
          <a:prstGeom prst="rect">
            <a:avLst/>
          </a:prstGeom>
          <a:solidFill>
            <a:srgbClr val="ffffff"/>
          </a:solidFill>
          <a:ln w="12700">
            <a:solidFill>
              <a:srgbClr val="1c7293"/>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fr-FR" sz="1800" strike="noStrike" u="none">
              <a:solidFill>
                <a:srgbClr val="000000"/>
              </a:solidFill>
              <a:uFillTx/>
              <a:latin typeface="Arial"/>
            </a:endParaRPr>
          </a:p>
        </p:txBody>
      </p:sp>
      <p:sp>
        <p:nvSpPr>
          <p:cNvPr id="24" name="Shape 3"/>
          <p:cNvSpPr/>
          <p:nvPr/>
        </p:nvSpPr>
        <p:spPr>
          <a:xfrm>
            <a:off x="457200" y="1188720"/>
            <a:ext cx="502560" cy="1005480"/>
          </a:xfrm>
          <a:prstGeom prst="rect">
            <a:avLst/>
          </a:prstGeom>
          <a:solidFill>
            <a:srgbClr val="065a82"/>
          </a:solidFill>
          <a:ln w="12700">
            <a:solidFill>
              <a:srgbClr val="065a82"/>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25" name="Text 4"/>
          <p:cNvSpPr/>
          <p:nvPr/>
        </p:nvSpPr>
        <p:spPr>
          <a:xfrm>
            <a:off x="457200" y="1188720"/>
            <a:ext cx="502560" cy="1005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600" strike="noStrike" u="none">
                <a:solidFill>
                  <a:srgbClr val="00b4d8"/>
                </a:solidFill>
                <a:uFillTx/>
                <a:latin typeface="Calibri"/>
              </a:rPr>
              <a:t>01</a:t>
            </a:r>
            <a:endParaRPr b="0" lang="fr-FR" sz="1600" strike="noStrike" u="none">
              <a:solidFill>
                <a:srgbClr val="000000"/>
              </a:solidFill>
              <a:uFillTx/>
              <a:latin typeface="Arial"/>
            </a:endParaRPr>
          </a:p>
        </p:txBody>
      </p:sp>
      <p:sp>
        <p:nvSpPr>
          <p:cNvPr id="26" name="Text 5"/>
          <p:cNvSpPr/>
          <p:nvPr/>
        </p:nvSpPr>
        <p:spPr>
          <a:xfrm>
            <a:off x="1051560" y="1280160"/>
            <a:ext cx="31543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1300" strike="noStrike" u="none">
                <a:solidFill>
                  <a:srgbClr val="065a82"/>
                </a:solidFill>
                <a:uFillTx/>
                <a:latin typeface="Calibri"/>
              </a:rPr>
              <a:t>Problématique</a:t>
            </a:r>
            <a:endParaRPr b="0" lang="fr-FR" sz="1300" strike="noStrike" u="none">
              <a:solidFill>
                <a:srgbClr val="000000"/>
              </a:solidFill>
              <a:uFillTx/>
              <a:latin typeface="Arial"/>
            </a:endParaRPr>
          </a:p>
        </p:txBody>
      </p:sp>
      <p:sp>
        <p:nvSpPr>
          <p:cNvPr id="27" name="Text 6"/>
          <p:cNvSpPr/>
          <p:nvPr/>
        </p:nvSpPr>
        <p:spPr>
          <a:xfrm>
            <a:off x="1051560" y="1645920"/>
            <a:ext cx="31543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900" strike="noStrike" u="none">
                <a:solidFill>
                  <a:srgbClr val="64748b"/>
                </a:solidFill>
                <a:uFillTx/>
                <a:latin typeface="Calibri"/>
              </a:rPr>
              <a:t>Contexte énergétique en milieu locatif à Goma</a:t>
            </a:r>
            <a:endParaRPr b="0" lang="fr-FR" sz="900" strike="noStrike" u="none">
              <a:solidFill>
                <a:srgbClr val="000000"/>
              </a:solidFill>
              <a:uFillTx/>
              <a:latin typeface="Arial"/>
            </a:endParaRPr>
          </a:p>
        </p:txBody>
      </p:sp>
      <p:sp>
        <p:nvSpPr>
          <p:cNvPr id="28" name="Shape 7"/>
          <p:cNvSpPr/>
          <p:nvPr/>
        </p:nvSpPr>
        <p:spPr>
          <a:xfrm>
            <a:off x="4846320" y="1188720"/>
            <a:ext cx="3840120" cy="1005480"/>
          </a:xfrm>
          <a:prstGeom prst="rect">
            <a:avLst/>
          </a:prstGeom>
          <a:solidFill>
            <a:srgbClr val="ffffff"/>
          </a:solidFill>
          <a:ln w="12700">
            <a:solidFill>
              <a:srgbClr val="1c7293"/>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fr-FR" sz="1800" strike="noStrike" u="none">
              <a:solidFill>
                <a:srgbClr val="000000"/>
              </a:solidFill>
              <a:uFillTx/>
              <a:latin typeface="Arial"/>
            </a:endParaRPr>
          </a:p>
        </p:txBody>
      </p:sp>
      <p:sp>
        <p:nvSpPr>
          <p:cNvPr id="29" name="Shape 8"/>
          <p:cNvSpPr/>
          <p:nvPr/>
        </p:nvSpPr>
        <p:spPr>
          <a:xfrm>
            <a:off x="4846320" y="1188720"/>
            <a:ext cx="502560" cy="1005480"/>
          </a:xfrm>
          <a:prstGeom prst="rect">
            <a:avLst/>
          </a:prstGeom>
          <a:solidFill>
            <a:srgbClr val="065a82"/>
          </a:solidFill>
          <a:ln w="12700">
            <a:solidFill>
              <a:srgbClr val="065a82"/>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30" name="Text 9"/>
          <p:cNvSpPr/>
          <p:nvPr/>
        </p:nvSpPr>
        <p:spPr>
          <a:xfrm>
            <a:off x="4846320" y="1188720"/>
            <a:ext cx="502560" cy="1005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600" strike="noStrike" u="none">
                <a:solidFill>
                  <a:srgbClr val="00b4d8"/>
                </a:solidFill>
                <a:uFillTx/>
                <a:latin typeface="Calibri"/>
              </a:rPr>
              <a:t>02</a:t>
            </a:r>
            <a:endParaRPr b="0" lang="fr-FR" sz="1600" strike="noStrike" u="none">
              <a:solidFill>
                <a:srgbClr val="000000"/>
              </a:solidFill>
              <a:uFillTx/>
              <a:latin typeface="Arial"/>
            </a:endParaRPr>
          </a:p>
        </p:txBody>
      </p:sp>
      <p:sp>
        <p:nvSpPr>
          <p:cNvPr id="31" name="Text 10"/>
          <p:cNvSpPr/>
          <p:nvPr/>
        </p:nvSpPr>
        <p:spPr>
          <a:xfrm>
            <a:off x="5440680" y="1280160"/>
            <a:ext cx="31543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1300" strike="noStrike" u="none">
                <a:solidFill>
                  <a:srgbClr val="065a82"/>
                </a:solidFill>
                <a:uFillTx/>
                <a:latin typeface="Calibri"/>
              </a:rPr>
              <a:t>Hypothèse</a:t>
            </a:r>
            <a:endParaRPr b="0" lang="fr-FR" sz="1300" strike="noStrike" u="none">
              <a:solidFill>
                <a:srgbClr val="000000"/>
              </a:solidFill>
              <a:uFillTx/>
              <a:latin typeface="Arial"/>
            </a:endParaRPr>
          </a:p>
        </p:txBody>
      </p:sp>
      <p:sp>
        <p:nvSpPr>
          <p:cNvPr id="32" name="Text 11"/>
          <p:cNvSpPr/>
          <p:nvPr/>
        </p:nvSpPr>
        <p:spPr>
          <a:xfrm>
            <a:off x="5440680" y="1645920"/>
            <a:ext cx="31543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900" strike="noStrike" u="none">
                <a:solidFill>
                  <a:srgbClr val="64748b"/>
                </a:solidFill>
                <a:uFillTx/>
                <a:latin typeface="Calibri"/>
              </a:rPr>
              <a:t>Solution proposée et résultats attendus</a:t>
            </a:r>
            <a:endParaRPr b="0" lang="fr-FR" sz="900" strike="noStrike" u="none">
              <a:solidFill>
                <a:srgbClr val="000000"/>
              </a:solidFill>
              <a:uFillTx/>
              <a:latin typeface="Arial"/>
            </a:endParaRPr>
          </a:p>
        </p:txBody>
      </p:sp>
      <p:sp>
        <p:nvSpPr>
          <p:cNvPr id="33" name="Shape 12"/>
          <p:cNvSpPr/>
          <p:nvPr/>
        </p:nvSpPr>
        <p:spPr>
          <a:xfrm>
            <a:off x="457200" y="2423160"/>
            <a:ext cx="3840120" cy="1005480"/>
          </a:xfrm>
          <a:prstGeom prst="rect">
            <a:avLst/>
          </a:prstGeom>
          <a:solidFill>
            <a:srgbClr val="ffffff"/>
          </a:solidFill>
          <a:ln w="12700">
            <a:solidFill>
              <a:srgbClr val="1c7293"/>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fr-FR" sz="1800" strike="noStrike" u="none">
              <a:solidFill>
                <a:srgbClr val="000000"/>
              </a:solidFill>
              <a:uFillTx/>
              <a:latin typeface="Arial"/>
            </a:endParaRPr>
          </a:p>
        </p:txBody>
      </p:sp>
      <p:sp>
        <p:nvSpPr>
          <p:cNvPr id="34" name="Shape 13"/>
          <p:cNvSpPr/>
          <p:nvPr/>
        </p:nvSpPr>
        <p:spPr>
          <a:xfrm>
            <a:off x="457200" y="2423160"/>
            <a:ext cx="502560" cy="1005480"/>
          </a:xfrm>
          <a:prstGeom prst="rect">
            <a:avLst/>
          </a:prstGeom>
          <a:solidFill>
            <a:srgbClr val="065a82"/>
          </a:solidFill>
          <a:ln w="12700">
            <a:solidFill>
              <a:srgbClr val="065a82"/>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35" name="Text 14"/>
          <p:cNvSpPr/>
          <p:nvPr/>
        </p:nvSpPr>
        <p:spPr>
          <a:xfrm>
            <a:off x="457200" y="2423160"/>
            <a:ext cx="502560" cy="1005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600" strike="noStrike" u="none">
                <a:solidFill>
                  <a:srgbClr val="00b4d8"/>
                </a:solidFill>
                <a:uFillTx/>
                <a:latin typeface="Calibri"/>
              </a:rPr>
              <a:t>03</a:t>
            </a:r>
            <a:endParaRPr b="0" lang="fr-FR" sz="1600" strike="noStrike" u="none">
              <a:solidFill>
                <a:srgbClr val="000000"/>
              </a:solidFill>
              <a:uFillTx/>
              <a:latin typeface="Arial"/>
            </a:endParaRPr>
          </a:p>
        </p:txBody>
      </p:sp>
      <p:sp>
        <p:nvSpPr>
          <p:cNvPr id="36" name="Text 15"/>
          <p:cNvSpPr/>
          <p:nvPr/>
        </p:nvSpPr>
        <p:spPr>
          <a:xfrm>
            <a:off x="1051560" y="2514600"/>
            <a:ext cx="31543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1300" strike="noStrike" u="none">
                <a:solidFill>
                  <a:srgbClr val="065a82"/>
                </a:solidFill>
                <a:uFillTx/>
                <a:latin typeface="Calibri"/>
              </a:rPr>
              <a:t>Méthodologie</a:t>
            </a:r>
            <a:endParaRPr b="0" lang="fr-FR" sz="1300" strike="noStrike" u="none">
              <a:solidFill>
                <a:srgbClr val="000000"/>
              </a:solidFill>
              <a:uFillTx/>
              <a:latin typeface="Arial"/>
            </a:endParaRPr>
          </a:p>
        </p:txBody>
      </p:sp>
      <p:sp>
        <p:nvSpPr>
          <p:cNvPr id="37" name="Text 16"/>
          <p:cNvSpPr/>
          <p:nvPr/>
        </p:nvSpPr>
        <p:spPr>
          <a:xfrm>
            <a:off x="1051560" y="2880360"/>
            <a:ext cx="31543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900" strike="noStrike" u="none">
                <a:solidFill>
                  <a:srgbClr val="64748b"/>
                </a:solidFill>
                <a:uFillTx/>
                <a:latin typeface="Calibri"/>
              </a:rPr>
              <a:t>Architecture, composants et implémentation</a:t>
            </a:r>
            <a:endParaRPr b="0" lang="fr-FR" sz="900" strike="noStrike" u="none">
              <a:solidFill>
                <a:srgbClr val="000000"/>
              </a:solidFill>
              <a:uFillTx/>
              <a:latin typeface="Arial"/>
            </a:endParaRPr>
          </a:p>
        </p:txBody>
      </p:sp>
      <p:sp>
        <p:nvSpPr>
          <p:cNvPr id="38" name="Shape 17"/>
          <p:cNvSpPr/>
          <p:nvPr/>
        </p:nvSpPr>
        <p:spPr>
          <a:xfrm>
            <a:off x="4846320" y="2423160"/>
            <a:ext cx="3840120" cy="1005480"/>
          </a:xfrm>
          <a:prstGeom prst="rect">
            <a:avLst/>
          </a:prstGeom>
          <a:solidFill>
            <a:srgbClr val="ffffff"/>
          </a:solidFill>
          <a:ln w="12700">
            <a:solidFill>
              <a:srgbClr val="1c7293"/>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fr-FR" sz="1800" strike="noStrike" u="none">
              <a:solidFill>
                <a:srgbClr val="000000"/>
              </a:solidFill>
              <a:uFillTx/>
              <a:latin typeface="Arial"/>
            </a:endParaRPr>
          </a:p>
        </p:txBody>
      </p:sp>
      <p:sp>
        <p:nvSpPr>
          <p:cNvPr id="39" name="Shape 18"/>
          <p:cNvSpPr/>
          <p:nvPr/>
        </p:nvSpPr>
        <p:spPr>
          <a:xfrm>
            <a:off x="4846320" y="2423160"/>
            <a:ext cx="502560" cy="1005480"/>
          </a:xfrm>
          <a:prstGeom prst="rect">
            <a:avLst/>
          </a:prstGeom>
          <a:solidFill>
            <a:srgbClr val="065a82"/>
          </a:solidFill>
          <a:ln w="12700">
            <a:solidFill>
              <a:srgbClr val="065a82"/>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40" name="Text 19"/>
          <p:cNvSpPr/>
          <p:nvPr/>
        </p:nvSpPr>
        <p:spPr>
          <a:xfrm>
            <a:off x="4846320" y="2423160"/>
            <a:ext cx="502560" cy="1005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600" strike="noStrike" u="none">
                <a:solidFill>
                  <a:srgbClr val="00b4d8"/>
                </a:solidFill>
                <a:uFillTx/>
                <a:latin typeface="Calibri"/>
              </a:rPr>
              <a:t>04</a:t>
            </a:r>
            <a:endParaRPr b="0" lang="fr-FR" sz="1600" strike="noStrike" u="none">
              <a:solidFill>
                <a:srgbClr val="000000"/>
              </a:solidFill>
              <a:uFillTx/>
              <a:latin typeface="Arial"/>
            </a:endParaRPr>
          </a:p>
        </p:txBody>
      </p:sp>
      <p:sp>
        <p:nvSpPr>
          <p:cNvPr id="41" name="Text 20"/>
          <p:cNvSpPr/>
          <p:nvPr/>
        </p:nvSpPr>
        <p:spPr>
          <a:xfrm>
            <a:off x="5440680" y="2514600"/>
            <a:ext cx="31543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1300" strike="noStrike" u="none">
                <a:solidFill>
                  <a:srgbClr val="065a82"/>
                </a:solidFill>
                <a:uFillTx/>
                <a:latin typeface="Calibri"/>
              </a:rPr>
              <a:t>Résultats attendus</a:t>
            </a:r>
            <a:endParaRPr b="0" lang="fr-FR" sz="1300" strike="noStrike" u="none">
              <a:solidFill>
                <a:srgbClr val="000000"/>
              </a:solidFill>
              <a:uFillTx/>
              <a:latin typeface="Arial"/>
            </a:endParaRPr>
          </a:p>
        </p:txBody>
      </p:sp>
      <p:sp>
        <p:nvSpPr>
          <p:cNvPr id="42" name="Text 21"/>
          <p:cNvSpPr/>
          <p:nvPr/>
        </p:nvSpPr>
        <p:spPr>
          <a:xfrm>
            <a:off x="5440680" y="2880360"/>
            <a:ext cx="31543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900" strike="noStrike" u="none">
                <a:solidFill>
                  <a:srgbClr val="64748b"/>
                </a:solidFill>
                <a:uFillTx/>
                <a:latin typeface="Calibri"/>
              </a:rPr>
              <a:t>Validation et impact mesurable</a:t>
            </a:r>
            <a:endParaRPr b="0" lang="fr-FR" sz="900" strike="noStrike" u="none">
              <a:solidFill>
                <a:srgbClr val="000000"/>
              </a:solidFill>
              <a:uFillTx/>
              <a:latin typeface="Arial"/>
            </a:endParaRPr>
          </a:p>
        </p:txBody>
      </p:sp>
      <p:sp>
        <p:nvSpPr>
          <p:cNvPr id="43" name="Shape 22"/>
          <p:cNvSpPr/>
          <p:nvPr/>
        </p:nvSpPr>
        <p:spPr>
          <a:xfrm>
            <a:off x="457200" y="3657600"/>
            <a:ext cx="3840120" cy="1005480"/>
          </a:xfrm>
          <a:prstGeom prst="rect">
            <a:avLst/>
          </a:prstGeom>
          <a:solidFill>
            <a:srgbClr val="ffffff"/>
          </a:solidFill>
          <a:ln w="12700">
            <a:solidFill>
              <a:srgbClr val="1c7293"/>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fr-FR" sz="1800" strike="noStrike" u="none">
              <a:solidFill>
                <a:srgbClr val="000000"/>
              </a:solidFill>
              <a:uFillTx/>
              <a:latin typeface="Arial"/>
            </a:endParaRPr>
          </a:p>
        </p:txBody>
      </p:sp>
      <p:sp>
        <p:nvSpPr>
          <p:cNvPr id="44" name="Shape 23"/>
          <p:cNvSpPr/>
          <p:nvPr/>
        </p:nvSpPr>
        <p:spPr>
          <a:xfrm>
            <a:off x="457200" y="3657600"/>
            <a:ext cx="502560" cy="1005480"/>
          </a:xfrm>
          <a:prstGeom prst="rect">
            <a:avLst/>
          </a:prstGeom>
          <a:solidFill>
            <a:srgbClr val="065a82"/>
          </a:solidFill>
          <a:ln w="12700">
            <a:solidFill>
              <a:srgbClr val="065a82"/>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45" name="Text 24"/>
          <p:cNvSpPr/>
          <p:nvPr/>
        </p:nvSpPr>
        <p:spPr>
          <a:xfrm>
            <a:off x="457200" y="3657600"/>
            <a:ext cx="502560" cy="1005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600" strike="noStrike" u="none">
                <a:solidFill>
                  <a:srgbClr val="00b4d8"/>
                </a:solidFill>
                <a:uFillTx/>
                <a:latin typeface="Calibri"/>
              </a:rPr>
              <a:t>05</a:t>
            </a:r>
            <a:endParaRPr b="0" lang="fr-FR" sz="1600" strike="noStrike" u="none">
              <a:solidFill>
                <a:srgbClr val="000000"/>
              </a:solidFill>
              <a:uFillTx/>
              <a:latin typeface="Arial"/>
            </a:endParaRPr>
          </a:p>
        </p:txBody>
      </p:sp>
      <p:sp>
        <p:nvSpPr>
          <p:cNvPr id="46" name="Text 25"/>
          <p:cNvSpPr/>
          <p:nvPr/>
        </p:nvSpPr>
        <p:spPr>
          <a:xfrm>
            <a:off x="1051560" y="3749040"/>
            <a:ext cx="31543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1300" strike="noStrike" u="none">
                <a:solidFill>
                  <a:srgbClr val="065a82"/>
                </a:solidFill>
                <a:uFillTx/>
                <a:latin typeface="Calibri"/>
              </a:rPr>
              <a:t>Conclusion</a:t>
            </a:r>
            <a:endParaRPr b="0" lang="fr-FR" sz="1300" strike="noStrike" u="none">
              <a:solidFill>
                <a:srgbClr val="000000"/>
              </a:solidFill>
              <a:uFillTx/>
              <a:latin typeface="Arial"/>
            </a:endParaRPr>
          </a:p>
        </p:txBody>
      </p:sp>
      <p:sp>
        <p:nvSpPr>
          <p:cNvPr id="47" name="Text 26"/>
          <p:cNvSpPr/>
          <p:nvPr/>
        </p:nvSpPr>
        <p:spPr>
          <a:xfrm>
            <a:off x="1051560" y="4114800"/>
            <a:ext cx="31543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900" strike="noStrike" u="none">
                <a:solidFill>
                  <a:srgbClr val="64748b"/>
                </a:solidFill>
                <a:uFillTx/>
                <a:latin typeface="Calibri"/>
              </a:rPr>
              <a:t>Bilan et perspectives</a:t>
            </a:r>
            <a:endParaRPr b="0" lang="fr-FR" sz="900" strike="noStrike" u="none">
              <a:solidFill>
                <a:srgbClr val="000000"/>
              </a:solidFill>
              <a:uFillTx/>
              <a:latin typeface="Arial"/>
            </a:endParaRPr>
          </a:p>
        </p:txBody>
      </p:sp>
      <p:sp>
        <p:nvSpPr>
          <p:cNvPr id="48" name="Shape 27"/>
          <p:cNvSpPr/>
          <p:nvPr/>
        </p:nvSpPr>
        <p:spPr>
          <a:xfrm>
            <a:off x="2423160" y="3657600"/>
            <a:ext cx="3840120" cy="1005480"/>
          </a:xfrm>
          <a:prstGeom prst="rect">
            <a:avLst/>
          </a:prstGeom>
          <a:solidFill>
            <a:srgbClr val="ffffff"/>
          </a:solidFill>
          <a:ln w="12700">
            <a:solidFill>
              <a:srgbClr val="1c7293"/>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fr-FR" sz="1800" strike="noStrike" u="none">
              <a:solidFill>
                <a:srgbClr val="000000"/>
              </a:solidFill>
              <a:uFillTx/>
              <a:latin typeface="Arial"/>
            </a:endParaRPr>
          </a:p>
        </p:txBody>
      </p:sp>
      <p:sp>
        <p:nvSpPr>
          <p:cNvPr id="49" name="Shape 28"/>
          <p:cNvSpPr/>
          <p:nvPr/>
        </p:nvSpPr>
        <p:spPr>
          <a:xfrm>
            <a:off x="2423160" y="3657600"/>
            <a:ext cx="502560" cy="1005480"/>
          </a:xfrm>
          <a:prstGeom prst="rect">
            <a:avLst/>
          </a:prstGeom>
          <a:solidFill>
            <a:srgbClr val="065a82"/>
          </a:solidFill>
          <a:ln w="12700">
            <a:solidFill>
              <a:srgbClr val="065a82"/>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50" name="Text 29"/>
          <p:cNvSpPr/>
          <p:nvPr/>
        </p:nvSpPr>
        <p:spPr>
          <a:xfrm>
            <a:off x="2423160" y="3657600"/>
            <a:ext cx="502560" cy="1005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600" strike="noStrike" u="none">
                <a:solidFill>
                  <a:srgbClr val="00b4d8"/>
                </a:solidFill>
                <a:uFillTx/>
                <a:latin typeface="Calibri"/>
              </a:rPr>
              <a:t>05</a:t>
            </a:r>
            <a:endParaRPr b="0" lang="fr-FR" sz="1600" strike="noStrike" u="none">
              <a:solidFill>
                <a:srgbClr val="000000"/>
              </a:solidFill>
              <a:uFillTx/>
              <a:latin typeface="Arial"/>
            </a:endParaRPr>
          </a:p>
        </p:txBody>
      </p:sp>
      <p:sp>
        <p:nvSpPr>
          <p:cNvPr id="51" name="Text 30"/>
          <p:cNvSpPr/>
          <p:nvPr/>
        </p:nvSpPr>
        <p:spPr>
          <a:xfrm>
            <a:off x="3017520" y="3749040"/>
            <a:ext cx="31543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1300" strike="noStrike" u="none">
                <a:solidFill>
                  <a:srgbClr val="065a82"/>
                </a:solidFill>
                <a:uFillTx/>
                <a:latin typeface="Calibri"/>
              </a:rPr>
              <a:t>Conclusion</a:t>
            </a:r>
            <a:endParaRPr b="0" lang="fr-FR" sz="1300" strike="noStrike" u="none">
              <a:solidFill>
                <a:srgbClr val="000000"/>
              </a:solidFill>
              <a:uFillTx/>
              <a:latin typeface="Arial"/>
            </a:endParaRPr>
          </a:p>
        </p:txBody>
      </p:sp>
      <p:sp>
        <p:nvSpPr>
          <p:cNvPr id="52" name="Text 31"/>
          <p:cNvSpPr/>
          <p:nvPr/>
        </p:nvSpPr>
        <p:spPr>
          <a:xfrm>
            <a:off x="3017520" y="4114800"/>
            <a:ext cx="31543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900" strike="noStrike" u="none">
                <a:solidFill>
                  <a:srgbClr val="64748b"/>
                </a:solidFill>
                <a:uFillTx/>
                <a:latin typeface="Calibri"/>
              </a:rPr>
              <a:t>Bilan et perspectives</a:t>
            </a:r>
            <a:endParaRPr b="0" lang="fr-FR" sz="9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ff6ff"/>
        </a:solidFill>
      </p:bgPr>
    </p:bg>
    <p:spTree>
      <p:nvGrpSpPr>
        <p:cNvPr id="1" name=""/>
        <p:cNvGrpSpPr/>
        <p:nvPr/>
      </p:nvGrpSpPr>
      <p:grpSpPr>
        <a:xfrm>
          <a:off x="0" y="0"/>
          <a:ext cx="0" cy="0"/>
          <a:chOff x="0" y="0"/>
          <a:chExt cx="0" cy="0"/>
        </a:xfrm>
      </p:grpSpPr>
      <p:sp>
        <p:nvSpPr>
          <p:cNvPr id="53" name="Shape 0"/>
          <p:cNvSpPr/>
          <p:nvPr/>
        </p:nvSpPr>
        <p:spPr>
          <a:xfrm>
            <a:off x="0" y="0"/>
            <a:ext cx="9143640" cy="914040"/>
          </a:xfrm>
          <a:prstGeom prst="rect">
            <a:avLst/>
          </a:prstGeom>
          <a:solidFill>
            <a:srgbClr val="065a82"/>
          </a:solidFill>
          <a:ln w="12700">
            <a:solidFill>
              <a:srgbClr val="065a82"/>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54" name="Text 1"/>
          <p:cNvSpPr/>
          <p:nvPr/>
        </p:nvSpPr>
        <p:spPr>
          <a:xfrm>
            <a:off x="457200" y="0"/>
            <a:ext cx="8229240" cy="914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2000" spc="201" strike="noStrike" u="none">
                <a:solidFill>
                  <a:srgbClr val="00b4d8"/>
                </a:solidFill>
                <a:uFillTx/>
                <a:latin typeface="Calibri"/>
              </a:rPr>
              <a:t>01  </a:t>
            </a:r>
            <a:r>
              <a:rPr b="1" lang="fr-FR" sz="2000" spc="201" strike="noStrike" u="none">
                <a:solidFill>
                  <a:srgbClr val="ffffff"/>
                </a:solidFill>
                <a:uFillTx/>
                <a:latin typeface="Calibri"/>
              </a:rPr>
              <a:t>PROBLÉMATIQUE</a:t>
            </a:r>
            <a:endParaRPr b="0" lang="fr-FR" sz="2000" strike="noStrike" u="none">
              <a:solidFill>
                <a:srgbClr val="000000"/>
              </a:solidFill>
              <a:uFillTx/>
              <a:latin typeface="Arial"/>
            </a:endParaRPr>
          </a:p>
        </p:txBody>
      </p:sp>
      <p:sp>
        <p:nvSpPr>
          <p:cNvPr id="55" name="Shape 2"/>
          <p:cNvSpPr/>
          <p:nvPr/>
        </p:nvSpPr>
        <p:spPr>
          <a:xfrm>
            <a:off x="274320" y="1005840"/>
            <a:ext cx="4023000" cy="3748680"/>
          </a:xfrm>
          <a:prstGeom prst="rect">
            <a:avLst/>
          </a:prstGeom>
          <a:solidFill>
            <a:srgbClr val="ffffff"/>
          </a:solidFill>
          <a:ln w="12700">
            <a:solidFill>
              <a:srgbClr val="d1e8f5"/>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fr-FR" sz="1800" strike="noStrike" u="none">
              <a:solidFill>
                <a:srgbClr val="000000"/>
              </a:solidFill>
              <a:uFillTx/>
              <a:latin typeface="Arial"/>
            </a:endParaRPr>
          </a:p>
        </p:txBody>
      </p:sp>
      <p:sp>
        <p:nvSpPr>
          <p:cNvPr id="56" name="Shape 3"/>
          <p:cNvSpPr/>
          <p:nvPr/>
        </p:nvSpPr>
        <p:spPr>
          <a:xfrm>
            <a:off x="274320" y="1005840"/>
            <a:ext cx="4023000" cy="411120"/>
          </a:xfrm>
          <a:prstGeom prst="rect">
            <a:avLst/>
          </a:prstGeom>
          <a:solidFill>
            <a:srgbClr val="1c7293"/>
          </a:solidFill>
          <a:ln w="12700">
            <a:solidFill>
              <a:srgbClr val="1c7293"/>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57" name="Text 4"/>
          <p:cNvSpPr/>
          <p:nvPr/>
        </p:nvSpPr>
        <p:spPr>
          <a:xfrm>
            <a:off x="274320" y="1005840"/>
            <a:ext cx="402300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100" strike="noStrike" u="none">
                <a:solidFill>
                  <a:srgbClr val="ffffff"/>
                </a:solidFill>
                <a:uFillTx/>
                <a:latin typeface="Calibri"/>
              </a:rPr>
              <a:t>CONTEXTE — GOMA</a:t>
            </a:r>
            <a:endParaRPr b="0" lang="fr-FR" sz="1100" strike="noStrike" u="none">
              <a:solidFill>
                <a:srgbClr val="000000"/>
              </a:solidFill>
              <a:uFillTx/>
              <a:latin typeface="Arial"/>
            </a:endParaRPr>
          </a:p>
        </p:txBody>
      </p:sp>
      <p:sp>
        <p:nvSpPr>
          <p:cNvPr id="58" name="Text 5"/>
          <p:cNvSpPr/>
          <p:nvPr/>
        </p:nvSpPr>
        <p:spPr>
          <a:xfrm>
            <a:off x="457200" y="1508760"/>
            <a:ext cx="3657240" cy="3108600"/>
          </a:xfrm>
          <a:prstGeom prst="rect">
            <a:avLst/>
          </a:prstGeom>
          <a:noFill/>
          <a:ln w="0">
            <a:noFill/>
          </a:ln>
        </p:spPr>
        <p:style>
          <a:lnRef idx="0"/>
          <a:fillRef idx="0"/>
          <a:effectRef idx="0"/>
          <a:fontRef idx="minor"/>
        </p:style>
        <p:txBody>
          <a:bodyPr lIns="0" rIns="0" tIns="0" bIns="0" anchor="ctr">
            <a:noAutofit/>
          </a:bodyPr>
          <a:p>
            <a:r>
              <a:rPr b="1" lang="fr-FR" sz="1050" strike="noStrike" u="none">
                <a:solidFill>
                  <a:srgbClr val="065a82"/>
                </a:solidFill>
                <a:uFillTx/>
                <a:latin typeface="Calibri"/>
              </a:rPr>
              <a:t>Alimentation électrique : </a:t>
            </a:r>
            <a:r>
              <a:rPr b="0" lang="fr-FR" sz="1050" strike="noStrike" u="none">
                <a:solidFill>
                  <a:srgbClr val="065a82"/>
                </a:solidFill>
                <a:uFillTx/>
                <a:latin typeface="Calibri"/>
              </a:rPr>
              <a:t>SNEL / Virunga</a:t>
            </a:r>
            <a:endParaRPr b="0" lang="fr-FR" sz="1050" strike="noStrike" u="none">
              <a:solidFill>
                <a:srgbClr val="000000"/>
              </a:solidFill>
              <a:uFillTx/>
              <a:latin typeface="Arial"/>
            </a:endParaRPr>
          </a:p>
          <a:p>
            <a:endParaRPr b="0" lang="fr-FR" sz="1050" strike="noStrike" u="none">
              <a:solidFill>
                <a:srgbClr val="000000"/>
              </a:solidFill>
              <a:uFillTx/>
              <a:latin typeface="Arial"/>
            </a:endParaRPr>
          </a:p>
          <a:p>
            <a:r>
              <a:rPr b="1" lang="fr-FR" sz="1050" strike="noStrike" u="none">
                <a:solidFill>
                  <a:srgbClr val="065a82"/>
                </a:solidFill>
                <a:uFillTx/>
                <a:latin typeface="Calibri"/>
              </a:rPr>
              <a:t>Structure des concessions :</a:t>
            </a:r>
            <a:endParaRPr b="0" lang="fr-FR" sz="1050" strike="noStrike" u="none">
              <a:solidFill>
                <a:srgbClr val="000000"/>
              </a:solidFill>
              <a:uFillTx/>
              <a:latin typeface="Arial"/>
            </a:endParaRPr>
          </a:p>
          <a:p>
            <a:r>
              <a:rPr b="0" lang="fr-FR" sz="1050" strike="noStrike" u="none">
                <a:solidFill>
                  <a:srgbClr val="065a82"/>
                </a:solidFill>
                <a:uFillTx/>
                <a:latin typeface="Calibri"/>
              </a:rPr>
              <a:t>Un compteur principal (bailleur)</a:t>
            </a:r>
            <a:endParaRPr b="0" lang="fr-FR" sz="1050" strike="noStrike" u="none">
              <a:solidFill>
                <a:srgbClr val="000000"/>
              </a:solidFill>
              <a:uFillTx/>
              <a:latin typeface="Arial"/>
            </a:endParaRPr>
          </a:p>
          <a:p>
            <a:r>
              <a:rPr b="0" lang="fr-FR" sz="1050" strike="noStrike" u="none">
                <a:solidFill>
                  <a:srgbClr val="065a82"/>
                </a:solidFill>
                <a:uFillTx/>
                <a:latin typeface="Calibri"/>
              </a:rPr>
              <a:t>Des sous-compteurs prépayés (locataires)</a:t>
            </a:r>
            <a:endParaRPr b="0" lang="fr-FR" sz="1050" strike="noStrike" u="none">
              <a:solidFill>
                <a:srgbClr val="000000"/>
              </a:solidFill>
              <a:uFillTx/>
              <a:latin typeface="Arial"/>
            </a:endParaRPr>
          </a:p>
          <a:p>
            <a:endParaRPr b="0" lang="fr-FR" sz="1050" strike="noStrike" u="none">
              <a:solidFill>
                <a:srgbClr val="000000"/>
              </a:solidFill>
              <a:uFillTx/>
              <a:latin typeface="Arial"/>
            </a:endParaRPr>
          </a:p>
          <a:p>
            <a:r>
              <a:rPr b="1" lang="fr-FR" sz="1050" strike="noStrike" u="none">
                <a:solidFill>
                  <a:srgbClr val="ef4444"/>
                </a:solidFill>
                <a:uFillTx/>
                <a:latin typeface="Calibri"/>
              </a:rPr>
              <a:t>Problème observé :</a:t>
            </a:r>
            <a:endParaRPr b="0" lang="fr-FR" sz="1050" strike="noStrike" u="none">
              <a:solidFill>
                <a:srgbClr val="000000"/>
              </a:solidFill>
              <a:uFillTx/>
              <a:latin typeface="Arial"/>
            </a:endParaRPr>
          </a:p>
          <a:p>
            <a:pPr defTabSz="914400">
              <a:lnSpc>
                <a:spcPct val="100000"/>
              </a:lnSpc>
              <a:tabLst>
                <a:tab algn="l" pos="0"/>
              </a:tabLst>
            </a:pPr>
            <a:r>
              <a:rPr b="0" lang="fr-FR" sz="1050" strike="noStrike" u="none">
                <a:solidFill>
                  <a:srgbClr val="ef4444"/>
                </a:solidFill>
                <a:uFillTx/>
                <a:latin typeface="Calibri"/>
              </a:rPr>
              <a:t>Le bailleur se branche AVANT les sous-compteurs — consomme sur le crédit des locataires sans être mesuré.</a:t>
            </a:r>
            <a:endParaRPr b="0" lang="fr-FR" sz="1050" strike="noStrike" u="none">
              <a:solidFill>
                <a:srgbClr val="000000"/>
              </a:solidFill>
              <a:uFillTx/>
              <a:latin typeface="Arial"/>
            </a:endParaRPr>
          </a:p>
        </p:txBody>
      </p:sp>
      <p:sp>
        <p:nvSpPr>
          <p:cNvPr id="59" name="Shape 6"/>
          <p:cNvSpPr/>
          <p:nvPr/>
        </p:nvSpPr>
        <p:spPr>
          <a:xfrm>
            <a:off x="4572000" y="1005840"/>
            <a:ext cx="4297320" cy="3748680"/>
          </a:xfrm>
          <a:prstGeom prst="rect">
            <a:avLst/>
          </a:prstGeom>
          <a:solidFill>
            <a:srgbClr val="ffffff"/>
          </a:solidFill>
          <a:ln w="12700">
            <a:solidFill>
              <a:srgbClr val="d1e8f5"/>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fr-FR" sz="1800" strike="noStrike" u="none">
              <a:solidFill>
                <a:srgbClr val="000000"/>
              </a:solidFill>
              <a:uFillTx/>
              <a:latin typeface="Arial"/>
            </a:endParaRPr>
          </a:p>
        </p:txBody>
      </p:sp>
      <p:sp>
        <p:nvSpPr>
          <p:cNvPr id="60" name="Shape 7"/>
          <p:cNvSpPr/>
          <p:nvPr/>
        </p:nvSpPr>
        <p:spPr>
          <a:xfrm>
            <a:off x="4572000" y="1005840"/>
            <a:ext cx="4297320" cy="411120"/>
          </a:xfrm>
          <a:prstGeom prst="rect">
            <a:avLst/>
          </a:prstGeom>
          <a:solidFill>
            <a:srgbClr val="ef4444"/>
          </a:solidFill>
          <a:ln w="12700">
            <a:solidFill>
              <a:srgbClr val="ef4444"/>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61" name="Text 8"/>
          <p:cNvSpPr/>
          <p:nvPr/>
        </p:nvSpPr>
        <p:spPr>
          <a:xfrm>
            <a:off x="4572000" y="1005840"/>
            <a:ext cx="429732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100" strike="noStrike" u="none">
                <a:solidFill>
                  <a:srgbClr val="ffffff"/>
                </a:solidFill>
                <a:uFillTx/>
                <a:latin typeface="Calibri"/>
              </a:rPr>
              <a:t>CONSÉQUENCES</a:t>
            </a:r>
            <a:endParaRPr b="0" lang="fr-FR" sz="1100" strike="noStrike" u="none">
              <a:solidFill>
                <a:srgbClr val="000000"/>
              </a:solidFill>
              <a:uFillTx/>
              <a:latin typeface="Arial"/>
            </a:endParaRPr>
          </a:p>
        </p:txBody>
      </p:sp>
      <p:sp>
        <p:nvSpPr>
          <p:cNvPr id="62" name="Shape 9"/>
          <p:cNvSpPr/>
          <p:nvPr/>
        </p:nvSpPr>
        <p:spPr>
          <a:xfrm>
            <a:off x="4709160" y="1554480"/>
            <a:ext cx="4023000" cy="502560"/>
          </a:xfrm>
          <a:prstGeom prst="rect">
            <a:avLst/>
          </a:prstGeom>
          <a:solidFill>
            <a:srgbClr val="eff6ff"/>
          </a:solidFill>
          <a:ln w="12700">
            <a:solidFill>
              <a:srgbClr val="e2eef9"/>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uFillTx/>
              <a:latin typeface="Arial"/>
            </a:endParaRPr>
          </a:p>
        </p:txBody>
      </p:sp>
      <p:sp>
        <p:nvSpPr>
          <p:cNvPr id="63" name="Text 10"/>
          <p:cNvSpPr/>
          <p:nvPr/>
        </p:nvSpPr>
        <p:spPr>
          <a:xfrm>
            <a:off x="4754880" y="1554480"/>
            <a:ext cx="36540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1400" strike="noStrike" u="none">
                <a:solidFill>
                  <a:srgbClr val="000000"/>
                </a:solidFill>
                <a:uFillTx/>
                <a:latin typeface="Calibri"/>
              </a:rPr>
              <a:t>💸</a:t>
            </a:r>
            <a:endParaRPr b="0" lang="fr-FR" sz="1400" strike="noStrike" u="none">
              <a:solidFill>
                <a:srgbClr val="000000"/>
              </a:solidFill>
              <a:uFillTx/>
              <a:latin typeface="Arial"/>
            </a:endParaRPr>
          </a:p>
        </p:txBody>
      </p:sp>
      <p:sp>
        <p:nvSpPr>
          <p:cNvPr id="64" name="Text 11"/>
          <p:cNvSpPr/>
          <p:nvPr/>
        </p:nvSpPr>
        <p:spPr>
          <a:xfrm>
            <a:off x="5166360" y="1600200"/>
            <a:ext cx="347436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950" strike="noStrike" u="none">
                <a:solidFill>
                  <a:srgbClr val="065a82"/>
                </a:solidFill>
                <a:uFillTx/>
                <a:latin typeface="Calibri"/>
              </a:rPr>
              <a:t>Augmentation injustifiée des coûts de production pour les locataires</a:t>
            </a:r>
            <a:endParaRPr b="0" lang="fr-FR" sz="950" strike="noStrike" u="none">
              <a:solidFill>
                <a:srgbClr val="000000"/>
              </a:solidFill>
              <a:uFillTx/>
              <a:latin typeface="Arial"/>
            </a:endParaRPr>
          </a:p>
        </p:txBody>
      </p:sp>
      <p:sp>
        <p:nvSpPr>
          <p:cNvPr id="65" name="Shape 12"/>
          <p:cNvSpPr/>
          <p:nvPr/>
        </p:nvSpPr>
        <p:spPr>
          <a:xfrm>
            <a:off x="4709160" y="2167200"/>
            <a:ext cx="4023000" cy="502560"/>
          </a:xfrm>
          <a:prstGeom prst="rect">
            <a:avLst/>
          </a:prstGeom>
          <a:solidFill>
            <a:srgbClr val="eff6ff"/>
          </a:solidFill>
          <a:ln w="12700">
            <a:solidFill>
              <a:srgbClr val="e2eef9"/>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uFillTx/>
              <a:latin typeface="Arial"/>
            </a:endParaRPr>
          </a:p>
        </p:txBody>
      </p:sp>
      <p:sp>
        <p:nvSpPr>
          <p:cNvPr id="66" name="Text 13"/>
          <p:cNvSpPr/>
          <p:nvPr/>
        </p:nvSpPr>
        <p:spPr>
          <a:xfrm>
            <a:off x="4754880" y="2167200"/>
            <a:ext cx="36540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1400" strike="noStrike" u="none">
                <a:solidFill>
                  <a:srgbClr val="000000"/>
                </a:solidFill>
                <a:uFillTx/>
                <a:latin typeface="Calibri"/>
              </a:rPr>
              <a:t>📉</a:t>
            </a:r>
            <a:endParaRPr b="0" lang="fr-FR" sz="1400" strike="noStrike" u="none">
              <a:solidFill>
                <a:srgbClr val="000000"/>
              </a:solidFill>
              <a:uFillTx/>
              <a:latin typeface="Arial"/>
            </a:endParaRPr>
          </a:p>
        </p:txBody>
      </p:sp>
      <p:sp>
        <p:nvSpPr>
          <p:cNvPr id="67" name="Text 14"/>
          <p:cNvSpPr/>
          <p:nvPr/>
        </p:nvSpPr>
        <p:spPr>
          <a:xfrm>
            <a:off x="5166360" y="2212920"/>
            <a:ext cx="347436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950" strike="noStrike" u="none">
                <a:solidFill>
                  <a:srgbClr val="065a82"/>
                </a:solidFill>
                <a:uFillTx/>
                <a:latin typeface="Calibri"/>
              </a:rPr>
              <a:t>Baisse de la rentabilité des ménages locataires</a:t>
            </a:r>
            <a:endParaRPr b="0" lang="fr-FR" sz="950" strike="noStrike" u="none">
              <a:solidFill>
                <a:srgbClr val="000000"/>
              </a:solidFill>
              <a:uFillTx/>
              <a:latin typeface="Arial"/>
            </a:endParaRPr>
          </a:p>
        </p:txBody>
      </p:sp>
      <p:sp>
        <p:nvSpPr>
          <p:cNvPr id="68" name="Shape 15"/>
          <p:cNvSpPr/>
          <p:nvPr/>
        </p:nvSpPr>
        <p:spPr>
          <a:xfrm>
            <a:off x="4709160" y="2779920"/>
            <a:ext cx="4023000" cy="502560"/>
          </a:xfrm>
          <a:prstGeom prst="rect">
            <a:avLst/>
          </a:prstGeom>
          <a:solidFill>
            <a:srgbClr val="eff6ff"/>
          </a:solidFill>
          <a:ln w="12700">
            <a:solidFill>
              <a:srgbClr val="e2eef9"/>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uFillTx/>
              <a:latin typeface="Arial"/>
            </a:endParaRPr>
          </a:p>
        </p:txBody>
      </p:sp>
      <p:sp>
        <p:nvSpPr>
          <p:cNvPr id="69" name="Text 16"/>
          <p:cNvSpPr/>
          <p:nvPr/>
        </p:nvSpPr>
        <p:spPr>
          <a:xfrm>
            <a:off x="4754880" y="2779920"/>
            <a:ext cx="36540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1400" strike="noStrike" u="none">
                <a:solidFill>
                  <a:srgbClr val="000000"/>
                </a:solidFill>
                <a:uFillTx/>
                <a:latin typeface="Calibri"/>
              </a:rPr>
              <a:t>⚔️</a:t>
            </a:r>
            <a:endParaRPr b="0" lang="fr-FR" sz="1400" strike="noStrike" u="none">
              <a:solidFill>
                <a:srgbClr val="000000"/>
              </a:solidFill>
              <a:uFillTx/>
              <a:latin typeface="Arial"/>
            </a:endParaRPr>
          </a:p>
        </p:txBody>
      </p:sp>
      <p:sp>
        <p:nvSpPr>
          <p:cNvPr id="70" name="Text 17"/>
          <p:cNvSpPr/>
          <p:nvPr/>
        </p:nvSpPr>
        <p:spPr>
          <a:xfrm>
            <a:off x="5166360" y="2825640"/>
            <a:ext cx="347436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950" strike="noStrike" u="none">
                <a:solidFill>
                  <a:srgbClr val="065a82"/>
                </a:solidFill>
                <a:uFillTx/>
                <a:latin typeface="Calibri"/>
              </a:rPr>
              <a:t>Conflits récurrents bailleur–locataires non résolus</a:t>
            </a:r>
            <a:endParaRPr b="0" lang="fr-FR" sz="950" strike="noStrike" u="none">
              <a:solidFill>
                <a:srgbClr val="000000"/>
              </a:solidFill>
              <a:uFillTx/>
              <a:latin typeface="Arial"/>
            </a:endParaRPr>
          </a:p>
        </p:txBody>
      </p:sp>
      <p:sp>
        <p:nvSpPr>
          <p:cNvPr id="71" name="Shape 18"/>
          <p:cNvSpPr/>
          <p:nvPr/>
        </p:nvSpPr>
        <p:spPr>
          <a:xfrm>
            <a:off x="4709160" y="3392280"/>
            <a:ext cx="4023000" cy="502560"/>
          </a:xfrm>
          <a:prstGeom prst="rect">
            <a:avLst/>
          </a:prstGeom>
          <a:solidFill>
            <a:srgbClr val="eff6ff"/>
          </a:solidFill>
          <a:ln w="12700">
            <a:solidFill>
              <a:srgbClr val="e2eef9"/>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uFillTx/>
              <a:latin typeface="Arial"/>
            </a:endParaRPr>
          </a:p>
        </p:txBody>
      </p:sp>
      <p:sp>
        <p:nvSpPr>
          <p:cNvPr id="72" name="Text 19"/>
          <p:cNvSpPr/>
          <p:nvPr/>
        </p:nvSpPr>
        <p:spPr>
          <a:xfrm>
            <a:off x="4754880" y="3392280"/>
            <a:ext cx="36540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1400" strike="noStrike" u="none">
                <a:solidFill>
                  <a:srgbClr val="000000"/>
                </a:solidFill>
                <a:uFillTx/>
                <a:latin typeface="Calibri"/>
              </a:rPr>
              <a:t>🌍</a:t>
            </a:r>
            <a:endParaRPr b="0" lang="fr-FR" sz="1400" strike="noStrike" u="none">
              <a:solidFill>
                <a:srgbClr val="000000"/>
              </a:solidFill>
              <a:uFillTx/>
              <a:latin typeface="Arial"/>
            </a:endParaRPr>
          </a:p>
        </p:txBody>
      </p:sp>
      <p:sp>
        <p:nvSpPr>
          <p:cNvPr id="73" name="Text 20"/>
          <p:cNvSpPr/>
          <p:nvPr/>
        </p:nvSpPr>
        <p:spPr>
          <a:xfrm>
            <a:off x="5166360" y="3438000"/>
            <a:ext cx="347436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950" strike="noStrike" u="none">
                <a:solidFill>
                  <a:srgbClr val="065a82"/>
                </a:solidFill>
                <a:uFillTx/>
                <a:latin typeface="Calibri"/>
              </a:rPr>
              <a:t>Absence totale de transparence dans la consommation partagée</a:t>
            </a:r>
            <a:endParaRPr b="0" lang="fr-FR" sz="950" strike="noStrike" u="none">
              <a:solidFill>
                <a:srgbClr val="000000"/>
              </a:solidFill>
              <a:uFillTx/>
              <a:latin typeface="Arial"/>
            </a:endParaRPr>
          </a:p>
        </p:txBody>
      </p:sp>
      <p:sp>
        <p:nvSpPr>
          <p:cNvPr id="74" name="Shape 21"/>
          <p:cNvSpPr/>
          <p:nvPr/>
        </p:nvSpPr>
        <p:spPr>
          <a:xfrm>
            <a:off x="4709160" y="4005000"/>
            <a:ext cx="4023000" cy="502560"/>
          </a:xfrm>
          <a:prstGeom prst="rect">
            <a:avLst/>
          </a:prstGeom>
          <a:solidFill>
            <a:srgbClr val="eff6ff"/>
          </a:solidFill>
          <a:ln w="12700">
            <a:solidFill>
              <a:srgbClr val="e2eef9"/>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uFillTx/>
              <a:latin typeface="Arial"/>
            </a:endParaRPr>
          </a:p>
        </p:txBody>
      </p:sp>
      <p:sp>
        <p:nvSpPr>
          <p:cNvPr id="75" name="Text 22"/>
          <p:cNvSpPr/>
          <p:nvPr/>
        </p:nvSpPr>
        <p:spPr>
          <a:xfrm>
            <a:off x="4754880" y="4005000"/>
            <a:ext cx="36540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1400" strike="noStrike" u="none">
                <a:solidFill>
                  <a:srgbClr val="000000"/>
                </a:solidFill>
                <a:uFillTx/>
                <a:latin typeface="Calibri"/>
              </a:rPr>
              <a:t>🔌</a:t>
            </a:r>
            <a:endParaRPr b="0" lang="fr-FR" sz="1400" strike="noStrike" u="none">
              <a:solidFill>
                <a:srgbClr val="000000"/>
              </a:solidFill>
              <a:uFillTx/>
              <a:latin typeface="Arial"/>
            </a:endParaRPr>
          </a:p>
        </p:txBody>
      </p:sp>
      <p:sp>
        <p:nvSpPr>
          <p:cNvPr id="76" name="Text 23"/>
          <p:cNvSpPr/>
          <p:nvPr/>
        </p:nvSpPr>
        <p:spPr>
          <a:xfrm>
            <a:off x="5166360" y="4050720"/>
            <a:ext cx="347436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950" strike="noStrike" u="none">
                <a:solidFill>
                  <a:srgbClr val="065a82"/>
                </a:solidFill>
                <a:uFillTx/>
                <a:latin typeface="Calibri"/>
              </a:rPr>
              <a:t>Coupures imprévisibles sans notification préalable</a:t>
            </a:r>
            <a:endParaRPr b="0" lang="fr-FR" sz="95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77" name="Shape 0"/>
          <p:cNvSpPr/>
          <p:nvPr/>
        </p:nvSpPr>
        <p:spPr>
          <a:xfrm>
            <a:off x="0" y="0"/>
            <a:ext cx="9143640" cy="914040"/>
          </a:xfrm>
          <a:prstGeom prst="rect">
            <a:avLst/>
          </a:prstGeom>
          <a:solidFill>
            <a:srgbClr val="065a82"/>
          </a:solidFill>
          <a:ln w="12700">
            <a:solidFill>
              <a:srgbClr val="065a82"/>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78" name="Text 1"/>
          <p:cNvSpPr/>
          <p:nvPr/>
        </p:nvSpPr>
        <p:spPr>
          <a:xfrm>
            <a:off x="457200" y="0"/>
            <a:ext cx="8229240" cy="914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1800" spc="201" strike="noStrike" u="none">
                <a:solidFill>
                  <a:srgbClr val="00b4d8"/>
                </a:solidFill>
                <a:uFillTx/>
                <a:latin typeface="Calibri"/>
              </a:rPr>
              <a:t>01  </a:t>
            </a:r>
            <a:r>
              <a:rPr b="1" lang="fr-FR" sz="1800" spc="201" strike="noStrike" u="none">
                <a:solidFill>
                  <a:srgbClr val="ffffff"/>
                </a:solidFill>
                <a:uFillTx/>
                <a:latin typeface="Calibri"/>
              </a:rPr>
              <a:t>PROBLÉMATIQUE — Question de recherche</a:t>
            </a:r>
            <a:endParaRPr b="0" lang="fr-FR" sz="1800" strike="noStrike" u="none">
              <a:solidFill>
                <a:srgbClr val="ffffff"/>
              </a:solidFill>
              <a:uFillTx/>
              <a:latin typeface="Arial"/>
            </a:endParaRPr>
          </a:p>
        </p:txBody>
      </p:sp>
      <p:sp>
        <p:nvSpPr>
          <p:cNvPr id="79" name="Shape 2"/>
          <p:cNvSpPr/>
          <p:nvPr/>
        </p:nvSpPr>
        <p:spPr>
          <a:xfrm>
            <a:off x="731520" y="1188720"/>
            <a:ext cx="7680600" cy="2011320"/>
          </a:xfrm>
          <a:prstGeom prst="rect">
            <a:avLst/>
          </a:prstGeom>
          <a:solidFill>
            <a:srgbClr val="065a82"/>
          </a:solidFill>
          <a:ln w="12700">
            <a:solidFill>
              <a:srgbClr val="00b4d8"/>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80" name="Shape 3"/>
          <p:cNvSpPr/>
          <p:nvPr/>
        </p:nvSpPr>
        <p:spPr>
          <a:xfrm>
            <a:off x="731520" y="1188720"/>
            <a:ext cx="109440" cy="2011320"/>
          </a:xfrm>
          <a:prstGeom prst="rect">
            <a:avLst/>
          </a:prstGeom>
          <a:solidFill>
            <a:srgbClr val="00b4d8"/>
          </a:solidFill>
          <a:ln w="12700">
            <a:solidFill>
              <a:srgbClr val="00b4d8"/>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81" name="Text 4"/>
          <p:cNvSpPr/>
          <p:nvPr/>
        </p:nvSpPr>
        <p:spPr>
          <a:xfrm>
            <a:off x="1005840" y="1234440"/>
            <a:ext cx="713196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fr-FR" sz="1000" strike="noStrike" u="none">
                <a:solidFill>
                  <a:srgbClr val="00b4d8"/>
                </a:solidFill>
                <a:uFillTx/>
                <a:latin typeface="Calibri"/>
              </a:rPr>
              <a:t>Question de recherche</a:t>
            </a:r>
            <a:endParaRPr b="0" lang="fr-FR" sz="1000" strike="noStrike" u="none">
              <a:solidFill>
                <a:srgbClr val="ffffff"/>
              </a:solidFill>
              <a:uFillTx/>
              <a:latin typeface="Arial"/>
            </a:endParaRPr>
          </a:p>
        </p:txBody>
      </p:sp>
      <p:sp>
        <p:nvSpPr>
          <p:cNvPr id="82" name="Text 5"/>
          <p:cNvSpPr/>
          <p:nvPr/>
        </p:nvSpPr>
        <p:spPr>
          <a:xfrm>
            <a:off x="1005840" y="1645920"/>
            <a:ext cx="7131960" cy="1416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1500" strike="noStrike" u="none">
                <a:solidFill>
                  <a:srgbClr val="ffffff"/>
                </a:solidFill>
                <a:uFillTx/>
                <a:latin typeface="Calibri"/>
              </a:rPr>
              <a:t>Comment la mise en place d'un système embarqué IoT</a:t>
            </a:r>
            <a:endParaRPr b="0" lang="fr-FR" sz="1500" strike="noStrike" u="none">
              <a:solidFill>
                <a:srgbClr val="ffffff"/>
              </a:solidFill>
              <a:uFillTx/>
              <a:latin typeface="Arial"/>
            </a:endParaRPr>
          </a:p>
          <a:p>
            <a:pPr defTabSz="914400">
              <a:lnSpc>
                <a:spcPct val="100000"/>
              </a:lnSpc>
              <a:tabLst>
                <a:tab algn="l" pos="0"/>
              </a:tabLst>
            </a:pPr>
            <a:r>
              <a:rPr b="1" lang="fr-FR" sz="1500" strike="noStrike" u="none">
                <a:solidFill>
                  <a:srgbClr val="ffffff"/>
                </a:solidFill>
                <a:uFillTx/>
                <a:latin typeface="Calibri"/>
              </a:rPr>
              <a:t>pourrait-elle assurer une gestion équitable, transparente</a:t>
            </a:r>
            <a:endParaRPr b="0" lang="fr-FR" sz="1500" strike="noStrike" u="none">
              <a:solidFill>
                <a:srgbClr val="ffffff"/>
              </a:solidFill>
              <a:uFillTx/>
              <a:latin typeface="Arial"/>
            </a:endParaRPr>
          </a:p>
          <a:p>
            <a:pPr defTabSz="914400">
              <a:lnSpc>
                <a:spcPct val="100000"/>
              </a:lnSpc>
              <a:tabLst>
                <a:tab algn="l" pos="0"/>
              </a:tabLst>
            </a:pPr>
            <a:r>
              <a:rPr b="1" lang="fr-FR" sz="1500" strike="noStrike" u="none">
                <a:solidFill>
                  <a:srgbClr val="ffffff"/>
                </a:solidFill>
                <a:uFillTx/>
                <a:latin typeface="Calibri"/>
              </a:rPr>
              <a:t>et automatique de la consommation électrique entre</a:t>
            </a:r>
            <a:endParaRPr b="0" lang="fr-FR" sz="1500" strike="noStrike" u="none">
              <a:solidFill>
                <a:srgbClr val="ffffff"/>
              </a:solidFill>
              <a:uFillTx/>
              <a:latin typeface="Arial"/>
            </a:endParaRPr>
          </a:p>
          <a:p>
            <a:pPr defTabSz="914400">
              <a:lnSpc>
                <a:spcPct val="100000"/>
              </a:lnSpc>
              <a:tabLst>
                <a:tab algn="l" pos="0"/>
              </a:tabLst>
            </a:pPr>
            <a:r>
              <a:rPr b="1" lang="fr-FR" sz="1500" strike="noStrike" u="none">
                <a:solidFill>
                  <a:srgbClr val="ffffff"/>
                </a:solidFill>
                <a:uFillTx/>
                <a:latin typeface="Calibri"/>
              </a:rPr>
              <a:t>bailleur et locataires dans une concession résidentielle ?</a:t>
            </a:r>
            <a:endParaRPr b="0" lang="fr-FR" sz="1500" strike="noStrike" u="none">
              <a:solidFill>
                <a:srgbClr val="ffffff"/>
              </a:solidFill>
              <a:uFillTx/>
              <a:latin typeface="Arial"/>
            </a:endParaRPr>
          </a:p>
        </p:txBody>
      </p:sp>
      <p:sp>
        <p:nvSpPr>
          <p:cNvPr id="83" name="Shape 6"/>
          <p:cNvSpPr/>
          <p:nvPr/>
        </p:nvSpPr>
        <p:spPr>
          <a:xfrm>
            <a:off x="731520" y="3474720"/>
            <a:ext cx="2559960" cy="1371240"/>
          </a:xfrm>
          <a:prstGeom prst="rect">
            <a:avLst/>
          </a:prstGeom>
          <a:solidFill>
            <a:srgbClr val="1c7293"/>
          </a:solidFill>
          <a:ln w="12700">
            <a:solidFill>
              <a:srgbClr val="1c7293"/>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84" name="Text 7"/>
          <p:cNvSpPr/>
          <p:nvPr/>
        </p:nvSpPr>
        <p:spPr>
          <a:xfrm>
            <a:off x="731520" y="3520440"/>
            <a:ext cx="255996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2800" strike="noStrike" u="none">
                <a:solidFill>
                  <a:srgbClr val="f59e0b"/>
                </a:solidFill>
                <a:uFillTx/>
                <a:latin typeface="Calibri"/>
              </a:rPr>
              <a:t>~$15</a:t>
            </a:r>
            <a:endParaRPr b="0" lang="fr-FR" sz="2800" strike="noStrike" u="none">
              <a:solidFill>
                <a:srgbClr val="ffffff"/>
              </a:solidFill>
              <a:uFillTx/>
              <a:latin typeface="Arial"/>
            </a:endParaRPr>
          </a:p>
        </p:txBody>
      </p:sp>
      <p:sp>
        <p:nvSpPr>
          <p:cNvPr id="85" name="Text 8"/>
          <p:cNvSpPr/>
          <p:nvPr/>
        </p:nvSpPr>
        <p:spPr>
          <a:xfrm>
            <a:off x="731520" y="4069080"/>
            <a:ext cx="255996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900" strike="noStrike" u="none">
                <a:solidFill>
                  <a:srgbClr val="ffffff"/>
                </a:solidFill>
                <a:uFillTx/>
                <a:latin typeface="Calibri"/>
              </a:rPr>
              <a:t>Coût sous-compteur actuel</a:t>
            </a:r>
            <a:endParaRPr b="0" lang="fr-FR" sz="900" strike="noStrike" u="none">
              <a:solidFill>
                <a:srgbClr val="ffffff"/>
              </a:solidFill>
              <a:uFillTx/>
              <a:latin typeface="Arial"/>
            </a:endParaRPr>
          </a:p>
        </p:txBody>
      </p:sp>
      <p:sp>
        <p:nvSpPr>
          <p:cNvPr id="86" name="Text 9"/>
          <p:cNvSpPr/>
          <p:nvPr/>
        </p:nvSpPr>
        <p:spPr>
          <a:xfrm>
            <a:off x="731520" y="4434840"/>
            <a:ext cx="255996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fr-FR" sz="800" strike="noStrike" u="none">
                <a:solidFill>
                  <a:srgbClr val="a8d8ea"/>
                </a:solidFill>
                <a:uFillTx/>
                <a:latin typeface="Calibri"/>
              </a:rPr>
              <a:t>sans coupure automatique</a:t>
            </a:r>
            <a:endParaRPr b="0" lang="fr-FR" sz="800" strike="noStrike" u="none">
              <a:solidFill>
                <a:srgbClr val="ffffff"/>
              </a:solidFill>
              <a:uFillTx/>
              <a:latin typeface="Arial"/>
            </a:endParaRPr>
          </a:p>
        </p:txBody>
      </p:sp>
      <p:sp>
        <p:nvSpPr>
          <p:cNvPr id="87" name="Shape 10"/>
          <p:cNvSpPr/>
          <p:nvPr/>
        </p:nvSpPr>
        <p:spPr>
          <a:xfrm>
            <a:off x="3566160" y="3474720"/>
            <a:ext cx="2559960" cy="1371240"/>
          </a:xfrm>
          <a:prstGeom prst="rect">
            <a:avLst/>
          </a:prstGeom>
          <a:solidFill>
            <a:srgbClr val="1c7293"/>
          </a:solidFill>
          <a:ln w="12700">
            <a:solidFill>
              <a:srgbClr val="1c7293"/>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88" name="Text 11"/>
          <p:cNvSpPr/>
          <p:nvPr/>
        </p:nvSpPr>
        <p:spPr>
          <a:xfrm>
            <a:off x="3566160" y="3520440"/>
            <a:ext cx="255996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2800" strike="noStrike" u="none">
                <a:solidFill>
                  <a:srgbClr val="f59e0b"/>
                </a:solidFill>
                <a:uFillTx/>
                <a:latin typeface="Calibri"/>
              </a:rPr>
              <a:t>7–8</a:t>
            </a:r>
            <a:endParaRPr b="0" lang="fr-FR" sz="2800" strike="noStrike" u="none">
              <a:solidFill>
                <a:srgbClr val="ffffff"/>
              </a:solidFill>
              <a:uFillTx/>
              <a:latin typeface="Arial"/>
            </a:endParaRPr>
          </a:p>
        </p:txBody>
      </p:sp>
      <p:sp>
        <p:nvSpPr>
          <p:cNvPr id="89" name="Text 12"/>
          <p:cNvSpPr/>
          <p:nvPr/>
        </p:nvSpPr>
        <p:spPr>
          <a:xfrm>
            <a:off x="3566160" y="4069080"/>
            <a:ext cx="255996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900" strike="noStrike" u="none">
                <a:solidFill>
                  <a:srgbClr val="ffffff"/>
                </a:solidFill>
                <a:uFillTx/>
                <a:latin typeface="Calibri"/>
              </a:rPr>
              <a:t>Locataires par concession</a:t>
            </a:r>
            <a:endParaRPr b="0" lang="fr-FR" sz="900" strike="noStrike" u="none">
              <a:solidFill>
                <a:srgbClr val="ffffff"/>
              </a:solidFill>
              <a:uFillTx/>
              <a:latin typeface="Arial"/>
            </a:endParaRPr>
          </a:p>
        </p:txBody>
      </p:sp>
      <p:sp>
        <p:nvSpPr>
          <p:cNvPr id="90" name="Text 13"/>
          <p:cNvSpPr/>
          <p:nvPr/>
        </p:nvSpPr>
        <p:spPr>
          <a:xfrm>
            <a:off x="3566160" y="4434840"/>
            <a:ext cx="255996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fr-FR" sz="800" strike="noStrike" u="none">
                <a:solidFill>
                  <a:srgbClr val="a8d8ea"/>
                </a:solidFill>
                <a:uFillTx/>
                <a:latin typeface="Calibri"/>
              </a:rPr>
              <a:t>moyenne Goma</a:t>
            </a:r>
            <a:endParaRPr b="0" lang="fr-FR" sz="800" strike="noStrike" u="none">
              <a:solidFill>
                <a:srgbClr val="ffffff"/>
              </a:solidFill>
              <a:uFillTx/>
              <a:latin typeface="Arial"/>
            </a:endParaRPr>
          </a:p>
        </p:txBody>
      </p:sp>
      <p:sp>
        <p:nvSpPr>
          <p:cNvPr id="91" name="Shape 14"/>
          <p:cNvSpPr/>
          <p:nvPr/>
        </p:nvSpPr>
        <p:spPr>
          <a:xfrm>
            <a:off x="6400800" y="3474720"/>
            <a:ext cx="2559960" cy="1371240"/>
          </a:xfrm>
          <a:prstGeom prst="rect">
            <a:avLst/>
          </a:prstGeom>
          <a:solidFill>
            <a:srgbClr val="1c7293"/>
          </a:solidFill>
          <a:ln w="12700">
            <a:solidFill>
              <a:srgbClr val="1c7293"/>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92" name="Text 15"/>
          <p:cNvSpPr/>
          <p:nvPr/>
        </p:nvSpPr>
        <p:spPr>
          <a:xfrm>
            <a:off x="6400800" y="3520440"/>
            <a:ext cx="255996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2800" strike="noStrike" u="none">
                <a:solidFill>
                  <a:srgbClr val="f59e0b"/>
                </a:solidFill>
                <a:uFillTx/>
                <a:latin typeface="Calibri"/>
              </a:rPr>
              <a:t>0</a:t>
            </a:r>
            <a:endParaRPr b="0" lang="fr-FR" sz="2800" strike="noStrike" u="none">
              <a:solidFill>
                <a:srgbClr val="ffffff"/>
              </a:solidFill>
              <a:uFillTx/>
              <a:latin typeface="Arial"/>
            </a:endParaRPr>
          </a:p>
        </p:txBody>
      </p:sp>
      <p:sp>
        <p:nvSpPr>
          <p:cNvPr id="93" name="Text 16"/>
          <p:cNvSpPr/>
          <p:nvPr/>
        </p:nvSpPr>
        <p:spPr>
          <a:xfrm>
            <a:off x="6400800" y="4069080"/>
            <a:ext cx="255996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900" strike="noStrike" u="none">
                <a:solidFill>
                  <a:srgbClr val="ffffff"/>
                </a:solidFill>
                <a:uFillTx/>
                <a:latin typeface="Calibri"/>
              </a:rPr>
              <a:t>Outil transparent existant</a:t>
            </a:r>
            <a:endParaRPr b="0" lang="fr-FR" sz="900" strike="noStrike" u="none">
              <a:solidFill>
                <a:srgbClr val="ffffff"/>
              </a:solidFill>
              <a:uFillTx/>
              <a:latin typeface="Arial"/>
            </a:endParaRPr>
          </a:p>
        </p:txBody>
      </p:sp>
      <p:sp>
        <p:nvSpPr>
          <p:cNvPr id="94" name="Text 17"/>
          <p:cNvSpPr/>
          <p:nvPr/>
        </p:nvSpPr>
        <p:spPr>
          <a:xfrm>
            <a:off x="6400800" y="4434840"/>
            <a:ext cx="255996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fr-FR" sz="800" strike="noStrike" u="none">
                <a:solidFill>
                  <a:srgbClr val="a8d8ea"/>
                </a:solidFill>
                <a:uFillTx/>
                <a:latin typeface="Calibri"/>
              </a:rPr>
              <a:t>marché local actuel</a:t>
            </a:r>
            <a:endParaRPr b="0" lang="fr-FR" sz="8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ff6ff"/>
        </a:solidFill>
      </p:bgPr>
    </p:bg>
    <p:spTree>
      <p:nvGrpSpPr>
        <p:cNvPr id="1" name=""/>
        <p:cNvGrpSpPr/>
        <p:nvPr/>
      </p:nvGrpSpPr>
      <p:grpSpPr>
        <a:xfrm>
          <a:off x="0" y="0"/>
          <a:ext cx="0" cy="0"/>
          <a:chOff x="0" y="0"/>
          <a:chExt cx="0" cy="0"/>
        </a:xfrm>
      </p:grpSpPr>
      <p:sp>
        <p:nvSpPr>
          <p:cNvPr id="95" name="Shape 0"/>
          <p:cNvSpPr/>
          <p:nvPr/>
        </p:nvSpPr>
        <p:spPr>
          <a:xfrm>
            <a:off x="0" y="0"/>
            <a:ext cx="9143640" cy="914040"/>
          </a:xfrm>
          <a:prstGeom prst="rect">
            <a:avLst/>
          </a:prstGeom>
          <a:solidFill>
            <a:srgbClr val="065a82"/>
          </a:solidFill>
          <a:ln w="12700">
            <a:solidFill>
              <a:srgbClr val="065a82"/>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96" name="Text 1"/>
          <p:cNvSpPr/>
          <p:nvPr/>
        </p:nvSpPr>
        <p:spPr>
          <a:xfrm>
            <a:off x="457200" y="0"/>
            <a:ext cx="8229240" cy="914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2000" spc="201" strike="noStrike" u="none">
                <a:solidFill>
                  <a:srgbClr val="00b4d8"/>
                </a:solidFill>
                <a:uFillTx/>
                <a:latin typeface="Calibri"/>
              </a:rPr>
              <a:t>02  </a:t>
            </a:r>
            <a:r>
              <a:rPr b="1" lang="fr-FR" sz="2000" spc="201" strike="noStrike" u="none">
                <a:solidFill>
                  <a:srgbClr val="ffffff"/>
                </a:solidFill>
                <a:uFillTx/>
                <a:latin typeface="Calibri"/>
              </a:rPr>
              <a:t>HYPOTHÈSE</a:t>
            </a:r>
            <a:endParaRPr b="0" lang="fr-FR" sz="2000" strike="noStrike" u="none">
              <a:solidFill>
                <a:srgbClr val="000000"/>
              </a:solidFill>
              <a:uFillTx/>
              <a:latin typeface="Arial"/>
            </a:endParaRPr>
          </a:p>
        </p:txBody>
      </p:sp>
      <p:sp>
        <p:nvSpPr>
          <p:cNvPr id="97" name="Shape 2"/>
          <p:cNvSpPr/>
          <p:nvPr/>
        </p:nvSpPr>
        <p:spPr>
          <a:xfrm>
            <a:off x="365760" y="1005840"/>
            <a:ext cx="8412120" cy="1645560"/>
          </a:xfrm>
          <a:prstGeom prst="rect">
            <a:avLst/>
          </a:prstGeom>
          <a:solidFill>
            <a:srgbClr val="ffffff"/>
          </a:solidFill>
          <a:ln w="12700">
            <a:solidFill>
              <a:srgbClr val="1c7293"/>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fr-FR" sz="1800" strike="noStrike" u="none">
              <a:solidFill>
                <a:srgbClr val="000000"/>
              </a:solidFill>
              <a:uFillTx/>
              <a:latin typeface="Arial"/>
            </a:endParaRPr>
          </a:p>
        </p:txBody>
      </p:sp>
      <p:sp>
        <p:nvSpPr>
          <p:cNvPr id="98" name="Shape 3"/>
          <p:cNvSpPr/>
          <p:nvPr/>
        </p:nvSpPr>
        <p:spPr>
          <a:xfrm>
            <a:off x="365760" y="1005840"/>
            <a:ext cx="109440" cy="1645560"/>
          </a:xfrm>
          <a:prstGeom prst="rect">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uFillTx/>
              <a:latin typeface="Arial"/>
            </a:endParaRPr>
          </a:p>
        </p:txBody>
      </p:sp>
      <p:sp>
        <p:nvSpPr>
          <p:cNvPr id="99" name="Text 4"/>
          <p:cNvSpPr/>
          <p:nvPr/>
        </p:nvSpPr>
        <p:spPr>
          <a:xfrm>
            <a:off x="640080" y="1051560"/>
            <a:ext cx="804636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fr-FR" sz="1000" strike="noStrike" u="none">
                <a:solidFill>
                  <a:srgbClr val="64748b"/>
                </a:solidFill>
                <a:uFillTx/>
                <a:latin typeface="Calibri"/>
              </a:rPr>
              <a:t>Hypothèse principale</a:t>
            </a:r>
            <a:endParaRPr b="0" lang="fr-FR" sz="1000" strike="noStrike" u="none">
              <a:solidFill>
                <a:srgbClr val="000000"/>
              </a:solidFill>
              <a:uFillTx/>
              <a:latin typeface="Arial"/>
            </a:endParaRPr>
          </a:p>
        </p:txBody>
      </p:sp>
      <p:sp>
        <p:nvSpPr>
          <p:cNvPr id="100" name="Text 5"/>
          <p:cNvSpPr/>
          <p:nvPr/>
        </p:nvSpPr>
        <p:spPr>
          <a:xfrm>
            <a:off x="640080" y="1417320"/>
            <a:ext cx="7954920" cy="1142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1100" strike="noStrike" u="none">
                <a:solidFill>
                  <a:srgbClr val="065a82"/>
                </a:solidFill>
                <a:uFillTx/>
                <a:latin typeface="Calibri"/>
              </a:rPr>
              <a:t>Un système embarqué à base d'ESP32, équipé de capteurs ACS712 (courant) et ZMPT101B (tension), couplé à des relais optocoupleurs et une interface web locale, permet de mesurer avec précision la consommation individuelle de chaque locataire, d'assurer une coupure automatique au dépassement du crédit, et de garantir une transparence totale — sans modifier l'installation existante et pour un coût inférieur à $30.</a:t>
            </a:r>
            <a:endParaRPr b="0" lang="fr-FR" sz="1100" strike="noStrike" u="none">
              <a:solidFill>
                <a:srgbClr val="000000"/>
              </a:solidFill>
              <a:uFillTx/>
              <a:latin typeface="Arial"/>
            </a:endParaRPr>
          </a:p>
        </p:txBody>
      </p:sp>
      <p:sp>
        <p:nvSpPr>
          <p:cNvPr id="101" name="Shape 6"/>
          <p:cNvSpPr/>
          <p:nvPr/>
        </p:nvSpPr>
        <p:spPr>
          <a:xfrm>
            <a:off x="274320" y="2880360"/>
            <a:ext cx="2011320" cy="1919880"/>
          </a:xfrm>
          <a:prstGeom prst="rect">
            <a:avLst/>
          </a:prstGeom>
          <a:solidFill>
            <a:srgbClr val="ffffff"/>
          </a:solidFill>
          <a:ln w="12700">
            <a:solidFill>
              <a:srgbClr val="d1e8f5"/>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fr-FR" sz="1800" strike="noStrike" u="none">
              <a:solidFill>
                <a:srgbClr val="000000"/>
              </a:solidFill>
              <a:uFillTx/>
              <a:latin typeface="Arial"/>
            </a:endParaRPr>
          </a:p>
        </p:txBody>
      </p:sp>
      <p:sp>
        <p:nvSpPr>
          <p:cNvPr id="102" name="Shape 7"/>
          <p:cNvSpPr/>
          <p:nvPr/>
        </p:nvSpPr>
        <p:spPr>
          <a:xfrm>
            <a:off x="274320" y="2880360"/>
            <a:ext cx="2011320" cy="411120"/>
          </a:xfrm>
          <a:prstGeom prst="rect">
            <a:avLst/>
          </a:prstGeom>
          <a:solidFill>
            <a:srgbClr val="1c7293"/>
          </a:solidFill>
          <a:ln w="12700">
            <a:solidFill>
              <a:srgbClr val="1c7293"/>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103" name="Text 8"/>
          <p:cNvSpPr/>
          <p:nvPr/>
        </p:nvSpPr>
        <p:spPr>
          <a:xfrm>
            <a:off x="274320" y="2880360"/>
            <a:ext cx="201132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900" strike="noStrike" u="none">
                <a:solidFill>
                  <a:srgbClr val="ffffff"/>
                </a:solidFill>
                <a:uFillTx/>
                <a:latin typeface="Calibri"/>
              </a:rPr>
              <a:t>⚡  </a:t>
            </a:r>
            <a:r>
              <a:rPr b="1" lang="fr-FR" sz="900" strike="noStrike" u="none">
                <a:solidFill>
                  <a:srgbClr val="ffffff"/>
                </a:solidFill>
                <a:uFillTx/>
                <a:latin typeface="Calibri"/>
              </a:rPr>
              <a:t>Mesure précise</a:t>
            </a:r>
            <a:endParaRPr b="0" lang="fr-FR" sz="900" strike="noStrike" u="none">
              <a:solidFill>
                <a:srgbClr val="000000"/>
              </a:solidFill>
              <a:uFillTx/>
              <a:latin typeface="Arial"/>
            </a:endParaRPr>
          </a:p>
        </p:txBody>
      </p:sp>
      <p:sp>
        <p:nvSpPr>
          <p:cNvPr id="104" name="Text 9"/>
          <p:cNvSpPr/>
          <p:nvPr/>
        </p:nvSpPr>
        <p:spPr>
          <a:xfrm>
            <a:off x="365760" y="3383280"/>
            <a:ext cx="1828440" cy="1325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900" strike="noStrike" u="none">
                <a:solidFill>
                  <a:srgbClr val="065a82"/>
                </a:solidFill>
                <a:uFillTx/>
                <a:latin typeface="Calibri"/>
              </a:rPr>
              <a:t>Courant (ACS712) × Tension réelle (ZMPT101B) = kWh exact</a:t>
            </a:r>
            <a:endParaRPr b="0" lang="fr-FR" sz="900" strike="noStrike" u="none">
              <a:solidFill>
                <a:srgbClr val="000000"/>
              </a:solidFill>
              <a:uFillTx/>
              <a:latin typeface="Arial"/>
            </a:endParaRPr>
          </a:p>
        </p:txBody>
      </p:sp>
      <p:sp>
        <p:nvSpPr>
          <p:cNvPr id="105" name="Shape 10"/>
          <p:cNvSpPr/>
          <p:nvPr/>
        </p:nvSpPr>
        <p:spPr>
          <a:xfrm>
            <a:off x="2468880" y="2880360"/>
            <a:ext cx="2011320" cy="1919880"/>
          </a:xfrm>
          <a:prstGeom prst="rect">
            <a:avLst/>
          </a:prstGeom>
          <a:solidFill>
            <a:srgbClr val="ffffff"/>
          </a:solidFill>
          <a:ln w="12700">
            <a:solidFill>
              <a:srgbClr val="d1e8f5"/>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fr-FR" sz="1800" strike="noStrike" u="none">
              <a:solidFill>
                <a:srgbClr val="000000"/>
              </a:solidFill>
              <a:uFillTx/>
              <a:latin typeface="Arial"/>
            </a:endParaRPr>
          </a:p>
        </p:txBody>
      </p:sp>
      <p:sp>
        <p:nvSpPr>
          <p:cNvPr id="106" name="Shape 11"/>
          <p:cNvSpPr/>
          <p:nvPr/>
        </p:nvSpPr>
        <p:spPr>
          <a:xfrm>
            <a:off x="2468880" y="2880360"/>
            <a:ext cx="2011320" cy="411120"/>
          </a:xfrm>
          <a:prstGeom prst="rect">
            <a:avLst/>
          </a:prstGeom>
          <a:solidFill>
            <a:srgbClr val="1c7293"/>
          </a:solidFill>
          <a:ln w="12700">
            <a:solidFill>
              <a:srgbClr val="1c7293"/>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107" name="Text 12"/>
          <p:cNvSpPr/>
          <p:nvPr/>
        </p:nvSpPr>
        <p:spPr>
          <a:xfrm>
            <a:off x="2468880" y="2880360"/>
            <a:ext cx="201132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900" strike="noStrike" u="none">
                <a:solidFill>
                  <a:srgbClr val="ffffff"/>
                </a:solidFill>
                <a:uFillTx/>
                <a:latin typeface="Calibri"/>
              </a:rPr>
              <a:t>🔒  </a:t>
            </a:r>
            <a:r>
              <a:rPr b="1" lang="fr-FR" sz="900" strike="noStrike" u="none">
                <a:solidFill>
                  <a:srgbClr val="ffffff"/>
                </a:solidFill>
                <a:uFillTx/>
                <a:latin typeface="Calibri"/>
              </a:rPr>
              <a:t>Coupure automatique</a:t>
            </a:r>
            <a:endParaRPr b="0" lang="fr-FR" sz="900" strike="noStrike" u="none">
              <a:solidFill>
                <a:srgbClr val="000000"/>
              </a:solidFill>
              <a:uFillTx/>
              <a:latin typeface="Arial"/>
            </a:endParaRPr>
          </a:p>
        </p:txBody>
      </p:sp>
      <p:sp>
        <p:nvSpPr>
          <p:cNvPr id="108" name="Text 13"/>
          <p:cNvSpPr/>
          <p:nvPr/>
        </p:nvSpPr>
        <p:spPr>
          <a:xfrm>
            <a:off x="2560320" y="3383280"/>
            <a:ext cx="1828440" cy="1325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900" strike="noStrike" u="none">
                <a:solidFill>
                  <a:srgbClr val="065a82"/>
                </a:solidFill>
                <a:uFillTx/>
                <a:latin typeface="Calibri"/>
              </a:rPr>
              <a:t>Relais ouvre quand crédit = 0 — aucune intervention manuelle</a:t>
            </a:r>
            <a:endParaRPr b="0" lang="fr-FR" sz="900" strike="noStrike" u="none">
              <a:solidFill>
                <a:srgbClr val="000000"/>
              </a:solidFill>
              <a:uFillTx/>
              <a:latin typeface="Arial"/>
            </a:endParaRPr>
          </a:p>
        </p:txBody>
      </p:sp>
      <p:sp>
        <p:nvSpPr>
          <p:cNvPr id="109" name="Shape 14"/>
          <p:cNvSpPr/>
          <p:nvPr/>
        </p:nvSpPr>
        <p:spPr>
          <a:xfrm>
            <a:off x="4663440" y="2880360"/>
            <a:ext cx="2011320" cy="1919880"/>
          </a:xfrm>
          <a:prstGeom prst="rect">
            <a:avLst/>
          </a:prstGeom>
          <a:solidFill>
            <a:srgbClr val="ffffff"/>
          </a:solidFill>
          <a:ln w="12700">
            <a:solidFill>
              <a:srgbClr val="d1e8f5"/>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fr-FR" sz="1800" strike="noStrike" u="none">
              <a:solidFill>
                <a:srgbClr val="000000"/>
              </a:solidFill>
              <a:uFillTx/>
              <a:latin typeface="Arial"/>
            </a:endParaRPr>
          </a:p>
        </p:txBody>
      </p:sp>
      <p:sp>
        <p:nvSpPr>
          <p:cNvPr id="110" name="Shape 15"/>
          <p:cNvSpPr/>
          <p:nvPr/>
        </p:nvSpPr>
        <p:spPr>
          <a:xfrm>
            <a:off x="4663440" y="2880360"/>
            <a:ext cx="2011320" cy="411120"/>
          </a:xfrm>
          <a:prstGeom prst="rect">
            <a:avLst/>
          </a:prstGeom>
          <a:solidFill>
            <a:srgbClr val="1c7293"/>
          </a:solidFill>
          <a:ln w="12700">
            <a:solidFill>
              <a:srgbClr val="1c7293"/>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111" name="Text 16"/>
          <p:cNvSpPr/>
          <p:nvPr/>
        </p:nvSpPr>
        <p:spPr>
          <a:xfrm>
            <a:off x="4663440" y="2880360"/>
            <a:ext cx="201132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900" strike="noStrike" u="none">
                <a:solidFill>
                  <a:srgbClr val="ffffff"/>
                </a:solidFill>
                <a:uFillTx/>
                <a:latin typeface="Calibri"/>
              </a:rPr>
              <a:t>📱  </a:t>
            </a:r>
            <a:r>
              <a:rPr b="1" lang="fr-FR" sz="900" strike="noStrike" u="none">
                <a:solidFill>
                  <a:srgbClr val="ffffff"/>
                </a:solidFill>
                <a:uFillTx/>
                <a:latin typeface="Calibri"/>
              </a:rPr>
              <a:t>Interface transparente</a:t>
            </a:r>
            <a:endParaRPr b="0" lang="fr-FR" sz="900" strike="noStrike" u="none">
              <a:solidFill>
                <a:srgbClr val="000000"/>
              </a:solidFill>
              <a:uFillTx/>
              <a:latin typeface="Arial"/>
            </a:endParaRPr>
          </a:p>
        </p:txBody>
      </p:sp>
      <p:sp>
        <p:nvSpPr>
          <p:cNvPr id="112" name="Text 17"/>
          <p:cNvSpPr/>
          <p:nvPr/>
        </p:nvSpPr>
        <p:spPr>
          <a:xfrm>
            <a:off x="4754880" y="3383280"/>
            <a:ext cx="1828440" cy="1325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900" strike="noStrike" u="none">
                <a:solidFill>
                  <a:srgbClr val="065a82"/>
                </a:solidFill>
                <a:uFillTx/>
                <a:latin typeface="Calibri"/>
              </a:rPr>
              <a:t>Locataire voit son crédit, historique et recharges en temps réel</a:t>
            </a:r>
            <a:endParaRPr b="0" lang="fr-FR" sz="900" strike="noStrike" u="none">
              <a:solidFill>
                <a:srgbClr val="000000"/>
              </a:solidFill>
              <a:uFillTx/>
              <a:latin typeface="Arial"/>
            </a:endParaRPr>
          </a:p>
        </p:txBody>
      </p:sp>
      <p:sp>
        <p:nvSpPr>
          <p:cNvPr id="113" name="Shape 18"/>
          <p:cNvSpPr/>
          <p:nvPr/>
        </p:nvSpPr>
        <p:spPr>
          <a:xfrm>
            <a:off x="6858000" y="2880360"/>
            <a:ext cx="2011320" cy="1919880"/>
          </a:xfrm>
          <a:prstGeom prst="rect">
            <a:avLst/>
          </a:prstGeom>
          <a:solidFill>
            <a:srgbClr val="ffffff"/>
          </a:solidFill>
          <a:ln w="12700">
            <a:solidFill>
              <a:srgbClr val="d1e8f5"/>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fr-FR" sz="1800" strike="noStrike" u="none">
              <a:solidFill>
                <a:srgbClr val="000000"/>
              </a:solidFill>
              <a:uFillTx/>
              <a:latin typeface="Arial"/>
            </a:endParaRPr>
          </a:p>
        </p:txBody>
      </p:sp>
      <p:sp>
        <p:nvSpPr>
          <p:cNvPr id="114" name="Shape 19"/>
          <p:cNvSpPr/>
          <p:nvPr/>
        </p:nvSpPr>
        <p:spPr>
          <a:xfrm>
            <a:off x="6858000" y="2880360"/>
            <a:ext cx="2011320" cy="411120"/>
          </a:xfrm>
          <a:prstGeom prst="rect">
            <a:avLst/>
          </a:prstGeom>
          <a:solidFill>
            <a:srgbClr val="1c7293"/>
          </a:solidFill>
          <a:ln w="12700">
            <a:solidFill>
              <a:srgbClr val="1c7293"/>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115" name="Text 20"/>
          <p:cNvSpPr/>
          <p:nvPr/>
        </p:nvSpPr>
        <p:spPr>
          <a:xfrm>
            <a:off x="6858000" y="2880360"/>
            <a:ext cx="201132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900" strike="noStrike" u="none">
                <a:solidFill>
                  <a:srgbClr val="ffffff"/>
                </a:solidFill>
                <a:uFillTx/>
                <a:latin typeface="Calibri"/>
              </a:rPr>
              <a:t>💰  </a:t>
            </a:r>
            <a:r>
              <a:rPr b="1" lang="fr-FR" sz="900" strike="noStrike" u="none">
                <a:solidFill>
                  <a:srgbClr val="ffffff"/>
                </a:solidFill>
                <a:uFillTx/>
                <a:latin typeface="Calibri"/>
              </a:rPr>
              <a:t>Coût accessible</a:t>
            </a:r>
            <a:endParaRPr b="0" lang="fr-FR" sz="900" strike="noStrike" u="none">
              <a:solidFill>
                <a:srgbClr val="000000"/>
              </a:solidFill>
              <a:uFillTx/>
              <a:latin typeface="Arial"/>
            </a:endParaRPr>
          </a:p>
        </p:txBody>
      </p:sp>
      <p:sp>
        <p:nvSpPr>
          <p:cNvPr id="116" name="Text 21"/>
          <p:cNvSpPr/>
          <p:nvPr/>
        </p:nvSpPr>
        <p:spPr>
          <a:xfrm>
            <a:off x="6949440" y="3383280"/>
            <a:ext cx="1828440" cy="1325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900" strike="noStrike" u="none">
                <a:solidFill>
                  <a:srgbClr val="065a82"/>
                </a:solidFill>
                <a:uFillTx/>
                <a:latin typeface="Calibri"/>
              </a:rPr>
              <a:t>~$26 total — partagé entre 8 personnes = ~$3.25 chacun</a:t>
            </a:r>
            <a:endParaRPr b="0" lang="fr-FR" sz="9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ff6ff"/>
        </a:solidFill>
      </p:bgPr>
    </p:bg>
    <p:spTree>
      <p:nvGrpSpPr>
        <p:cNvPr id="1" name=""/>
        <p:cNvGrpSpPr/>
        <p:nvPr/>
      </p:nvGrpSpPr>
      <p:grpSpPr>
        <a:xfrm>
          <a:off x="0" y="0"/>
          <a:ext cx="0" cy="0"/>
          <a:chOff x="0" y="0"/>
          <a:chExt cx="0" cy="0"/>
        </a:xfrm>
      </p:grpSpPr>
      <p:sp>
        <p:nvSpPr>
          <p:cNvPr id="117" name="Shape 0"/>
          <p:cNvSpPr/>
          <p:nvPr/>
        </p:nvSpPr>
        <p:spPr>
          <a:xfrm>
            <a:off x="0" y="0"/>
            <a:ext cx="9143640" cy="914040"/>
          </a:xfrm>
          <a:prstGeom prst="rect">
            <a:avLst/>
          </a:prstGeom>
          <a:solidFill>
            <a:srgbClr val="065a82"/>
          </a:solidFill>
          <a:ln w="12700">
            <a:solidFill>
              <a:srgbClr val="065a82"/>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118" name="Text 1"/>
          <p:cNvSpPr/>
          <p:nvPr/>
        </p:nvSpPr>
        <p:spPr>
          <a:xfrm>
            <a:off x="457200" y="0"/>
            <a:ext cx="8229240" cy="914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1800" spc="201" strike="noStrike" u="none">
                <a:solidFill>
                  <a:srgbClr val="00b4d8"/>
                </a:solidFill>
                <a:uFillTx/>
                <a:latin typeface="Calibri"/>
              </a:rPr>
              <a:t>03  </a:t>
            </a:r>
            <a:r>
              <a:rPr b="1" lang="fr-FR" sz="1800" spc="201" strike="noStrike" u="none">
                <a:solidFill>
                  <a:srgbClr val="ffffff"/>
                </a:solidFill>
                <a:uFillTx/>
                <a:latin typeface="Calibri"/>
              </a:rPr>
              <a:t>MÉTHODOLOGIE — Architecture du système</a:t>
            </a:r>
            <a:endParaRPr b="0" lang="fr-FR" sz="1800" strike="noStrike" u="none">
              <a:solidFill>
                <a:srgbClr val="000000"/>
              </a:solidFill>
              <a:uFillTx/>
              <a:latin typeface="Arial"/>
            </a:endParaRPr>
          </a:p>
        </p:txBody>
      </p:sp>
      <p:sp>
        <p:nvSpPr>
          <p:cNvPr id="119" name="Shape 2"/>
          <p:cNvSpPr/>
          <p:nvPr/>
        </p:nvSpPr>
        <p:spPr>
          <a:xfrm>
            <a:off x="274320" y="1005840"/>
            <a:ext cx="8595000" cy="1371240"/>
          </a:xfrm>
          <a:prstGeom prst="rect">
            <a:avLst/>
          </a:prstGeom>
          <a:solidFill>
            <a:srgbClr val="fff5f5"/>
          </a:solidFill>
          <a:ln w="12700">
            <a:solidFill>
              <a:srgbClr val="ef4444"/>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uFillTx/>
              <a:latin typeface="Arial"/>
            </a:endParaRPr>
          </a:p>
        </p:txBody>
      </p:sp>
      <p:sp>
        <p:nvSpPr>
          <p:cNvPr id="120" name="Text 3"/>
          <p:cNvSpPr/>
          <p:nvPr/>
        </p:nvSpPr>
        <p:spPr>
          <a:xfrm>
            <a:off x="457200" y="1051560"/>
            <a:ext cx="3657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900" strike="noStrike" u="none">
                <a:solidFill>
                  <a:srgbClr val="ef4444"/>
                </a:solidFill>
                <a:uFillTx/>
                <a:latin typeface="Calibri"/>
              </a:rPr>
              <a:t>⚡ </a:t>
            </a:r>
            <a:r>
              <a:rPr b="1" lang="fr-FR" sz="900" strike="noStrike" u="none">
                <a:solidFill>
                  <a:srgbClr val="ef4444"/>
                </a:solidFill>
                <a:uFillTx/>
                <a:latin typeface="Calibri"/>
              </a:rPr>
              <a:t>ZONE 220V — Haute tension</a:t>
            </a:r>
            <a:endParaRPr b="0" lang="fr-FR" sz="900" strike="noStrike" u="none">
              <a:solidFill>
                <a:srgbClr val="000000"/>
              </a:solidFill>
              <a:uFillTx/>
              <a:latin typeface="Arial"/>
            </a:endParaRPr>
          </a:p>
        </p:txBody>
      </p:sp>
      <p:sp>
        <p:nvSpPr>
          <p:cNvPr id="121" name="Shape 4"/>
          <p:cNvSpPr/>
          <p:nvPr/>
        </p:nvSpPr>
        <p:spPr>
          <a:xfrm>
            <a:off x="457200" y="1371600"/>
            <a:ext cx="1828440" cy="868320"/>
          </a:xfrm>
          <a:prstGeom prst="rect">
            <a:avLst/>
          </a:prstGeom>
          <a:solidFill>
            <a:srgbClr val="ffffff"/>
          </a:solidFill>
          <a:ln w="12700">
            <a:solidFill>
              <a:srgbClr val="ef4444"/>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fr-FR" sz="1800" strike="noStrike" u="none">
              <a:solidFill>
                <a:srgbClr val="000000"/>
              </a:solidFill>
              <a:uFillTx/>
              <a:latin typeface="Arial"/>
            </a:endParaRPr>
          </a:p>
        </p:txBody>
      </p:sp>
      <p:sp>
        <p:nvSpPr>
          <p:cNvPr id="122" name="Text 5"/>
          <p:cNvSpPr/>
          <p:nvPr/>
        </p:nvSpPr>
        <p:spPr>
          <a:xfrm>
            <a:off x="457200" y="1371600"/>
            <a:ext cx="1828440" cy="868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850" strike="noStrike" u="none">
                <a:solidFill>
                  <a:srgbClr val="065a82"/>
                </a:solidFill>
                <a:uFillTx/>
                <a:latin typeface="Calibri"/>
              </a:rPr>
              <a:t>HLK-PM01</a:t>
            </a:r>
            <a:endParaRPr b="0" lang="fr-FR" sz="850" strike="noStrike" u="none">
              <a:solidFill>
                <a:srgbClr val="000000"/>
              </a:solidFill>
              <a:uFillTx/>
              <a:latin typeface="Arial"/>
            </a:endParaRPr>
          </a:p>
          <a:p>
            <a:pPr algn="ctr" defTabSz="914400">
              <a:lnSpc>
                <a:spcPct val="100000"/>
              </a:lnSpc>
              <a:tabLst>
                <a:tab algn="l" pos="0"/>
              </a:tabLst>
            </a:pPr>
            <a:r>
              <a:rPr b="0" lang="fr-FR" sz="850" strike="noStrike" u="none">
                <a:solidFill>
                  <a:srgbClr val="065a82"/>
                </a:solidFill>
                <a:uFillTx/>
                <a:latin typeface="Calibri"/>
              </a:rPr>
              <a:t>220V→5V</a:t>
            </a:r>
            <a:endParaRPr b="0" lang="fr-FR" sz="850" strike="noStrike" u="none">
              <a:solidFill>
                <a:srgbClr val="000000"/>
              </a:solidFill>
              <a:uFillTx/>
              <a:latin typeface="Arial"/>
            </a:endParaRPr>
          </a:p>
          <a:p>
            <a:pPr algn="ctr" defTabSz="914400">
              <a:lnSpc>
                <a:spcPct val="100000"/>
              </a:lnSpc>
              <a:tabLst>
                <a:tab algn="l" pos="0"/>
              </a:tabLst>
            </a:pPr>
            <a:r>
              <a:rPr b="0" lang="fr-FR" sz="850" strike="noStrike" u="none">
                <a:solidFill>
                  <a:srgbClr val="065a82"/>
                </a:solidFill>
                <a:uFillTx/>
                <a:latin typeface="Calibri"/>
              </a:rPr>
              <a:t>$2</a:t>
            </a:r>
            <a:endParaRPr b="0" lang="fr-FR" sz="850" strike="noStrike" u="none">
              <a:solidFill>
                <a:srgbClr val="000000"/>
              </a:solidFill>
              <a:uFillTx/>
              <a:latin typeface="Arial"/>
            </a:endParaRPr>
          </a:p>
        </p:txBody>
      </p:sp>
      <p:sp>
        <p:nvSpPr>
          <p:cNvPr id="123" name="Shape 6"/>
          <p:cNvSpPr/>
          <p:nvPr/>
        </p:nvSpPr>
        <p:spPr>
          <a:xfrm>
            <a:off x="2560320" y="1371600"/>
            <a:ext cx="1828440" cy="868320"/>
          </a:xfrm>
          <a:prstGeom prst="rect">
            <a:avLst/>
          </a:prstGeom>
          <a:solidFill>
            <a:srgbClr val="ffffff"/>
          </a:solidFill>
          <a:ln w="12700">
            <a:solidFill>
              <a:srgbClr val="ef4444"/>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fr-FR" sz="1800" strike="noStrike" u="none">
              <a:solidFill>
                <a:srgbClr val="000000"/>
              </a:solidFill>
              <a:uFillTx/>
              <a:latin typeface="Arial"/>
            </a:endParaRPr>
          </a:p>
        </p:txBody>
      </p:sp>
      <p:sp>
        <p:nvSpPr>
          <p:cNvPr id="124" name="Text 7"/>
          <p:cNvSpPr/>
          <p:nvPr/>
        </p:nvSpPr>
        <p:spPr>
          <a:xfrm>
            <a:off x="2560320" y="1371600"/>
            <a:ext cx="1828440" cy="868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850" strike="noStrike" u="none">
                <a:solidFill>
                  <a:srgbClr val="065a82"/>
                </a:solidFill>
                <a:uFillTx/>
                <a:latin typeface="Calibri"/>
              </a:rPr>
              <a:t>ZMPT101B</a:t>
            </a:r>
            <a:endParaRPr b="0" lang="fr-FR" sz="850" strike="noStrike" u="none">
              <a:solidFill>
                <a:srgbClr val="000000"/>
              </a:solidFill>
              <a:uFillTx/>
              <a:latin typeface="Arial"/>
            </a:endParaRPr>
          </a:p>
          <a:p>
            <a:pPr algn="ctr" defTabSz="914400">
              <a:lnSpc>
                <a:spcPct val="100000"/>
              </a:lnSpc>
              <a:tabLst>
                <a:tab algn="l" pos="0"/>
              </a:tabLst>
            </a:pPr>
            <a:r>
              <a:rPr b="0" lang="fr-FR" sz="850" strike="noStrike" u="none">
                <a:solidFill>
                  <a:srgbClr val="065a82"/>
                </a:solidFill>
                <a:uFillTx/>
                <a:latin typeface="Calibri"/>
              </a:rPr>
              <a:t>Mesure tension</a:t>
            </a:r>
            <a:endParaRPr b="0" lang="fr-FR" sz="850" strike="noStrike" u="none">
              <a:solidFill>
                <a:srgbClr val="000000"/>
              </a:solidFill>
              <a:uFillTx/>
              <a:latin typeface="Arial"/>
            </a:endParaRPr>
          </a:p>
          <a:p>
            <a:pPr algn="ctr" defTabSz="914400">
              <a:lnSpc>
                <a:spcPct val="100000"/>
              </a:lnSpc>
              <a:tabLst>
                <a:tab algn="l" pos="0"/>
              </a:tabLst>
            </a:pPr>
            <a:r>
              <a:rPr b="0" lang="fr-FR" sz="850" strike="noStrike" u="none">
                <a:solidFill>
                  <a:srgbClr val="065a82"/>
                </a:solidFill>
                <a:uFillTx/>
                <a:latin typeface="Calibri"/>
              </a:rPr>
              <a:t>$0.8</a:t>
            </a:r>
            <a:endParaRPr b="0" lang="fr-FR" sz="850" strike="noStrike" u="none">
              <a:solidFill>
                <a:srgbClr val="000000"/>
              </a:solidFill>
              <a:uFillTx/>
              <a:latin typeface="Arial"/>
            </a:endParaRPr>
          </a:p>
        </p:txBody>
      </p:sp>
      <p:sp>
        <p:nvSpPr>
          <p:cNvPr id="125" name="Shape 8"/>
          <p:cNvSpPr/>
          <p:nvPr/>
        </p:nvSpPr>
        <p:spPr>
          <a:xfrm>
            <a:off x="4663440" y="1371600"/>
            <a:ext cx="1828440" cy="868320"/>
          </a:xfrm>
          <a:prstGeom prst="rect">
            <a:avLst/>
          </a:prstGeom>
          <a:solidFill>
            <a:srgbClr val="ffffff"/>
          </a:solidFill>
          <a:ln w="12700">
            <a:solidFill>
              <a:srgbClr val="ef4444"/>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fr-FR" sz="1800" strike="noStrike" u="none">
              <a:solidFill>
                <a:srgbClr val="000000"/>
              </a:solidFill>
              <a:uFillTx/>
              <a:latin typeface="Arial"/>
            </a:endParaRPr>
          </a:p>
        </p:txBody>
      </p:sp>
      <p:sp>
        <p:nvSpPr>
          <p:cNvPr id="126" name="Text 9"/>
          <p:cNvSpPr/>
          <p:nvPr/>
        </p:nvSpPr>
        <p:spPr>
          <a:xfrm>
            <a:off x="4663440" y="1371600"/>
            <a:ext cx="1828440" cy="868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850" strike="noStrike" u="none">
                <a:solidFill>
                  <a:srgbClr val="065a82"/>
                </a:solidFill>
                <a:uFillTx/>
                <a:latin typeface="Calibri"/>
              </a:rPr>
              <a:t>Relais 8ch</a:t>
            </a:r>
            <a:endParaRPr b="0" lang="fr-FR" sz="850" strike="noStrike" u="none">
              <a:solidFill>
                <a:srgbClr val="000000"/>
              </a:solidFill>
              <a:uFillTx/>
              <a:latin typeface="Arial"/>
            </a:endParaRPr>
          </a:p>
          <a:p>
            <a:pPr algn="ctr" defTabSz="914400">
              <a:lnSpc>
                <a:spcPct val="100000"/>
              </a:lnSpc>
              <a:tabLst>
                <a:tab algn="l" pos="0"/>
              </a:tabLst>
            </a:pPr>
            <a:r>
              <a:rPr b="0" lang="fr-FR" sz="850" strike="noStrike" u="none">
                <a:solidFill>
                  <a:srgbClr val="065a82"/>
                </a:solidFill>
                <a:uFillTx/>
                <a:latin typeface="Calibri"/>
              </a:rPr>
              <a:t>Optocoupleur</a:t>
            </a:r>
            <a:endParaRPr b="0" lang="fr-FR" sz="850" strike="noStrike" u="none">
              <a:solidFill>
                <a:srgbClr val="000000"/>
              </a:solidFill>
              <a:uFillTx/>
              <a:latin typeface="Arial"/>
            </a:endParaRPr>
          </a:p>
          <a:p>
            <a:pPr algn="ctr" defTabSz="914400">
              <a:lnSpc>
                <a:spcPct val="100000"/>
              </a:lnSpc>
              <a:tabLst>
                <a:tab algn="l" pos="0"/>
              </a:tabLst>
            </a:pPr>
            <a:r>
              <a:rPr b="0" lang="fr-FR" sz="850" strike="noStrike" u="none">
                <a:solidFill>
                  <a:srgbClr val="065a82"/>
                </a:solidFill>
                <a:uFillTx/>
                <a:latin typeface="Calibri"/>
              </a:rPr>
              <a:t>$2.5</a:t>
            </a:r>
            <a:endParaRPr b="0" lang="fr-FR" sz="850" strike="noStrike" u="none">
              <a:solidFill>
                <a:srgbClr val="000000"/>
              </a:solidFill>
              <a:uFillTx/>
              <a:latin typeface="Arial"/>
            </a:endParaRPr>
          </a:p>
        </p:txBody>
      </p:sp>
      <p:sp>
        <p:nvSpPr>
          <p:cNvPr id="127" name="Shape 10"/>
          <p:cNvSpPr/>
          <p:nvPr/>
        </p:nvSpPr>
        <p:spPr>
          <a:xfrm>
            <a:off x="6766560" y="1371600"/>
            <a:ext cx="1828440" cy="868320"/>
          </a:xfrm>
          <a:prstGeom prst="rect">
            <a:avLst/>
          </a:prstGeom>
          <a:solidFill>
            <a:srgbClr val="ffffff"/>
          </a:solidFill>
          <a:ln w="12700">
            <a:solidFill>
              <a:srgbClr val="ef4444"/>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fr-FR" sz="1800" strike="noStrike" u="none">
              <a:solidFill>
                <a:srgbClr val="000000"/>
              </a:solidFill>
              <a:uFillTx/>
              <a:latin typeface="Arial"/>
            </a:endParaRPr>
          </a:p>
        </p:txBody>
      </p:sp>
      <p:sp>
        <p:nvSpPr>
          <p:cNvPr id="128" name="Text 11"/>
          <p:cNvSpPr/>
          <p:nvPr/>
        </p:nvSpPr>
        <p:spPr>
          <a:xfrm>
            <a:off x="6766560" y="1371600"/>
            <a:ext cx="1828440" cy="868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850" strike="noStrike" u="none">
                <a:solidFill>
                  <a:srgbClr val="065a82"/>
                </a:solidFill>
                <a:uFillTx/>
                <a:latin typeface="Calibri"/>
              </a:rPr>
              <a:t>Bornes sorties</a:t>
            </a:r>
            <a:endParaRPr b="0" lang="fr-FR" sz="850" strike="noStrike" u="none">
              <a:solidFill>
                <a:srgbClr val="000000"/>
              </a:solidFill>
              <a:uFillTx/>
              <a:latin typeface="Arial"/>
            </a:endParaRPr>
          </a:p>
          <a:p>
            <a:pPr algn="ctr" defTabSz="914400">
              <a:lnSpc>
                <a:spcPct val="100000"/>
              </a:lnSpc>
              <a:tabLst>
                <a:tab algn="l" pos="0"/>
              </a:tabLst>
            </a:pPr>
            <a:r>
              <a:rPr b="0" lang="fr-FR" sz="850" strike="noStrike" u="none">
                <a:solidFill>
                  <a:srgbClr val="065a82"/>
                </a:solidFill>
                <a:uFillTx/>
                <a:latin typeface="Calibri"/>
              </a:rPr>
              <a:t>À vis étiquetées</a:t>
            </a:r>
            <a:endParaRPr b="0" lang="fr-FR" sz="850" strike="noStrike" u="none">
              <a:solidFill>
                <a:srgbClr val="000000"/>
              </a:solidFill>
              <a:uFillTx/>
              <a:latin typeface="Arial"/>
            </a:endParaRPr>
          </a:p>
          <a:p>
            <a:pPr algn="ctr" defTabSz="914400">
              <a:lnSpc>
                <a:spcPct val="100000"/>
              </a:lnSpc>
              <a:tabLst>
                <a:tab algn="l" pos="0"/>
              </a:tabLst>
            </a:pPr>
            <a:r>
              <a:rPr b="0" lang="fr-FR" sz="850" strike="noStrike" u="none">
                <a:solidFill>
                  <a:srgbClr val="065a82"/>
                </a:solidFill>
                <a:uFillTx/>
                <a:latin typeface="Calibri"/>
              </a:rPr>
              <a:t>$1.5</a:t>
            </a:r>
            <a:endParaRPr b="0" lang="fr-FR" sz="850" strike="noStrike" u="none">
              <a:solidFill>
                <a:srgbClr val="000000"/>
              </a:solidFill>
              <a:uFillTx/>
              <a:latin typeface="Arial"/>
            </a:endParaRPr>
          </a:p>
        </p:txBody>
      </p:sp>
      <p:sp>
        <p:nvSpPr>
          <p:cNvPr id="129" name="Shape 12"/>
          <p:cNvSpPr/>
          <p:nvPr/>
        </p:nvSpPr>
        <p:spPr>
          <a:xfrm>
            <a:off x="274320" y="2423160"/>
            <a:ext cx="8595000" cy="200880"/>
          </a:xfrm>
          <a:prstGeom prst="rect">
            <a:avLst/>
          </a:prstGeom>
          <a:solidFill>
            <a:srgbClr val="10b981"/>
          </a:solidFill>
          <a:ln w="12700">
            <a:solidFill>
              <a:srgbClr val="10b981"/>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130" name="Text 13"/>
          <p:cNvSpPr/>
          <p:nvPr/>
        </p:nvSpPr>
        <p:spPr>
          <a:xfrm>
            <a:off x="274320" y="2423160"/>
            <a:ext cx="8595000" cy="200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750" strike="noStrike" u="none">
                <a:solidFill>
                  <a:srgbClr val="ffffff"/>
                </a:solidFill>
                <a:uFillTx/>
                <a:latin typeface="Calibri"/>
              </a:rPr>
              <a:t>━━━ </a:t>
            </a:r>
            <a:r>
              <a:rPr b="1" lang="fr-FR" sz="750" strike="noStrike" u="none">
                <a:solidFill>
                  <a:srgbClr val="ffffff"/>
                </a:solidFill>
                <a:uFillTx/>
                <a:latin typeface="Calibri"/>
              </a:rPr>
              <a:t>CLOISON ISOLANTE PLASTIQUE ━━━━━━━━━━━━━━━━━━━━━━━━━━━━━━━━━━━━━━━━━━━━━━━━</a:t>
            </a:r>
            <a:endParaRPr b="0" lang="fr-FR" sz="750" strike="noStrike" u="none">
              <a:solidFill>
                <a:srgbClr val="000000"/>
              </a:solidFill>
              <a:uFillTx/>
              <a:latin typeface="Arial"/>
            </a:endParaRPr>
          </a:p>
        </p:txBody>
      </p:sp>
      <p:sp>
        <p:nvSpPr>
          <p:cNvPr id="131" name="Shape 14"/>
          <p:cNvSpPr/>
          <p:nvPr/>
        </p:nvSpPr>
        <p:spPr>
          <a:xfrm>
            <a:off x="274320" y="2651760"/>
            <a:ext cx="8595000" cy="2194200"/>
          </a:xfrm>
          <a:prstGeom prst="rect">
            <a:avLst/>
          </a:prstGeom>
          <a:solidFill>
            <a:srgbClr val="f0f9ff"/>
          </a:solidFill>
          <a:ln w="12700">
            <a:solidFill>
              <a:srgbClr val="1c7293"/>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uFillTx/>
              <a:latin typeface="Arial"/>
            </a:endParaRPr>
          </a:p>
        </p:txBody>
      </p:sp>
      <p:sp>
        <p:nvSpPr>
          <p:cNvPr id="132" name="Text 15"/>
          <p:cNvSpPr/>
          <p:nvPr/>
        </p:nvSpPr>
        <p:spPr>
          <a:xfrm>
            <a:off x="457200" y="2697480"/>
            <a:ext cx="3657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900" strike="noStrike" u="none">
                <a:solidFill>
                  <a:srgbClr val="1c7293"/>
                </a:solidFill>
                <a:uFillTx/>
                <a:latin typeface="Calibri"/>
              </a:rPr>
              <a:t>🔵 </a:t>
            </a:r>
            <a:r>
              <a:rPr b="1" lang="fr-FR" sz="900" strike="noStrike" u="none">
                <a:solidFill>
                  <a:srgbClr val="1c7293"/>
                </a:solidFill>
                <a:uFillTx/>
                <a:latin typeface="Calibri"/>
              </a:rPr>
              <a:t>ZONE 5V — Basse tension</a:t>
            </a:r>
            <a:endParaRPr b="0" lang="fr-FR" sz="900" strike="noStrike" u="none">
              <a:solidFill>
                <a:srgbClr val="000000"/>
              </a:solidFill>
              <a:uFillTx/>
              <a:latin typeface="Arial"/>
            </a:endParaRPr>
          </a:p>
        </p:txBody>
      </p:sp>
      <p:sp>
        <p:nvSpPr>
          <p:cNvPr id="133" name="Shape 16"/>
          <p:cNvSpPr/>
          <p:nvPr/>
        </p:nvSpPr>
        <p:spPr>
          <a:xfrm>
            <a:off x="457200" y="3017520"/>
            <a:ext cx="1828440" cy="868320"/>
          </a:xfrm>
          <a:prstGeom prst="rect">
            <a:avLst/>
          </a:prstGeom>
          <a:solidFill>
            <a:srgbClr val="ffffff"/>
          </a:solidFill>
          <a:ln w="12700">
            <a:solidFill>
              <a:srgbClr val="1c7293"/>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fr-FR" sz="1800" strike="noStrike" u="none">
              <a:solidFill>
                <a:srgbClr val="000000"/>
              </a:solidFill>
              <a:uFillTx/>
              <a:latin typeface="Arial"/>
            </a:endParaRPr>
          </a:p>
        </p:txBody>
      </p:sp>
      <p:sp>
        <p:nvSpPr>
          <p:cNvPr id="134" name="Text 17"/>
          <p:cNvSpPr/>
          <p:nvPr/>
        </p:nvSpPr>
        <p:spPr>
          <a:xfrm>
            <a:off x="457200" y="3017520"/>
            <a:ext cx="1828440" cy="868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850" strike="noStrike" u="none">
                <a:solidFill>
                  <a:srgbClr val="065a82"/>
                </a:solidFill>
                <a:uFillTx/>
                <a:latin typeface="Calibri"/>
              </a:rPr>
              <a:t>ESP32 DevKit</a:t>
            </a:r>
            <a:endParaRPr b="0" lang="fr-FR" sz="850" strike="noStrike" u="none">
              <a:solidFill>
                <a:srgbClr val="000000"/>
              </a:solidFill>
              <a:uFillTx/>
              <a:latin typeface="Arial"/>
            </a:endParaRPr>
          </a:p>
          <a:p>
            <a:pPr algn="ctr" defTabSz="914400">
              <a:lnSpc>
                <a:spcPct val="100000"/>
              </a:lnSpc>
              <a:tabLst>
                <a:tab algn="l" pos="0"/>
              </a:tabLst>
            </a:pPr>
            <a:r>
              <a:rPr b="0" lang="fr-FR" sz="850" strike="noStrike" u="none">
                <a:solidFill>
                  <a:srgbClr val="065a82"/>
                </a:solidFill>
                <a:uFillTx/>
                <a:latin typeface="Calibri"/>
              </a:rPr>
              <a:t>Dual Core Wi-Fi</a:t>
            </a:r>
            <a:endParaRPr b="0" lang="fr-FR" sz="850" strike="noStrike" u="none">
              <a:solidFill>
                <a:srgbClr val="000000"/>
              </a:solidFill>
              <a:uFillTx/>
              <a:latin typeface="Arial"/>
            </a:endParaRPr>
          </a:p>
          <a:p>
            <a:pPr algn="ctr" defTabSz="914400">
              <a:lnSpc>
                <a:spcPct val="100000"/>
              </a:lnSpc>
              <a:tabLst>
                <a:tab algn="l" pos="0"/>
              </a:tabLst>
            </a:pPr>
            <a:r>
              <a:rPr b="0" lang="fr-FR" sz="850" strike="noStrike" u="none">
                <a:solidFill>
                  <a:srgbClr val="065a82"/>
                </a:solidFill>
                <a:uFillTx/>
                <a:latin typeface="Calibri"/>
              </a:rPr>
              <a:t>$4</a:t>
            </a:r>
            <a:endParaRPr b="0" lang="fr-FR" sz="850" strike="noStrike" u="none">
              <a:solidFill>
                <a:srgbClr val="000000"/>
              </a:solidFill>
              <a:uFillTx/>
              <a:latin typeface="Arial"/>
            </a:endParaRPr>
          </a:p>
        </p:txBody>
      </p:sp>
      <p:sp>
        <p:nvSpPr>
          <p:cNvPr id="135" name="Shape 18"/>
          <p:cNvSpPr/>
          <p:nvPr/>
        </p:nvSpPr>
        <p:spPr>
          <a:xfrm>
            <a:off x="2560320" y="3017520"/>
            <a:ext cx="1828440" cy="868320"/>
          </a:xfrm>
          <a:prstGeom prst="rect">
            <a:avLst/>
          </a:prstGeom>
          <a:solidFill>
            <a:srgbClr val="ffffff"/>
          </a:solidFill>
          <a:ln w="12700">
            <a:solidFill>
              <a:srgbClr val="1c7293"/>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fr-FR" sz="1800" strike="noStrike" u="none">
              <a:solidFill>
                <a:srgbClr val="000000"/>
              </a:solidFill>
              <a:uFillTx/>
              <a:latin typeface="Arial"/>
            </a:endParaRPr>
          </a:p>
        </p:txBody>
      </p:sp>
      <p:sp>
        <p:nvSpPr>
          <p:cNvPr id="136" name="Text 19"/>
          <p:cNvSpPr/>
          <p:nvPr/>
        </p:nvSpPr>
        <p:spPr>
          <a:xfrm>
            <a:off x="2560320" y="3017520"/>
            <a:ext cx="1828440" cy="868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850" strike="noStrike" u="none">
                <a:solidFill>
                  <a:srgbClr val="065a82"/>
                </a:solidFill>
                <a:uFillTx/>
                <a:latin typeface="Calibri"/>
              </a:rPr>
              <a:t>ACS712 ×8</a:t>
            </a:r>
            <a:endParaRPr b="0" lang="fr-FR" sz="850" strike="noStrike" u="none">
              <a:solidFill>
                <a:srgbClr val="000000"/>
              </a:solidFill>
              <a:uFillTx/>
              <a:latin typeface="Arial"/>
            </a:endParaRPr>
          </a:p>
          <a:p>
            <a:pPr algn="ctr" defTabSz="914400">
              <a:lnSpc>
                <a:spcPct val="100000"/>
              </a:lnSpc>
              <a:tabLst>
                <a:tab algn="l" pos="0"/>
              </a:tabLst>
            </a:pPr>
            <a:r>
              <a:rPr b="0" lang="fr-FR" sz="850" strike="noStrike" u="none">
                <a:solidFill>
                  <a:srgbClr val="065a82"/>
                </a:solidFill>
                <a:uFillTx/>
                <a:latin typeface="Calibri"/>
              </a:rPr>
              <a:t>Mesure courant</a:t>
            </a:r>
            <a:endParaRPr b="0" lang="fr-FR" sz="850" strike="noStrike" u="none">
              <a:solidFill>
                <a:srgbClr val="000000"/>
              </a:solidFill>
              <a:uFillTx/>
              <a:latin typeface="Arial"/>
            </a:endParaRPr>
          </a:p>
          <a:p>
            <a:pPr algn="ctr" defTabSz="914400">
              <a:lnSpc>
                <a:spcPct val="100000"/>
              </a:lnSpc>
              <a:tabLst>
                <a:tab algn="l" pos="0"/>
              </a:tabLst>
            </a:pPr>
            <a:r>
              <a:rPr b="0" lang="fr-FR" sz="850" strike="noStrike" u="none">
                <a:solidFill>
                  <a:srgbClr val="065a82"/>
                </a:solidFill>
                <a:uFillTx/>
                <a:latin typeface="Calibri"/>
              </a:rPr>
              <a:t>$6.4</a:t>
            </a:r>
            <a:endParaRPr b="0" lang="fr-FR" sz="850" strike="noStrike" u="none">
              <a:solidFill>
                <a:srgbClr val="000000"/>
              </a:solidFill>
              <a:uFillTx/>
              <a:latin typeface="Arial"/>
            </a:endParaRPr>
          </a:p>
        </p:txBody>
      </p:sp>
      <p:sp>
        <p:nvSpPr>
          <p:cNvPr id="137" name="Shape 20"/>
          <p:cNvSpPr/>
          <p:nvPr/>
        </p:nvSpPr>
        <p:spPr>
          <a:xfrm>
            <a:off x="4663440" y="3017520"/>
            <a:ext cx="1828440" cy="868320"/>
          </a:xfrm>
          <a:prstGeom prst="rect">
            <a:avLst/>
          </a:prstGeom>
          <a:solidFill>
            <a:srgbClr val="ffffff"/>
          </a:solidFill>
          <a:ln w="12700">
            <a:solidFill>
              <a:srgbClr val="1c7293"/>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fr-FR" sz="1800" strike="noStrike" u="none">
              <a:solidFill>
                <a:srgbClr val="000000"/>
              </a:solidFill>
              <a:uFillTx/>
              <a:latin typeface="Arial"/>
            </a:endParaRPr>
          </a:p>
        </p:txBody>
      </p:sp>
      <p:sp>
        <p:nvSpPr>
          <p:cNvPr id="138" name="Text 21"/>
          <p:cNvSpPr/>
          <p:nvPr/>
        </p:nvSpPr>
        <p:spPr>
          <a:xfrm>
            <a:off x="4663440" y="3017520"/>
            <a:ext cx="1828440" cy="868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850" strike="noStrike" u="none">
                <a:solidFill>
                  <a:srgbClr val="065a82"/>
                </a:solidFill>
                <a:uFillTx/>
                <a:latin typeface="Calibri"/>
              </a:rPr>
              <a:t>TP4056</a:t>
            </a:r>
            <a:endParaRPr b="0" lang="fr-FR" sz="850" strike="noStrike" u="none">
              <a:solidFill>
                <a:srgbClr val="000000"/>
              </a:solidFill>
              <a:uFillTx/>
              <a:latin typeface="Arial"/>
            </a:endParaRPr>
          </a:p>
          <a:p>
            <a:pPr algn="ctr" defTabSz="914400">
              <a:lnSpc>
                <a:spcPct val="100000"/>
              </a:lnSpc>
              <a:tabLst>
                <a:tab algn="l" pos="0"/>
              </a:tabLst>
            </a:pPr>
            <a:r>
              <a:rPr b="0" lang="fr-FR" sz="850" strike="noStrike" u="none">
                <a:solidFill>
                  <a:srgbClr val="065a82"/>
                </a:solidFill>
                <a:uFillTx/>
                <a:latin typeface="Calibri"/>
              </a:rPr>
              <a:t>Charge LiPo</a:t>
            </a:r>
            <a:endParaRPr b="0" lang="fr-FR" sz="850" strike="noStrike" u="none">
              <a:solidFill>
                <a:srgbClr val="000000"/>
              </a:solidFill>
              <a:uFillTx/>
              <a:latin typeface="Arial"/>
            </a:endParaRPr>
          </a:p>
          <a:p>
            <a:pPr algn="ctr" defTabSz="914400">
              <a:lnSpc>
                <a:spcPct val="100000"/>
              </a:lnSpc>
              <a:tabLst>
                <a:tab algn="l" pos="0"/>
              </a:tabLst>
            </a:pPr>
            <a:r>
              <a:rPr b="0" lang="fr-FR" sz="850" strike="noStrike" u="none">
                <a:solidFill>
                  <a:srgbClr val="065a82"/>
                </a:solidFill>
                <a:uFillTx/>
                <a:latin typeface="Calibri"/>
              </a:rPr>
              <a:t>$0.5</a:t>
            </a:r>
            <a:endParaRPr b="0" lang="fr-FR" sz="850" strike="noStrike" u="none">
              <a:solidFill>
                <a:srgbClr val="000000"/>
              </a:solidFill>
              <a:uFillTx/>
              <a:latin typeface="Arial"/>
            </a:endParaRPr>
          </a:p>
        </p:txBody>
      </p:sp>
      <p:sp>
        <p:nvSpPr>
          <p:cNvPr id="139" name="Shape 22"/>
          <p:cNvSpPr/>
          <p:nvPr/>
        </p:nvSpPr>
        <p:spPr>
          <a:xfrm>
            <a:off x="6766560" y="3017520"/>
            <a:ext cx="1828440" cy="868320"/>
          </a:xfrm>
          <a:prstGeom prst="rect">
            <a:avLst/>
          </a:prstGeom>
          <a:solidFill>
            <a:srgbClr val="ffffff"/>
          </a:solidFill>
          <a:ln w="12700">
            <a:solidFill>
              <a:srgbClr val="1c7293"/>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fr-FR" sz="1800" strike="noStrike" u="none">
              <a:solidFill>
                <a:srgbClr val="000000"/>
              </a:solidFill>
              <a:uFillTx/>
              <a:latin typeface="Arial"/>
            </a:endParaRPr>
          </a:p>
        </p:txBody>
      </p:sp>
      <p:sp>
        <p:nvSpPr>
          <p:cNvPr id="140" name="Text 23"/>
          <p:cNvSpPr/>
          <p:nvPr/>
        </p:nvSpPr>
        <p:spPr>
          <a:xfrm>
            <a:off x="6766560" y="3017520"/>
            <a:ext cx="1828440" cy="868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850" strike="noStrike" u="none">
                <a:solidFill>
                  <a:srgbClr val="065a82"/>
                </a:solidFill>
                <a:uFillTx/>
                <a:latin typeface="Calibri"/>
              </a:rPr>
              <a:t>LiPo 2000mAh</a:t>
            </a:r>
            <a:endParaRPr b="0" lang="fr-FR" sz="850" strike="noStrike" u="none">
              <a:solidFill>
                <a:srgbClr val="000000"/>
              </a:solidFill>
              <a:uFillTx/>
              <a:latin typeface="Arial"/>
            </a:endParaRPr>
          </a:p>
          <a:p>
            <a:pPr algn="ctr" defTabSz="914400">
              <a:lnSpc>
                <a:spcPct val="100000"/>
              </a:lnSpc>
              <a:tabLst>
                <a:tab algn="l" pos="0"/>
              </a:tabLst>
            </a:pPr>
            <a:r>
              <a:rPr b="0" lang="fr-FR" sz="850" strike="noStrike" u="none">
                <a:solidFill>
                  <a:srgbClr val="065a82"/>
                </a:solidFill>
                <a:uFillTx/>
                <a:latin typeface="Calibri"/>
              </a:rPr>
              <a:t>Alimentation cont.</a:t>
            </a:r>
            <a:endParaRPr b="0" lang="fr-FR" sz="850" strike="noStrike" u="none">
              <a:solidFill>
                <a:srgbClr val="000000"/>
              </a:solidFill>
              <a:uFillTx/>
              <a:latin typeface="Arial"/>
            </a:endParaRPr>
          </a:p>
          <a:p>
            <a:pPr algn="ctr" defTabSz="914400">
              <a:lnSpc>
                <a:spcPct val="100000"/>
              </a:lnSpc>
              <a:tabLst>
                <a:tab algn="l" pos="0"/>
              </a:tabLst>
            </a:pPr>
            <a:r>
              <a:rPr b="0" lang="fr-FR" sz="850" strike="noStrike" u="none">
                <a:solidFill>
                  <a:srgbClr val="065a82"/>
                </a:solidFill>
                <a:uFillTx/>
                <a:latin typeface="Calibri"/>
              </a:rPr>
              <a:t>$2.5</a:t>
            </a:r>
            <a:endParaRPr b="0" lang="fr-FR" sz="850" strike="noStrike" u="none">
              <a:solidFill>
                <a:srgbClr val="000000"/>
              </a:solidFill>
              <a:uFillTx/>
              <a:latin typeface="Arial"/>
            </a:endParaRPr>
          </a:p>
        </p:txBody>
      </p:sp>
      <p:sp>
        <p:nvSpPr>
          <p:cNvPr id="141" name="Text 24"/>
          <p:cNvSpPr/>
          <p:nvPr/>
        </p:nvSpPr>
        <p:spPr>
          <a:xfrm>
            <a:off x="457200" y="397764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fr-FR" sz="850" strike="noStrike" u="none">
                <a:solidFill>
                  <a:srgbClr val="64748b"/>
                </a:solidFill>
                <a:uFillTx/>
                <a:latin typeface="Calibri"/>
              </a:rPr>
              <a:t>Seuls les fils signal GPIO 3.3V traversent la cloison — isolation galvanique garantie</a:t>
            </a:r>
            <a:endParaRPr b="0" lang="fr-FR" sz="85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ff6ff"/>
        </a:solidFill>
      </p:bgPr>
    </p:bg>
    <p:spTree>
      <p:nvGrpSpPr>
        <p:cNvPr id="1" name=""/>
        <p:cNvGrpSpPr/>
        <p:nvPr/>
      </p:nvGrpSpPr>
      <p:grpSpPr>
        <a:xfrm>
          <a:off x="0" y="0"/>
          <a:ext cx="0" cy="0"/>
          <a:chOff x="0" y="0"/>
          <a:chExt cx="0" cy="0"/>
        </a:xfrm>
      </p:grpSpPr>
      <p:sp>
        <p:nvSpPr>
          <p:cNvPr id="142" name="Shape 0"/>
          <p:cNvSpPr/>
          <p:nvPr/>
        </p:nvSpPr>
        <p:spPr>
          <a:xfrm>
            <a:off x="0" y="0"/>
            <a:ext cx="9143640" cy="914040"/>
          </a:xfrm>
          <a:prstGeom prst="rect">
            <a:avLst/>
          </a:prstGeom>
          <a:solidFill>
            <a:srgbClr val="065a82"/>
          </a:solidFill>
          <a:ln w="12700">
            <a:solidFill>
              <a:srgbClr val="065a82"/>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143" name="Text 1"/>
          <p:cNvSpPr/>
          <p:nvPr/>
        </p:nvSpPr>
        <p:spPr>
          <a:xfrm>
            <a:off x="457200" y="0"/>
            <a:ext cx="8229240" cy="914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1800" spc="201" strike="noStrike" u="none">
                <a:solidFill>
                  <a:srgbClr val="00b4d8"/>
                </a:solidFill>
                <a:uFillTx/>
                <a:latin typeface="Calibri"/>
              </a:rPr>
              <a:t>03  </a:t>
            </a:r>
            <a:r>
              <a:rPr b="1" lang="fr-FR" sz="1800" spc="201" strike="noStrike" u="none">
                <a:solidFill>
                  <a:srgbClr val="ffffff"/>
                </a:solidFill>
                <a:uFillTx/>
                <a:latin typeface="Calibri"/>
              </a:rPr>
              <a:t>MÉTHODOLOGIE — Composants et budget</a:t>
            </a:r>
            <a:endParaRPr b="0" lang="fr-FR" sz="1800" strike="noStrike" u="none">
              <a:solidFill>
                <a:srgbClr val="000000"/>
              </a:solidFill>
              <a:uFillTx/>
              <a:latin typeface="Arial"/>
            </a:endParaRPr>
          </a:p>
        </p:txBody>
      </p:sp>
      <p:graphicFrame>
        <p:nvGraphicFramePr>
          <p:cNvPr id="144" name="Table 0"/>
          <p:cNvGraphicFramePr/>
          <p:nvPr/>
        </p:nvGraphicFramePr>
        <p:xfrm>
          <a:off x="274320" y="1005840"/>
          <a:ext cx="7680600" cy="2996640"/>
        </p:xfrm>
        <a:graphic>
          <a:graphicData uri="http://schemas.openxmlformats.org/drawingml/2006/table">
            <a:tbl>
              <a:tblPr/>
              <a:tblGrid>
                <a:gridCol w="2926080"/>
                <a:gridCol w="2560320"/>
                <a:gridCol w="548640"/>
                <a:gridCol w="914400"/>
                <a:gridCol w="731520"/>
              </a:tblGrid>
              <a:tr h="0">
                <a:tc>
                  <a:txBody>
                    <a:bodyPr anchor="t">
                      <a:noAutofit/>
                    </a:bodyPr>
                    <a:p>
                      <a:pPr algn="ctr" defTabSz="914400">
                        <a:lnSpc>
                          <a:spcPct val="100000"/>
                        </a:lnSpc>
                        <a:tabLst>
                          <a:tab algn="l" pos="0"/>
                        </a:tabLst>
                      </a:pPr>
                      <a:r>
                        <a:rPr b="1" lang="fr-FR" sz="1000" strike="noStrike" u="none">
                          <a:solidFill>
                            <a:srgbClr val="ffffff"/>
                          </a:solidFill>
                          <a:uFillTx/>
                          <a:latin typeface="Calibri"/>
                        </a:rPr>
                        <a:t>Composant</a:t>
                      </a:r>
                      <a:endParaRPr b="0" lang="fr-FR" sz="1000" strike="noStrike" u="none">
                        <a:solidFill>
                          <a:srgbClr val="ffffff"/>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065a82"/>
                    </a:solidFill>
                  </a:tcPr>
                </a:tc>
                <a:tc>
                  <a:txBody>
                    <a:bodyPr anchor="t">
                      <a:noAutofit/>
                    </a:bodyPr>
                    <a:p>
                      <a:pPr algn="ctr" defTabSz="914400">
                        <a:lnSpc>
                          <a:spcPct val="100000"/>
                        </a:lnSpc>
                        <a:tabLst>
                          <a:tab algn="l" pos="0"/>
                        </a:tabLst>
                      </a:pPr>
                      <a:r>
                        <a:rPr b="1" lang="en-US" sz="1000" strike="noStrike" u="none">
                          <a:solidFill>
                            <a:srgbClr val="ffffff"/>
                          </a:solidFill>
                          <a:uFillTx/>
                          <a:latin typeface="Calibri"/>
                        </a:rPr>
                        <a:t>Rôle</a:t>
                      </a:r>
                      <a:endParaRPr b="0" lang="fr-FR" sz="1000" strike="noStrike" u="none">
                        <a:solidFill>
                          <a:srgbClr val="ffffff"/>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065a82"/>
                    </a:solidFill>
                  </a:tcPr>
                </a:tc>
                <a:tc>
                  <a:txBody>
                    <a:bodyPr anchor="t">
                      <a:noAutofit/>
                    </a:bodyPr>
                    <a:p>
                      <a:pPr algn="ctr" defTabSz="914400">
                        <a:lnSpc>
                          <a:spcPct val="100000"/>
                        </a:lnSpc>
                        <a:tabLst>
                          <a:tab algn="l" pos="0"/>
                        </a:tabLst>
                      </a:pPr>
                      <a:r>
                        <a:rPr b="1" lang="en-US" sz="1000" strike="noStrike" u="none">
                          <a:solidFill>
                            <a:srgbClr val="ffffff"/>
                          </a:solidFill>
                          <a:uFillTx/>
                          <a:latin typeface="Calibri"/>
                        </a:rPr>
                        <a:t>Qté</a:t>
                      </a:r>
                      <a:endParaRPr b="0" lang="fr-FR" sz="1000" strike="noStrike" u="none">
                        <a:solidFill>
                          <a:srgbClr val="ffffff"/>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065a82"/>
                    </a:solidFill>
                  </a:tcPr>
                </a:tc>
                <a:tc>
                  <a:txBody>
                    <a:bodyPr anchor="t">
                      <a:noAutofit/>
                    </a:bodyPr>
                    <a:p>
                      <a:pPr algn="ctr" defTabSz="914400">
                        <a:lnSpc>
                          <a:spcPct val="100000"/>
                        </a:lnSpc>
                        <a:tabLst>
                          <a:tab algn="l" pos="0"/>
                        </a:tabLst>
                      </a:pPr>
                      <a:r>
                        <a:rPr b="1" lang="en-US" sz="1000" strike="noStrike" u="none">
                          <a:solidFill>
                            <a:srgbClr val="ffffff"/>
                          </a:solidFill>
                          <a:uFillTx/>
                          <a:latin typeface="Calibri"/>
                        </a:rPr>
                        <a:t>Prix unit.</a:t>
                      </a:r>
                      <a:endParaRPr b="0" lang="fr-FR" sz="1000" strike="noStrike" u="none">
                        <a:solidFill>
                          <a:srgbClr val="ffffff"/>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065a82"/>
                    </a:solidFill>
                  </a:tcPr>
                </a:tc>
                <a:tc>
                  <a:txBody>
                    <a:bodyPr anchor="t">
                      <a:noAutofit/>
                    </a:bodyPr>
                    <a:p>
                      <a:pPr algn="ctr" defTabSz="914400">
                        <a:lnSpc>
                          <a:spcPct val="100000"/>
                        </a:lnSpc>
                        <a:tabLst>
                          <a:tab algn="l" pos="0"/>
                        </a:tabLst>
                      </a:pPr>
                      <a:r>
                        <a:rPr b="1" lang="en-US" sz="1000" strike="noStrike" u="none">
                          <a:solidFill>
                            <a:srgbClr val="ffffff"/>
                          </a:solidFill>
                          <a:uFillTx/>
                          <a:latin typeface="Calibri"/>
                        </a:rPr>
                        <a:t>Total</a:t>
                      </a:r>
                      <a:endParaRPr b="0" lang="fr-FR" sz="1000" strike="noStrike" u="none">
                        <a:solidFill>
                          <a:srgbClr val="ffffff"/>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065a82"/>
                    </a:solidFill>
                  </a:tcPr>
                </a:tc>
              </a:tr>
              <a:tr h="0">
                <a:tc>
                  <a:txBody>
                    <a:bodyPr anchor="t">
                      <a:noAutofit/>
                    </a:bodyPr>
                    <a:p>
                      <a:pPr defTabSz="914400">
                        <a:lnSpc>
                          <a:spcPct val="100000"/>
                        </a:lnSpc>
                        <a:tabLst>
                          <a:tab algn="l" pos="0"/>
                        </a:tabLst>
                      </a:pPr>
                      <a:r>
                        <a:rPr b="0" lang="en-US" sz="900" strike="noStrike" u="none">
                          <a:solidFill>
                            <a:srgbClr val="065a82"/>
                          </a:solidFill>
                          <a:uFillTx/>
                          <a:latin typeface="Calibri"/>
                        </a:rPr>
                        <a:t>ESP32 DevKit V1</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defTabSz="914400">
                        <a:lnSpc>
                          <a:spcPct val="100000"/>
                        </a:lnSpc>
                        <a:tabLst>
                          <a:tab algn="l" pos="0"/>
                        </a:tabLst>
                      </a:pPr>
                      <a:r>
                        <a:rPr b="0" lang="en-US" sz="900" strike="noStrike" u="none">
                          <a:solidFill>
                            <a:srgbClr val="065a82"/>
                          </a:solidFill>
                          <a:uFillTx/>
                          <a:latin typeface="Calibri"/>
                        </a:rPr>
                        <a:t>Centrale Wi-Fi + logique</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algn="ctr" defTabSz="914400">
                        <a:lnSpc>
                          <a:spcPct val="100000"/>
                        </a:lnSpc>
                        <a:tabLst>
                          <a:tab algn="l" pos="0"/>
                        </a:tabLst>
                      </a:pPr>
                      <a:r>
                        <a:rPr b="0" lang="en-US" sz="900" strike="noStrike" u="none">
                          <a:solidFill>
                            <a:srgbClr val="065a82"/>
                          </a:solidFill>
                          <a:uFillTx/>
                          <a:latin typeface="Calibri"/>
                        </a:rPr>
                        <a:t>1</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algn="ctr" defTabSz="914400">
                        <a:lnSpc>
                          <a:spcPct val="100000"/>
                        </a:lnSpc>
                        <a:tabLst>
                          <a:tab algn="l" pos="0"/>
                        </a:tabLst>
                      </a:pPr>
                      <a:r>
                        <a:rPr b="0" lang="en-US" sz="900" strike="noStrike" u="none">
                          <a:solidFill>
                            <a:srgbClr val="065a82"/>
                          </a:solidFill>
                          <a:uFillTx/>
                          <a:latin typeface="Calibri"/>
                        </a:rPr>
                        <a:t>$4.00</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algn="ctr" defTabSz="914400">
                        <a:lnSpc>
                          <a:spcPct val="100000"/>
                        </a:lnSpc>
                        <a:tabLst>
                          <a:tab algn="l" pos="0"/>
                        </a:tabLst>
                      </a:pPr>
                      <a:r>
                        <a:rPr b="1" lang="en-US" sz="900" strike="noStrike" u="none">
                          <a:solidFill>
                            <a:srgbClr val="065a82"/>
                          </a:solidFill>
                          <a:uFillTx/>
                          <a:latin typeface="Calibri"/>
                        </a:rPr>
                        <a:t>$4.00</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r>
              <a:tr h="0">
                <a:tc>
                  <a:txBody>
                    <a:bodyPr anchor="t">
                      <a:noAutofit/>
                    </a:bodyPr>
                    <a:p>
                      <a:pPr defTabSz="914400">
                        <a:lnSpc>
                          <a:spcPct val="100000"/>
                        </a:lnSpc>
                        <a:tabLst>
                          <a:tab algn="l" pos="0"/>
                        </a:tabLst>
                      </a:pPr>
                      <a:r>
                        <a:rPr b="0" lang="en-US" sz="900" strike="noStrike" u="none">
                          <a:solidFill>
                            <a:srgbClr val="065a82"/>
                          </a:solidFill>
                          <a:uFillTx/>
                          <a:latin typeface="Calibri"/>
                        </a:rPr>
                        <a:t>Relais 8 canaux optocoupleur</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c>
                  <a:txBody>
                    <a:bodyPr anchor="t">
                      <a:noAutofit/>
                    </a:bodyPr>
                    <a:p>
                      <a:pPr defTabSz="914400">
                        <a:lnSpc>
                          <a:spcPct val="100000"/>
                        </a:lnSpc>
                        <a:tabLst>
                          <a:tab algn="l" pos="0"/>
                        </a:tabLst>
                      </a:pPr>
                      <a:r>
                        <a:rPr b="0" lang="en-US" sz="900" strike="noStrike" u="none">
                          <a:solidFill>
                            <a:srgbClr val="065a82"/>
                          </a:solidFill>
                          <a:uFillTx/>
                          <a:latin typeface="Calibri"/>
                        </a:rPr>
                        <a:t>Coupure automatique</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c>
                  <a:txBody>
                    <a:bodyPr anchor="t">
                      <a:noAutofit/>
                    </a:bodyPr>
                    <a:p>
                      <a:pPr algn="ctr" defTabSz="914400">
                        <a:lnSpc>
                          <a:spcPct val="100000"/>
                        </a:lnSpc>
                        <a:tabLst>
                          <a:tab algn="l" pos="0"/>
                        </a:tabLst>
                      </a:pPr>
                      <a:r>
                        <a:rPr b="0" lang="en-US" sz="900" strike="noStrike" u="none">
                          <a:solidFill>
                            <a:srgbClr val="065a82"/>
                          </a:solidFill>
                          <a:uFillTx/>
                          <a:latin typeface="Calibri"/>
                        </a:rPr>
                        <a:t>1</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c>
                  <a:txBody>
                    <a:bodyPr anchor="t">
                      <a:noAutofit/>
                    </a:bodyPr>
                    <a:p>
                      <a:pPr algn="ctr" defTabSz="914400">
                        <a:lnSpc>
                          <a:spcPct val="100000"/>
                        </a:lnSpc>
                        <a:tabLst>
                          <a:tab algn="l" pos="0"/>
                        </a:tabLst>
                      </a:pPr>
                      <a:r>
                        <a:rPr b="0" lang="en-US" sz="900" strike="noStrike" u="none">
                          <a:solidFill>
                            <a:srgbClr val="065a82"/>
                          </a:solidFill>
                          <a:uFillTx/>
                          <a:latin typeface="Calibri"/>
                        </a:rPr>
                        <a:t>$2.50</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c>
                  <a:txBody>
                    <a:bodyPr anchor="t">
                      <a:noAutofit/>
                    </a:bodyPr>
                    <a:p>
                      <a:pPr algn="ctr" defTabSz="914400">
                        <a:lnSpc>
                          <a:spcPct val="100000"/>
                        </a:lnSpc>
                        <a:tabLst>
                          <a:tab algn="l" pos="0"/>
                        </a:tabLst>
                      </a:pPr>
                      <a:r>
                        <a:rPr b="1" lang="en-US" sz="900" strike="noStrike" u="none">
                          <a:solidFill>
                            <a:srgbClr val="065a82"/>
                          </a:solidFill>
                          <a:uFillTx/>
                          <a:latin typeface="Calibri"/>
                        </a:rPr>
                        <a:t>$2.50</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r>
              <a:tr h="0">
                <a:tc>
                  <a:txBody>
                    <a:bodyPr anchor="t">
                      <a:noAutofit/>
                    </a:bodyPr>
                    <a:p>
                      <a:pPr defTabSz="914400">
                        <a:lnSpc>
                          <a:spcPct val="100000"/>
                        </a:lnSpc>
                        <a:tabLst>
                          <a:tab algn="l" pos="0"/>
                        </a:tabLst>
                      </a:pPr>
                      <a:r>
                        <a:rPr b="0" lang="en-US" sz="900" strike="noStrike" u="none">
                          <a:solidFill>
                            <a:srgbClr val="065a82"/>
                          </a:solidFill>
                          <a:uFillTx/>
                          <a:latin typeface="Calibri"/>
                        </a:rPr>
                        <a:t>ACS712 20A</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defTabSz="914400">
                        <a:lnSpc>
                          <a:spcPct val="100000"/>
                        </a:lnSpc>
                        <a:tabLst>
                          <a:tab algn="l" pos="0"/>
                        </a:tabLst>
                      </a:pPr>
                      <a:r>
                        <a:rPr b="0" lang="en-US" sz="900" strike="noStrike" u="none">
                          <a:solidFill>
                            <a:srgbClr val="065a82"/>
                          </a:solidFill>
                          <a:uFillTx/>
                          <a:latin typeface="Calibri"/>
                        </a:rPr>
                        <a:t>Mesure courant par locataire</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algn="ctr" defTabSz="914400">
                        <a:lnSpc>
                          <a:spcPct val="100000"/>
                        </a:lnSpc>
                        <a:tabLst>
                          <a:tab algn="l" pos="0"/>
                        </a:tabLst>
                      </a:pPr>
                      <a:r>
                        <a:rPr b="0" lang="en-US" sz="900" strike="noStrike" u="none">
                          <a:solidFill>
                            <a:srgbClr val="065a82"/>
                          </a:solidFill>
                          <a:uFillTx/>
                          <a:latin typeface="Calibri"/>
                        </a:rPr>
                        <a:t>8</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algn="ctr" defTabSz="914400">
                        <a:lnSpc>
                          <a:spcPct val="100000"/>
                        </a:lnSpc>
                        <a:tabLst>
                          <a:tab algn="l" pos="0"/>
                        </a:tabLst>
                      </a:pPr>
                      <a:r>
                        <a:rPr b="0" lang="en-US" sz="900" strike="noStrike" u="none">
                          <a:solidFill>
                            <a:srgbClr val="065a82"/>
                          </a:solidFill>
                          <a:uFillTx/>
                          <a:latin typeface="Calibri"/>
                        </a:rPr>
                        <a:t>$0.80</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algn="ctr" defTabSz="914400">
                        <a:lnSpc>
                          <a:spcPct val="100000"/>
                        </a:lnSpc>
                        <a:tabLst>
                          <a:tab algn="l" pos="0"/>
                        </a:tabLst>
                      </a:pPr>
                      <a:r>
                        <a:rPr b="1" lang="en-US" sz="900" strike="noStrike" u="none">
                          <a:solidFill>
                            <a:srgbClr val="065a82"/>
                          </a:solidFill>
                          <a:uFillTx/>
                          <a:latin typeface="Calibri"/>
                        </a:rPr>
                        <a:t>$6.40</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r>
              <a:tr h="0">
                <a:tc>
                  <a:txBody>
                    <a:bodyPr anchor="t">
                      <a:noAutofit/>
                    </a:bodyPr>
                    <a:p>
                      <a:pPr defTabSz="914400">
                        <a:lnSpc>
                          <a:spcPct val="100000"/>
                        </a:lnSpc>
                        <a:tabLst>
                          <a:tab algn="l" pos="0"/>
                        </a:tabLst>
                      </a:pPr>
                      <a:r>
                        <a:rPr b="0" lang="en-US" sz="900" strike="noStrike" u="none">
                          <a:solidFill>
                            <a:srgbClr val="065a82"/>
                          </a:solidFill>
                          <a:uFillTx/>
                          <a:latin typeface="Calibri"/>
                        </a:rPr>
                        <a:t>ZMPT101B</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c>
                  <a:txBody>
                    <a:bodyPr anchor="t">
                      <a:noAutofit/>
                    </a:bodyPr>
                    <a:p>
                      <a:pPr defTabSz="914400">
                        <a:lnSpc>
                          <a:spcPct val="100000"/>
                        </a:lnSpc>
                        <a:tabLst>
                          <a:tab algn="l" pos="0"/>
                        </a:tabLst>
                      </a:pPr>
                      <a:r>
                        <a:rPr b="0" lang="en-US" sz="900" strike="noStrike" u="none">
                          <a:solidFill>
                            <a:srgbClr val="065a82"/>
                          </a:solidFill>
                          <a:uFillTx/>
                          <a:latin typeface="Calibri"/>
                        </a:rPr>
                        <a:t>Mesure tension réseau réelle</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c>
                  <a:txBody>
                    <a:bodyPr anchor="t">
                      <a:noAutofit/>
                    </a:bodyPr>
                    <a:p>
                      <a:pPr algn="ctr" defTabSz="914400">
                        <a:lnSpc>
                          <a:spcPct val="100000"/>
                        </a:lnSpc>
                        <a:tabLst>
                          <a:tab algn="l" pos="0"/>
                        </a:tabLst>
                      </a:pPr>
                      <a:r>
                        <a:rPr b="0" lang="en-US" sz="900" strike="noStrike" u="none">
                          <a:solidFill>
                            <a:srgbClr val="065a82"/>
                          </a:solidFill>
                          <a:uFillTx/>
                          <a:latin typeface="Calibri"/>
                        </a:rPr>
                        <a:t>1</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c>
                  <a:txBody>
                    <a:bodyPr anchor="t">
                      <a:noAutofit/>
                    </a:bodyPr>
                    <a:p>
                      <a:pPr algn="ctr" defTabSz="914400">
                        <a:lnSpc>
                          <a:spcPct val="100000"/>
                        </a:lnSpc>
                        <a:tabLst>
                          <a:tab algn="l" pos="0"/>
                        </a:tabLst>
                      </a:pPr>
                      <a:r>
                        <a:rPr b="0" lang="en-US" sz="900" strike="noStrike" u="none">
                          <a:solidFill>
                            <a:srgbClr val="065a82"/>
                          </a:solidFill>
                          <a:uFillTx/>
                          <a:latin typeface="Calibri"/>
                        </a:rPr>
                        <a:t>$0.80</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c>
                  <a:txBody>
                    <a:bodyPr anchor="t">
                      <a:noAutofit/>
                    </a:bodyPr>
                    <a:p>
                      <a:pPr algn="ctr" defTabSz="914400">
                        <a:lnSpc>
                          <a:spcPct val="100000"/>
                        </a:lnSpc>
                        <a:tabLst>
                          <a:tab algn="l" pos="0"/>
                        </a:tabLst>
                      </a:pPr>
                      <a:r>
                        <a:rPr b="1" lang="en-US" sz="900" strike="noStrike" u="none">
                          <a:solidFill>
                            <a:srgbClr val="065a82"/>
                          </a:solidFill>
                          <a:uFillTx/>
                          <a:latin typeface="Calibri"/>
                        </a:rPr>
                        <a:t>$0.80</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r>
              <a:tr h="0">
                <a:tc>
                  <a:txBody>
                    <a:bodyPr anchor="t">
                      <a:noAutofit/>
                    </a:bodyPr>
                    <a:p>
                      <a:pPr defTabSz="914400">
                        <a:lnSpc>
                          <a:spcPct val="100000"/>
                        </a:lnSpc>
                        <a:tabLst>
                          <a:tab algn="l" pos="0"/>
                        </a:tabLst>
                      </a:pPr>
                      <a:r>
                        <a:rPr b="0" lang="en-US" sz="900" strike="noStrike" u="none">
                          <a:solidFill>
                            <a:srgbClr val="065a82"/>
                          </a:solidFill>
                          <a:uFillTx/>
                          <a:latin typeface="Calibri"/>
                        </a:rPr>
                        <a:t>HLK-PM01 220V→5V</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defTabSz="914400">
                        <a:lnSpc>
                          <a:spcPct val="100000"/>
                        </a:lnSpc>
                        <a:tabLst>
                          <a:tab algn="l" pos="0"/>
                        </a:tabLst>
                      </a:pPr>
                      <a:r>
                        <a:rPr b="0" lang="en-US" sz="900" strike="noStrike" u="none">
                          <a:solidFill>
                            <a:srgbClr val="065a82"/>
                          </a:solidFill>
                          <a:uFillTx/>
                          <a:latin typeface="Calibri"/>
                        </a:rPr>
                        <a:t>Alimentation isolée</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algn="ctr" defTabSz="914400">
                        <a:lnSpc>
                          <a:spcPct val="100000"/>
                        </a:lnSpc>
                        <a:tabLst>
                          <a:tab algn="l" pos="0"/>
                        </a:tabLst>
                      </a:pPr>
                      <a:r>
                        <a:rPr b="0" lang="en-US" sz="900" strike="noStrike" u="none">
                          <a:solidFill>
                            <a:srgbClr val="065a82"/>
                          </a:solidFill>
                          <a:uFillTx/>
                          <a:latin typeface="Calibri"/>
                        </a:rPr>
                        <a:t>1</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algn="ctr" defTabSz="914400">
                        <a:lnSpc>
                          <a:spcPct val="100000"/>
                        </a:lnSpc>
                        <a:tabLst>
                          <a:tab algn="l" pos="0"/>
                        </a:tabLst>
                      </a:pPr>
                      <a:r>
                        <a:rPr b="0" lang="en-US" sz="900" strike="noStrike" u="none">
                          <a:solidFill>
                            <a:srgbClr val="065a82"/>
                          </a:solidFill>
                          <a:uFillTx/>
                          <a:latin typeface="Calibri"/>
                        </a:rPr>
                        <a:t>$2.00</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algn="ctr" defTabSz="914400">
                        <a:lnSpc>
                          <a:spcPct val="100000"/>
                        </a:lnSpc>
                        <a:tabLst>
                          <a:tab algn="l" pos="0"/>
                        </a:tabLst>
                      </a:pPr>
                      <a:r>
                        <a:rPr b="1" lang="en-US" sz="900" strike="noStrike" u="none">
                          <a:solidFill>
                            <a:srgbClr val="065a82"/>
                          </a:solidFill>
                          <a:uFillTx/>
                          <a:latin typeface="Calibri"/>
                        </a:rPr>
                        <a:t>$2.00</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r>
              <a:tr h="0">
                <a:tc>
                  <a:txBody>
                    <a:bodyPr anchor="t">
                      <a:noAutofit/>
                    </a:bodyPr>
                    <a:p>
                      <a:pPr defTabSz="914400">
                        <a:lnSpc>
                          <a:spcPct val="100000"/>
                        </a:lnSpc>
                        <a:tabLst>
                          <a:tab algn="l" pos="0"/>
                        </a:tabLst>
                      </a:pPr>
                      <a:r>
                        <a:rPr b="0" lang="en-US" sz="900" strike="noStrike" u="none">
                          <a:solidFill>
                            <a:srgbClr val="065a82"/>
                          </a:solidFill>
                          <a:uFillTx/>
                          <a:latin typeface="Calibri"/>
                        </a:rPr>
                        <a:t>TP4056 + protection</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c>
                  <a:txBody>
                    <a:bodyPr anchor="t">
                      <a:noAutofit/>
                    </a:bodyPr>
                    <a:p>
                      <a:pPr defTabSz="914400">
                        <a:lnSpc>
                          <a:spcPct val="100000"/>
                        </a:lnSpc>
                        <a:tabLst>
                          <a:tab algn="l" pos="0"/>
                        </a:tabLst>
                      </a:pPr>
                      <a:r>
                        <a:rPr b="0" lang="en-US" sz="900" strike="noStrike" u="none">
                          <a:solidFill>
                            <a:srgbClr val="065a82"/>
                          </a:solidFill>
                          <a:uFillTx/>
                          <a:latin typeface="Calibri"/>
                        </a:rPr>
                        <a:t>Charge batterie LiPo</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c>
                  <a:txBody>
                    <a:bodyPr anchor="t">
                      <a:noAutofit/>
                    </a:bodyPr>
                    <a:p>
                      <a:pPr algn="ctr" defTabSz="914400">
                        <a:lnSpc>
                          <a:spcPct val="100000"/>
                        </a:lnSpc>
                        <a:tabLst>
                          <a:tab algn="l" pos="0"/>
                        </a:tabLst>
                      </a:pPr>
                      <a:r>
                        <a:rPr b="0" lang="en-US" sz="900" strike="noStrike" u="none">
                          <a:solidFill>
                            <a:srgbClr val="065a82"/>
                          </a:solidFill>
                          <a:uFillTx/>
                          <a:latin typeface="Calibri"/>
                        </a:rPr>
                        <a:t>1</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c>
                  <a:txBody>
                    <a:bodyPr anchor="t">
                      <a:noAutofit/>
                    </a:bodyPr>
                    <a:p>
                      <a:pPr algn="ctr" defTabSz="914400">
                        <a:lnSpc>
                          <a:spcPct val="100000"/>
                        </a:lnSpc>
                        <a:tabLst>
                          <a:tab algn="l" pos="0"/>
                        </a:tabLst>
                      </a:pPr>
                      <a:r>
                        <a:rPr b="0" lang="en-US" sz="900" strike="noStrike" u="none">
                          <a:solidFill>
                            <a:srgbClr val="065a82"/>
                          </a:solidFill>
                          <a:uFillTx/>
                          <a:latin typeface="Calibri"/>
                        </a:rPr>
                        <a:t>$0.50</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c>
                  <a:txBody>
                    <a:bodyPr anchor="t">
                      <a:noAutofit/>
                    </a:bodyPr>
                    <a:p>
                      <a:pPr algn="ctr" defTabSz="914400">
                        <a:lnSpc>
                          <a:spcPct val="100000"/>
                        </a:lnSpc>
                        <a:tabLst>
                          <a:tab algn="l" pos="0"/>
                        </a:tabLst>
                      </a:pPr>
                      <a:r>
                        <a:rPr b="1" lang="en-US" sz="900" strike="noStrike" u="none">
                          <a:solidFill>
                            <a:srgbClr val="065a82"/>
                          </a:solidFill>
                          <a:uFillTx/>
                          <a:latin typeface="Calibri"/>
                        </a:rPr>
                        <a:t>$0.50</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r>
              <a:tr h="0">
                <a:tc>
                  <a:txBody>
                    <a:bodyPr anchor="t">
                      <a:noAutofit/>
                    </a:bodyPr>
                    <a:p>
                      <a:pPr defTabSz="914400">
                        <a:lnSpc>
                          <a:spcPct val="100000"/>
                        </a:lnSpc>
                        <a:tabLst>
                          <a:tab algn="l" pos="0"/>
                        </a:tabLst>
                      </a:pPr>
                      <a:r>
                        <a:rPr b="0" lang="en-US" sz="900" strike="noStrike" u="none">
                          <a:solidFill>
                            <a:srgbClr val="065a82"/>
                          </a:solidFill>
                          <a:uFillTx/>
                          <a:latin typeface="Calibri"/>
                        </a:rPr>
                        <a:t>LiPo 3.7V 2000mAh</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defTabSz="914400">
                        <a:lnSpc>
                          <a:spcPct val="100000"/>
                        </a:lnSpc>
                        <a:tabLst>
                          <a:tab algn="l" pos="0"/>
                        </a:tabLst>
                      </a:pPr>
                      <a:r>
                        <a:rPr b="0" lang="en-US" sz="900" strike="noStrike" u="none">
                          <a:solidFill>
                            <a:srgbClr val="065a82"/>
                          </a:solidFill>
                          <a:uFillTx/>
                          <a:latin typeface="Calibri"/>
                        </a:rPr>
                        <a:t>Alimentation continue</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algn="ctr" defTabSz="914400">
                        <a:lnSpc>
                          <a:spcPct val="100000"/>
                        </a:lnSpc>
                        <a:tabLst>
                          <a:tab algn="l" pos="0"/>
                        </a:tabLst>
                      </a:pPr>
                      <a:r>
                        <a:rPr b="0" lang="en-US" sz="900" strike="noStrike" u="none">
                          <a:solidFill>
                            <a:srgbClr val="065a82"/>
                          </a:solidFill>
                          <a:uFillTx/>
                          <a:latin typeface="Calibri"/>
                        </a:rPr>
                        <a:t>1</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algn="ctr" defTabSz="914400">
                        <a:lnSpc>
                          <a:spcPct val="100000"/>
                        </a:lnSpc>
                        <a:tabLst>
                          <a:tab algn="l" pos="0"/>
                        </a:tabLst>
                      </a:pPr>
                      <a:r>
                        <a:rPr b="0" lang="en-US" sz="900" strike="noStrike" u="none">
                          <a:solidFill>
                            <a:srgbClr val="065a82"/>
                          </a:solidFill>
                          <a:uFillTx/>
                          <a:latin typeface="Calibri"/>
                        </a:rPr>
                        <a:t>$2.50</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algn="ctr" defTabSz="914400">
                        <a:lnSpc>
                          <a:spcPct val="100000"/>
                        </a:lnSpc>
                        <a:tabLst>
                          <a:tab algn="l" pos="0"/>
                        </a:tabLst>
                      </a:pPr>
                      <a:r>
                        <a:rPr b="1" lang="en-US" sz="900" strike="noStrike" u="none">
                          <a:solidFill>
                            <a:srgbClr val="065a82"/>
                          </a:solidFill>
                          <a:uFillTx/>
                          <a:latin typeface="Calibri"/>
                        </a:rPr>
                        <a:t>$2.50</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r>
              <a:tr h="0">
                <a:tc>
                  <a:txBody>
                    <a:bodyPr anchor="t">
                      <a:noAutofit/>
                    </a:bodyPr>
                    <a:p>
                      <a:pPr defTabSz="914400">
                        <a:lnSpc>
                          <a:spcPct val="100000"/>
                        </a:lnSpc>
                        <a:tabLst>
                          <a:tab algn="l" pos="0"/>
                        </a:tabLst>
                      </a:pPr>
                      <a:r>
                        <a:rPr b="0" lang="en-US" sz="900" strike="noStrike" u="none">
                          <a:solidFill>
                            <a:srgbClr val="065a82"/>
                          </a:solidFill>
                          <a:uFillTx/>
                          <a:latin typeface="Calibri"/>
                        </a:rPr>
                        <a:t>Bornes à vis + câblage</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c>
                  <a:txBody>
                    <a:bodyPr anchor="t">
                      <a:noAutofit/>
                    </a:bodyPr>
                    <a:p>
                      <a:pPr defTabSz="914400">
                        <a:lnSpc>
                          <a:spcPct val="100000"/>
                        </a:lnSpc>
                        <a:tabLst>
                          <a:tab algn="l" pos="0"/>
                        </a:tabLst>
                      </a:pPr>
                      <a:r>
                        <a:rPr b="0" lang="en-US" sz="900" strike="noStrike" u="none">
                          <a:solidFill>
                            <a:srgbClr val="065a82"/>
                          </a:solidFill>
                          <a:uFillTx/>
                          <a:latin typeface="Calibri"/>
                        </a:rPr>
                        <a:t>Connexions sorties</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c>
                  <a:txBody>
                    <a:bodyPr anchor="t">
                      <a:noAutofit/>
                    </a:bodyPr>
                    <a:p>
                      <a:pPr algn="ctr" defTabSz="914400">
                        <a:lnSpc>
                          <a:spcPct val="100000"/>
                        </a:lnSpc>
                        <a:tabLst>
                          <a:tab algn="l" pos="0"/>
                        </a:tabLst>
                      </a:pPr>
                      <a:r>
                        <a:rPr b="0" lang="en-US" sz="900" strike="noStrike" u="none">
                          <a:solidFill>
                            <a:srgbClr val="065a82"/>
                          </a:solidFill>
                          <a:uFillTx/>
                          <a:latin typeface="Calibri"/>
                        </a:rPr>
                        <a:t>1 kit</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c>
                  <a:txBody>
                    <a:bodyPr anchor="t">
                      <a:noAutofit/>
                    </a:bodyPr>
                    <a:p>
                      <a:pPr algn="ctr" defTabSz="914400">
                        <a:lnSpc>
                          <a:spcPct val="100000"/>
                        </a:lnSpc>
                        <a:tabLst>
                          <a:tab algn="l" pos="0"/>
                        </a:tabLst>
                      </a:pPr>
                      <a:r>
                        <a:rPr b="0" lang="en-US" sz="900" strike="noStrike" u="none">
                          <a:solidFill>
                            <a:srgbClr val="065a82"/>
                          </a:solidFill>
                          <a:uFillTx/>
                          <a:latin typeface="Calibri"/>
                        </a:rPr>
                        <a:t>$3.50</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c>
                  <a:txBody>
                    <a:bodyPr anchor="t">
                      <a:noAutofit/>
                    </a:bodyPr>
                    <a:p>
                      <a:pPr algn="ctr" defTabSz="914400">
                        <a:lnSpc>
                          <a:spcPct val="100000"/>
                        </a:lnSpc>
                        <a:tabLst>
                          <a:tab algn="l" pos="0"/>
                        </a:tabLst>
                      </a:pPr>
                      <a:r>
                        <a:rPr b="1" lang="en-US" sz="900" strike="noStrike" u="none">
                          <a:solidFill>
                            <a:srgbClr val="065a82"/>
                          </a:solidFill>
                          <a:uFillTx/>
                          <a:latin typeface="Calibri"/>
                        </a:rPr>
                        <a:t>$3.50</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r>
              <a:tr h="0">
                <a:tc>
                  <a:txBody>
                    <a:bodyPr anchor="t">
                      <a:noAutofit/>
                    </a:bodyPr>
                    <a:p>
                      <a:pPr defTabSz="914400">
                        <a:lnSpc>
                          <a:spcPct val="100000"/>
                        </a:lnSpc>
                        <a:tabLst>
                          <a:tab algn="l" pos="0"/>
                        </a:tabLst>
                      </a:pPr>
                      <a:r>
                        <a:rPr b="0" lang="en-US" sz="900" strike="noStrike" u="none">
                          <a:solidFill>
                            <a:srgbClr val="065a82"/>
                          </a:solidFill>
                          <a:uFillTx/>
                          <a:latin typeface="Calibri"/>
                        </a:rPr>
                        <a:t>Boîtier électrique</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defTabSz="914400">
                        <a:lnSpc>
                          <a:spcPct val="100000"/>
                        </a:lnSpc>
                        <a:tabLst>
                          <a:tab algn="l" pos="0"/>
                        </a:tabLst>
                      </a:pPr>
                      <a:r>
                        <a:rPr b="0" lang="en-US" sz="900" strike="noStrike" u="none">
                          <a:solidFill>
                            <a:srgbClr val="065a82"/>
                          </a:solidFill>
                          <a:uFillTx/>
                          <a:latin typeface="Calibri"/>
                        </a:rPr>
                        <a:t>Protection + sécurité</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algn="ctr" defTabSz="914400">
                        <a:lnSpc>
                          <a:spcPct val="100000"/>
                        </a:lnSpc>
                        <a:tabLst>
                          <a:tab algn="l" pos="0"/>
                        </a:tabLst>
                      </a:pPr>
                      <a:r>
                        <a:rPr b="0" lang="en-US" sz="900" strike="noStrike" u="none">
                          <a:solidFill>
                            <a:srgbClr val="065a82"/>
                          </a:solidFill>
                          <a:uFillTx/>
                          <a:latin typeface="Calibri"/>
                        </a:rPr>
                        <a:t>1</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algn="ctr" defTabSz="914400">
                        <a:lnSpc>
                          <a:spcPct val="100000"/>
                        </a:lnSpc>
                        <a:tabLst>
                          <a:tab algn="l" pos="0"/>
                        </a:tabLst>
                      </a:pPr>
                      <a:r>
                        <a:rPr b="0" lang="en-US" sz="900" strike="noStrike" u="none">
                          <a:solidFill>
                            <a:srgbClr val="065a82"/>
                          </a:solidFill>
                          <a:uFillTx/>
                          <a:latin typeface="Calibri"/>
                        </a:rPr>
                        <a:t>$4.00</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algn="ctr" defTabSz="914400">
                        <a:lnSpc>
                          <a:spcPct val="100000"/>
                        </a:lnSpc>
                        <a:tabLst>
                          <a:tab algn="l" pos="0"/>
                        </a:tabLst>
                      </a:pPr>
                      <a:r>
                        <a:rPr b="1" lang="en-US" sz="900" strike="noStrike" u="none">
                          <a:solidFill>
                            <a:srgbClr val="065a82"/>
                          </a:solidFill>
                          <a:uFillTx/>
                          <a:latin typeface="Calibri"/>
                        </a:rPr>
                        <a:t>$4.00</a:t>
                      </a:r>
                      <a:endParaRPr b="0" lang="fr-FR" sz="900" strike="noStrike" u="none">
                        <a:solidFill>
                          <a:srgbClr val="000000"/>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r>
              <a:tr h="0">
                <a:tc gridSpan="4">
                  <a:txBody>
                    <a:bodyPr anchor="t">
                      <a:noAutofit/>
                    </a:bodyPr>
                    <a:p>
                      <a:pPr defTabSz="914400">
                        <a:lnSpc>
                          <a:spcPct val="100000"/>
                        </a:lnSpc>
                        <a:tabLst>
                          <a:tab algn="l" pos="0"/>
                        </a:tabLst>
                      </a:pPr>
                      <a:r>
                        <a:rPr b="1" lang="en-US" sz="1000" strike="noStrike" u="none">
                          <a:solidFill>
                            <a:srgbClr val="ffffff"/>
                          </a:solidFill>
                          <a:uFillTx/>
                          <a:latin typeface="Calibri"/>
                        </a:rPr>
                        <a:t>TOTAL MATÉRIEL</a:t>
                      </a:r>
                      <a:endParaRPr b="0" lang="fr-FR" sz="1000" strike="noStrike" u="none">
                        <a:solidFill>
                          <a:srgbClr val="ffffff"/>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1c7293"/>
                    </a:solidFill>
                  </a:tcPr>
                </a:tc>
                <a:tc hMerge="1">
                  <a:txBody>
                    <a:bodyPr lIns="90000" rIns="90000" tIns="45000" bIns="45000" anchor="t">
                      <a:noAutofit/>
                    </a:bodyPr>
                    <a:p>
                      <a:endParaRPr b="0" lang="fr-FR"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fr-FR"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fr-FR"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c>
                  <a:txBody>
                    <a:bodyPr anchor="t">
                      <a:noAutofit/>
                    </a:bodyPr>
                    <a:p>
                      <a:pPr algn="ctr" defTabSz="914400">
                        <a:lnSpc>
                          <a:spcPct val="100000"/>
                        </a:lnSpc>
                        <a:tabLst>
                          <a:tab algn="l" pos="0"/>
                        </a:tabLst>
                      </a:pPr>
                      <a:r>
                        <a:rPr b="1" lang="en-US" sz="1200" strike="noStrike" u="none">
                          <a:solidFill>
                            <a:srgbClr val="f59e0b"/>
                          </a:solidFill>
                          <a:uFillTx/>
                          <a:latin typeface="Calibri"/>
                        </a:rPr>
                        <a:t>~$26.20</a:t>
                      </a:r>
                      <a:endParaRPr b="0" lang="fr-FR" sz="1200" strike="noStrike" u="none">
                        <a:solidFill>
                          <a:srgbClr val="ffffff"/>
                        </a:solidFill>
                        <a:uFillTx/>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1c7293"/>
                    </a:solidFill>
                  </a:tcPr>
                </a:tc>
              </a:tr>
            </a:tbl>
          </a:graphicData>
        </a:graphic>
      </p:graphicFrame>
      <p:sp>
        <p:nvSpPr>
          <p:cNvPr id="145" name="Shape 2"/>
          <p:cNvSpPr/>
          <p:nvPr/>
        </p:nvSpPr>
        <p:spPr>
          <a:xfrm>
            <a:off x="5943600" y="4160520"/>
            <a:ext cx="2925720" cy="731160"/>
          </a:xfrm>
          <a:prstGeom prst="rect">
            <a:avLst/>
          </a:prstGeom>
          <a:solidFill>
            <a:srgbClr val="10b981"/>
          </a:solidFill>
          <a:ln w="12700">
            <a:solidFill>
              <a:srgbClr val="10b981"/>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146" name="Text 3"/>
          <p:cNvSpPr/>
          <p:nvPr/>
        </p:nvSpPr>
        <p:spPr>
          <a:xfrm>
            <a:off x="5943600" y="4160520"/>
            <a:ext cx="2925720" cy="731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900" strike="noStrike" u="none">
                <a:solidFill>
                  <a:srgbClr val="ffffff"/>
                </a:solidFill>
                <a:uFillTx/>
                <a:latin typeface="Calibri"/>
              </a:rPr>
              <a:t>💡 </a:t>
            </a:r>
            <a:r>
              <a:rPr b="1" lang="fr-FR" sz="900" strike="noStrike" u="none">
                <a:solidFill>
                  <a:srgbClr val="ffffff"/>
                </a:solidFill>
                <a:uFillTx/>
                <a:latin typeface="Calibri"/>
              </a:rPr>
              <a:t>~$3.25 / personne</a:t>
            </a:r>
            <a:endParaRPr b="0" lang="fr-FR" sz="900" strike="noStrike" u="none">
              <a:solidFill>
                <a:srgbClr val="000000"/>
              </a:solidFill>
              <a:uFillTx/>
              <a:latin typeface="Arial"/>
            </a:endParaRPr>
          </a:p>
          <a:p>
            <a:pPr algn="ctr" defTabSz="914400">
              <a:lnSpc>
                <a:spcPct val="100000"/>
              </a:lnSpc>
              <a:tabLst>
                <a:tab algn="l" pos="0"/>
              </a:tabLst>
            </a:pPr>
            <a:r>
              <a:rPr b="1" lang="fr-FR" sz="900" strike="noStrike" u="none">
                <a:solidFill>
                  <a:srgbClr val="ffffff"/>
                </a:solidFill>
                <a:uFillTx/>
                <a:latin typeface="Calibri"/>
              </a:rPr>
              <a:t>(8 personnes : bailleur + 7 locataires)</a:t>
            </a:r>
            <a:endParaRPr b="0" lang="fr-FR" sz="9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ff6ff"/>
        </a:solidFill>
      </p:bgPr>
    </p:bg>
    <p:spTree>
      <p:nvGrpSpPr>
        <p:cNvPr id="1" name=""/>
        <p:cNvGrpSpPr/>
        <p:nvPr/>
      </p:nvGrpSpPr>
      <p:grpSpPr>
        <a:xfrm>
          <a:off x="0" y="0"/>
          <a:ext cx="0" cy="0"/>
          <a:chOff x="0" y="0"/>
          <a:chExt cx="0" cy="0"/>
        </a:xfrm>
      </p:grpSpPr>
      <p:sp>
        <p:nvSpPr>
          <p:cNvPr id="147" name="Shape 0"/>
          <p:cNvSpPr/>
          <p:nvPr/>
        </p:nvSpPr>
        <p:spPr>
          <a:xfrm>
            <a:off x="0" y="0"/>
            <a:ext cx="9143640" cy="914040"/>
          </a:xfrm>
          <a:prstGeom prst="rect">
            <a:avLst/>
          </a:prstGeom>
          <a:solidFill>
            <a:srgbClr val="065a82"/>
          </a:solidFill>
          <a:ln w="12700">
            <a:solidFill>
              <a:srgbClr val="065a82"/>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148" name="Text 1"/>
          <p:cNvSpPr/>
          <p:nvPr/>
        </p:nvSpPr>
        <p:spPr>
          <a:xfrm>
            <a:off x="457200" y="0"/>
            <a:ext cx="8229240" cy="914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1800" spc="201" strike="noStrike" u="none">
                <a:solidFill>
                  <a:srgbClr val="00b4d8"/>
                </a:solidFill>
                <a:uFillTx/>
                <a:latin typeface="Calibri"/>
              </a:rPr>
              <a:t>03  </a:t>
            </a:r>
            <a:r>
              <a:rPr b="1" lang="fr-FR" sz="1800" spc="201" strike="noStrike" u="none">
                <a:solidFill>
                  <a:srgbClr val="ffffff"/>
                </a:solidFill>
                <a:uFillTx/>
                <a:latin typeface="Calibri"/>
              </a:rPr>
              <a:t>MÉTHODOLOGIE — Firmware et calcul kWh</a:t>
            </a:r>
            <a:endParaRPr b="0" lang="fr-FR" sz="1800" strike="noStrike" u="none">
              <a:solidFill>
                <a:srgbClr val="000000"/>
              </a:solidFill>
              <a:uFillTx/>
              <a:latin typeface="Arial"/>
            </a:endParaRPr>
          </a:p>
        </p:txBody>
      </p:sp>
      <p:sp>
        <p:nvSpPr>
          <p:cNvPr id="149" name="Shape 2"/>
          <p:cNvSpPr/>
          <p:nvPr/>
        </p:nvSpPr>
        <p:spPr>
          <a:xfrm>
            <a:off x="365760" y="1005840"/>
            <a:ext cx="8412120" cy="914040"/>
          </a:xfrm>
          <a:prstGeom prst="rect">
            <a:avLst/>
          </a:prstGeom>
          <a:solidFill>
            <a:srgbClr val="065a82"/>
          </a:solidFill>
          <a:ln w="12700">
            <a:solidFill>
              <a:srgbClr val="00b4d8"/>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150" name="Text 3"/>
          <p:cNvSpPr/>
          <p:nvPr/>
        </p:nvSpPr>
        <p:spPr>
          <a:xfrm>
            <a:off x="457200" y="1051560"/>
            <a:ext cx="3657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900" strike="noStrike" u="none">
                <a:solidFill>
                  <a:srgbClr val="00b4d8"/>
                </a:solidFill>
                <a:uFillTx/>
                <a:latin typeface="Calibri"/>
              </a:rPr>
              <a:t>Formule de calcul — Énergie consommée</a:t>
            </a:r>
            <a:endParaRPr b="0" lang="fr-FR" sz="900" strike="noStrike" u="none">
              <a:solidFill>
                <a:srgbClr val="000000"/>
              </a:solidFill>
              <a:uFillTx/>
              <a:latin typeface="Arial"/>
            </a:endParaRPr>
          </a:p>
        </p:txBody>
      </p:sp>
      <p:sp>
        <p:nvSpPr>
          <p:cNvPr id="151" name="Text 4"/>
          <p:cNvSpPr/>
          <p:nvPr/>
        </p:nvSpPr>
        <p:spPr>
          <a:xfrm>
            <a:off x="457200" y="1325880"/>
            <a:ext cx="82292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600" strike="noStrike" u="none">
                <a:solidFill>
                  <a:srgbClr val="f59e0b"/>
                </a:solidFill>
                <a:uFillTx/>
                <a:latin typeface="Calibri"/>
              </a:rPr>
              <a:t>kWh  =  Tension (V)  ×  Courant (A)  ×  Temps (h)  ÷  1000</a:t>
            </a:r>
            <a:endParaRPr b="0" lang="fr-FR" sz="1600" strike="noStrike" u="none">
              <a:solidFill>
                <a:srgbClr val="000000"/>
              </a:solidFill>
              <a:uFillTx/>
              <a:latin typeface="Arial"/>
            </a:endParaRPr>
          </a:p>
        </p:txBody>
      </p:sp>
      <p:sp>
        <p:nvSpPr>
          <p:cNvPr id="152" name="Shape 5"/>
          <p:cNvSpPr/>
          <p:nvPr/>
        </p:nvSpPr>
        <p:spPr>
          <a:xfrm>
            <a:off x="274320" y="2057400"/>
            <a:ext cx="2834280" cy="2742840"/>
          </a:xfrm>
          <a:prstGeom prst="rect">
            <a:avLst/>
          </a:prstGeom>
          <a:solidFill>
            <a:srgbClr val="ffffff"/>
          </a:solidFill>
          <a:ln w="12700">
            <a:solidFill>
              <a:srgbClr val="d1e8f5"/>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fr-FR" sz="1800" strike="noStrike" u="none">
              <a:solidFill>
                <a:srgbClr val="000000"/>
              </a:solidFill>
              <a:uFillTx/>
              <a:latin typeface="Arial"/>
            </a:endParaRPr>
          </a:p>
        </p:txBody>
      </p:sp>
      <p:sp>
        <p:nvSpPr>
          <p:cNvPr id="153" name="Shape 6"/>
          <p:cNvSpPr/>
          <p:nvPr/>
        </p:nvSpPr>
        <p:spPr>
          <a:xfrm>
            <a:off x="274320" y="2057400"/>
            <a:ext cx="2834280" cy="411120"/>
          </a:xfrm>
          <a:prstGeom prst="rect">
            <a:avLst/>
          </a:prstGeom>
          <a:solidFill>
            <a:srgbClr val="1c7293"/>
          </a:solidFill>
          <a:ln w="12700">
            <a:solidFill>
              <a:srgbClr val="1c7293"/>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154" name="Text 7"/>
          <p:cNvSpPr/>
          <p:nvPr/>
        </p:nvSpPr>
        <p:spPr>
          <a:xfrm>
            <a:off x="274320" y="2057400"/>
            <a:ext cx="283428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100" strike="noStrike" u="none">
                <a:solidFill>
                  <a:srgbClr val="ffffff"/>
                </a:solidFill>
                <a:uFillTx/>
                <a:latin typeface="Calibri"/>
              </a:rPr>
              <a:t>Lecture capteurs</a:t>
            </a:r>
            <a:endParaRPr b="0" lang="fr-FR" sz="1100" strike="noStrike" u="none">
              <a:solidFill>
                <a:srgbClr val="000000"/>
              </a:solidFill>
              <a:uFillTx/>
              <a:latin typeface="Arial"/>
            </a:endParaRPr>
          </a:p>
        </p:txBody>
      </p:sp>
      <p:sp>
        <p:nvSpPr>
          <p:cNvPr id="155" name="Text 8"/>
          <p:cNvSpPr/>
          <p:nvPr/>
        </p:nvSpPr>
        <p:spPr>
          <a:xfrm>
            <a:off x="365760" y="2560320"/>
            <a:ext cx="2651400" cy="2102760"/>
          </a:xfrm>
          <a:prstGeom prst="rect">
            <a:avLst/>
          </a:prstGeom>
          <a:noFill/>
          <a:ln w="0">
            <a:noFill/>
          </a:ln>
        </p:spPr>
        <p:style>
          <a:lnRef idx="0"/>
          <a:fillRef idx="0"/>
          <a:effectRef idx="0"/>
          <a:fontRef idx="minor"/>
        </p:style>
        <p:txBody>
          <a:bodyPr lIns="0" rIns="0" tIns="0" bIns="0" anchor="ctr">
            <a:noAutofit/>
          </a:bodyPr>
          <a:p>
            <a:pPr marL="343080" indent="-343080" defTabSz="914400">
              <a:lnSpc>
                <a:spcPct val="100000"/>
              </a:lnSpc>
              <a:buClr>
                <a:srgbClr val="065a82"/>
              </a:buClr>
              <a:buFont typeface="Symbol" charset="2"/>
              <a:buChar char=""/>
            </a:pPr>
            <a:r>
              <a:rPr b="0" lang="fr-FR" sz="950" strike="noStrike" u="none">
                <a:solidFill>
                  <a:srgbClr val="065a82"/>
                </a:solidFill>
                <a:uFillTx/>
                <a:latin typeface="Calibri"/>
              </a:rPr>
              <a:t>ZMPT101B → ADC GPIO 34</a:t>
            </a:r>
            <a:endParaRPr b="0" lang="fr-FR" sz="950" strike="noStrike" u="none">
              <a:solidFill>
                <a:srgbClr val="000000"/>
              </a:solidFill>
              <a:uFillTx/>
              <a:latin typeface="Arial"/>
            </a:endParaRPr>
          </a:p>
          <a:p>
            <a:pPr marL="343080" indent="-343080" defTabSz="914400">
              <a:lnSpc>
                <a:spcPct val="100000"/>
              </a:lnSpc>
              <a:buClr>
                <a:srgbClr val="065a82"/>
              </a:buClr>
              <a:buFont typeface="Symbol" charset="2"/>
              <a:buChar char=""/>
            </a:pPr>
            <a:r>
              <a:rPr b="0" lang="fr-FR" sz="950" strike="noStrike" u="none">
                <a:solidFill>
                  <a:srgbClr val="065a82"/>
                </a:solidFill>
                <a:uFillTx/>
                <a:latin typeface="Calibri"/>
              </a:rPr>
              <a:t>Tension réelle (pas 220V fixe)</a:t>
            </a:r>
            <a:endParaRPr b="0" lang="fr-FR" sz="950" strike="noStrike" u="none">
              <a:solidFill>
                <a:srgbClr val="000000"/>
              </a:solidFill>
              <a:uFillTx/>
              <a:latin typeface="Arial"/>
            </a:endParaRPr>
          </a:p>
          <a:p>
            <a:pPr marL="343080" indent="-343080" defTabSz="914400">
              <a:lnSpc>
                <a:spcPct val="100000"/>
              </a:lnSpc>
              <a:buClr>
                <a:srgbClr val="065a82"/>
              </a:buClr>
              <a:buFont typeface="Symbol" charset="2"/>
              <a:buChar char=""/>
            </a:pPr>
            <a:r>
              <a:rPr b="0" lang="fr-FR" sz="950" strike="noStrike" u="none">
                <a:solidFill>
                  <a:srgbClr val="065a82"/>
                </a:solidFill>
                <a:uFillTx/>
                <a:latin typeface="Calibri"/>
              </a:rPr>
              <a:t>ACS712 ×8 → ADC GPIO 35-39</a:t>
            </a:r>
            <a:endParaRPr b="0" lang="fr-FR" sz="950" strike="noStrike" u="none">
              <a:solidFill>
                <a:srgbClr val="000000"/>
              </a:solidFill>
              <a:uFillTx/>
              <a:latin typeface="Arial"/>
            </a:endParaRPr>
          </a:p>
          <a:p>
            <a:pPr marL="343080" indent="-343080" defTabSz="914400">
              <a:lnSpc>
                <a:spcPct val="100000"/>
              </a:lnSpc>
              <a:buClr>
                <a:srgbClr val="065a82"/>
              </a:buClr>
              <a:buFont typeface="Symbol" charset="2"/>
              <a:buChar char=""/>
            </a:pPr>
            <a:r>
              <a:rPr b="0" lang="fr-FR" sz="950" strike="noStrike" u="none">
                <a:solidFill>
                  <a:srgbClr val="065a82"/>
                </a:solidFill>
                <a:uFillTx/>
                <a:latin typeface="Calibri"/>
              </a:rPr>
              <a:t>Courant par locataire</a:t>
            </a:r>
            <a:endParaRPr b="0" lang="fr-FR" sz="950" strike="noStrike" u="none">
              <a:solidFill>
                <a:srgbClr val="000000"/>
              </a:solidFill>
              <a:uFillTx/>
              <a:latin typeface="Arial"/>
            </a:endParaRPr>
          </a:p>
          <a:p>
            <a:pPr marL="343080" indent="-343080" defTabSz="914400">
              <a:lnSpc>
                <a:spcPct val="100000"/>
              </a:lnSpc>
              <a:buClr>
                <a:srgbClr val="065a82"/>
              </a:buClr>
              <a:buFont typeface="Symbol" charset="2"/>
              <a:buChar char=""/>
            </a:pPr>
            <a:r>
              <a:rPr b="0" lang="fr-FR" sz="950" strike="noStrike" u="none">
                <a:solidFill>
                  <a:srgbClr val="065a82"/>
                </a:solidFill>
                <a:uFillTx/>
                <a:latin typeface="Calibri"/>
              </a:rPr>
              <a:t>Filtrage : moyenne 100 mesures</a:t>
            </a:r>
            <a:endParaRPr b="0" lang="fr-FR" sz="950" strike="noStrike" u="none">
              <a:solidFill>
                <a:srgbClr val="000000"/>
              </a:solidFill>
              <a:uFillTx/>
              <a:latin typeface="Arial"/>
            </a:endParaRPr>
          </a:p>
        </p:txBody>
      </p:sp>
      <p:sp>
        <p:nvSpPr>
          <p:cNvPr id="156" name="Shape 9"/>
          <p:cNvSpPr/>
          <p:nvPr/>
        </p:nvSpPr>
        <p:spPr>
          <a:xfrm>
            <a:off x="3246120" y="2057400"/>
            <a:ext cx="2834280" cy="2742840"/>
          </a:xfrm>
          <a:prstGeom prst="rect">
            <a:avLst/>
          </a:prstGeom>
          <a:solidFill>
            <a:srgbClr val="ffffff"/>
          </a:solidFill>
          <a:ln w="12700">
            <a:solidFill>
              <a:srgbClr val="d1e8f5"/>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fr-FR" sz="1800" strike="noStrike" u="none">
              <a:solidFill>
                <a:srgbClr val="000000"/>
              </a:solidFill>
              <a:uFillTx/>
              <a:latin typeface="Arial"/>
            </a:endParaRPr>
          </a:p>
        </p:txBody>
      </p:sp>
      <p:sp>
        <p:nvSpPr>
          <p:cNvPr id="157" name="Shape 10"/>
          <p:cNvSpPr/>
          <p:nvPr/>
        </p:nvSpPr>
        <p:spPr>
          <a:xfrm>
            <a:off x="3246120" y="2057400"/>
            <a:ext cx="2834280" cy="411120"/>
          </a:xfrm>
          <a:prstGeom prst="rect">
            <a:avLst/>
          </a:prstGeom>
          <a:solidFill>
            <a:srgbClr val="ef4444"/>
          </a:solidFill>
          <a:ln w="12700">
            <a:solidFill>
              <a:srgbClr val="ef4444"/>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158" name="Text 11"/>
          <p:cNvSpPr/>
          <p:nvPr/>
        </p:nvSpPr>
        <p:spPr>
          <a:xfrm>
            <a:off x="3246120" y="2057400"/>
            <a:ext cx="283428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100" strike="noStrike" u="none">
                <a:solidFill>
                  <a:srgbClr val="ffffff"/>
                </a:solidFill>
                <a:uFillTx/>
                <a:latin typeface="Calibri"/>
              </a:rPr>
              <a:t>Logique de coupure</a:t>
            </a:r>
            <a:endParaRPr b="0" lang="fr-FR" sz="1100" strike="noStrike" u="none">
              <a:solidFill>
                <a:srgbClr val="000000"/>
              </a:solidFill>
              <a:uFillTx/>
              <a:latin typeface="Arial"/>
            </a:endParaRPr>
          </a:p>
        </p:txBody>
      </p:sp>
      <p:sp>
        <p:nvSpPr>
          <p:cNvPr id="159" name="Text 12"/>
          <p:cNvSpPr/>
          <p:nvPr/>
        </p:nvSpPr>
        <p:spPr>
          <a:xfrm>
            <a:off x="3337560" y="2560320"/>
            <a:ext cx="2651400" cy="2102760"/>
          </a:xfrm>
          <a:prstGeom prst="rect">
            <a:avLst/>
          </a:prstGeom>
          <a:noFill/>
          <a:ln w="0">
            <a:noFill/>
          </a:ln>
        </p:spPr>
        <p:style>
          <a:lnRef idx="0"/>
          <a:fillRef idx="0"/>
          <a:effectRef idx="0"/>
          <a:fontRef idx="minor"/>
        </p:style>
        <p:txBody>
          <a:bodyPr lIns="0" rIns="0" tIns="0" bIns="0" anchor="ctr">
            <a:noAutofit/>
          </a:bodyPr>
          <a:p>
            <a:pPr marL="343080" indent="-343080" defTabSz="914400">
              <a:lnSpc>
                <a:spcPct val="100000"/>
              </a:lnSpc>
              <a:buClr>
                <a:srgbClr val="065a82"/>
              </a:buClr>
              <a:buFont typeface="Symbol" charset="2"/>
              <a:buChar char=""/>
            </a:pPr>
            <a:r>
              <a:rPr b="0" lang="fr-FR" sz="950" strike="noStrike" u="none">
                <a:solidFill>
                  <a:srgbClr val="065a82"/>
                </a:solidFill>
                <a:uFillTx/>
                <a:latin typeface="Calibri"/>
              </a:rPr>
              <a:t>Calcul kWh chaque seconde</a:t>
            </a:r>
            <a:endParaRPr b="0" lang="fr-FR" sz="950" strike="noStrike" u="none">
              <a:solidFill>
                <a:srgbClr val="000000"/>
              </a:solidFill>
              <a:uFillTx/>
              <a:latin typeface="Arial"/>
            </a:endParaRPr>
          </a:p>
          <a:p>
            <a:pPr marL="343080" indent="-343080" defTabSz="914400">
              <a:lnSpc>
                <a:spcPct val="100000"/>
              </a:lnSpc>
              <a:buClr>
                <a:srgbClr val="065a82"/>
              </a:buClr>
              <a:buFont typeface="Symbol" charset="2"/>
              <a:buChar char=""/>
            </a:pPr>
            <a:r>
              <a:rPr b="0" lang="fr-FR" sz="950" strike="noStrike" u="none">
                <a:solidFill>
                  <a:srgbClr val="065a82"/>
                </a:solidFill>
                <a:uFillTx/>
                <a:latin typeface="Calibri"/>
              </a:rPr>
              <a:t>Déduction du crédit locataire</a:t>
            </a:r>
            <a:endParaRPr b="0" lang="fr-FR" sz="950" strike="noStrike" u="none">
              <a:solidFill>
                <a:srgbClr val="000000"/>
              </a:solidFill>
              <a:uFillTx/>
              <a:latin typeface="Arial"/>
            </a:endParaRPr>
          </a:p>
          <a:p>
            <a:pPr marL="343080" indent="-343080" defTabSz="914400">
              <a:lnSpc>
                <a:spcPct val="100000"/>
              </a:lnSpc>
              <a:buClr>
                <a:srgbClr val="065a82"/>
              </a:buClr>
              <a:buFont typeface="Symbol" charset="2"/>
              <a:buChar char=""/>
            </a:pPr>
            <a:r>
              <a:rPr b="0" lang="fr-FR" sz="950" strike="noStrike" u="none">
                <a:solidFill>
                  <a:srgbClr val="065a82"/>
                </a:solidFill>
                <a:uFillTx/>
                <a:latin typeface="Calibri"/>
              </a:rPr>
              <a:t>Crédit = 0 → relais OUVRE</a:t>
            </a:r>
            <a:endParaRPr b="0" lang="fr-FR" sz="950" strike="noStrike" u="none">
              <a:solidFill>
                <a:srgbClr val="000000"/>
              </a:solidFill>
              <a:uFillTx/>
              <a:latin typeface="Arial"/>
            </a:endParaRPr>
          </a:p>
          <a:p>
            <a:pPr marL="343080" indent="-343080" defTabSz="914400">
              <a:lnSpc>
                <a:spcPct val="100000"/>
              </a:lnSpc>
              <a:buClr>
                <a:srgbClr val="065a82"/>
              </a:buClr>
              <a:buFont typeface="Symbol" charset="2"/>
              <a:buChar char=""/>
            </a:pPr>
            <a:r>
              <a:rPr b="0" lang="fr-FR" sz="950" strike="noStrike" u="none">
                <a:solidFill>
                  <a:srgbClr val="065a82"/>
                </a:solidFill>
                <a:uFillTx/>
                <a:latin typeface="Calibri"/>
              </a:rPr>
              <a:t>Coupure automatique immédiate</a:t>
            </a:r>
            <a:endParaRPr b="0" lang="fr-FR" sz="950" strike="noStrike" u="none">
              <a:solidFill>
                <a:srgbClr val="000000"/>
              </a:solidFill>
              <a:uFillTx/>
              <a:latin typeface="Arial"/>
            </a:endParaRPr>
          </a:p>
          <a:p>
            <a:pPr marL="343080" indent="-343080" defTabSz="914400">
              <a:lnSpc>
                <a:spcPct val="100000"/>
              </a:lnSpc>
              <a:buClr>
                <a:srgbClr val="065a82"/>
              </a:buClr>
              <a:buFont typeface="Symbol" charset="2"/>
              <a:buChar char=""/>
            </a:pPr>
            <a:r>
              <a:rPr b="0" lang="fr-FR" sz="950" strike="noStrike" u="none">
                <a:solidFill>
                  <a:srgbClr val="065a82"/>
                </a:solidFill>
                <a:uFillTx/>
                <a:latin typeface="Calibri"/>
              </a:rPr>
              <a:t>Alerte Wi-Fi vers interface</a:t>
            </a:r>
            <a:endParaRPr b="0" lang="fr-FR" sz="950" strike="noStrike" u="none">
              <a:solidFill>
                <a:srgbClr val="000000"/>
              </a:solidFill>
              <a:uFillTx/>
              <a:latin typeface="Arial"/>
            </a:endParaRPr>
          </a:p>
        </p:txBody>
      </p:sp>
      <p:sp>
        <p:nvSpPr>
          <p:cNvPr id="160" name="Shape 13"/>
          <p:cNvSpPr/>
          <p:nvPr/>
        </p:nvSpPr>
        <p:spPr>
          <a:xfrm>
            <a:off x="6217920" y="2057400"/>
            <a:ext cx="2834280" cy="2742840"/>
          </a:xfrm>
          <a:prstGeom prst="rect">
            <a:avLst/>
          </a:prstGeom>
          <a:solidFill>
            <a:srgbClr val="ffffff"/>
          </a:solidFill>
          <a:ln w="12700">
            <a:solidFill>
              <a:srgbClr val="d1e8f5"/>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fr-FR" sz="1800" strike="noStrike" u="none">
              <a:solidFill>
                <a:srgbClr val="000000"/>
              </a:solidFill>
              <a:uFillTx/>
              <a:latin typeface="Arial"/>
            </a:endParaRPr>
          </a:p>
        </p:txBody>
      </p:sp>
      <p:sp>
        <p:nvSpPr>
          <p:cNvPr id="161" name="Shape 14"/>
          <p:cNvSpPr/>
          <p:nvPr/>
        </p:nvSpPr>
        <p:spPr>
          <a:xfrm>
            <a:off x="6217920" y="2057400"/>
            <a:ext cx="2834280" cy="411120"/>
          </a:xfrm>
          <a:prstGeom prst="rect">
            <a:avLst/>
          </a:prstGeom>
          <a:solidFill>
            <a:srgbClr val="10b981"/>
          </a:solidFill>
          <a:ln w="12700">
            <a:solidFill>
              <a:srgbClr val="10b981"/>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162" name="Text 15"/>
          <p:cNvSpPr/>
          <p:nvPr/>
        </p:nvSpPr>
        <p:spPr>
          <a:xfrm>
            <a:off x="6217920" y="2057400"/>
            <a:ext cx="283428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100" strike="noStrike" u="none">
                <a:solidFill>
                  <a:srgbClr val="ffffff"/>
                </a:solidFill>
                <a:uFillTx/>
                <a:latin typeface="Calibri"/>
              </a:rPr>
              <a:t>Sauvegarde NVS</a:t>
            </a:r>
            <a:endParaRPr b="0" lang="fr-FR" sz="1100" strike="noStrike" u="none">
              <a:solidFill>
                <a:srgbClr val="000000"/>
              </a:solidFill>
              <a:uFillTx/>
              <a:latin typeface="Arial"/>
            </a:endParaRPr>
          </a:p>
        </p:txBody>
      </p:sp>
      <p:sp>
        <p:nvSpPr>
          <p:cNvPr id="163" name="Text 16"/>
          <p:cNvSpPr/>
          <p:nvPr/>
        </p:nvSpPr>
        <p:spPr>
          <a:xfrm>
            <a:off x="6309360" y="2560320"/>
            <a:ext cx="2651400" cy="2102760"/>
          </a:xfrm>
          <a:prstGeom prst="rect">
            <a:avLst/>
          </a:prstGeom>
          <a:noFill/>
          <a:ln w="0">
            <a:noFill/>
          </a:ln>
        </p:spPr>
        <p:style>
          <a:lnRef idx="0"/>
          <a:fillRef idx="0"/>
          <a:effectRef idx="0"/>
          <a:fontRef idx="minor"/>
        </p:style>
        <p:txBody>
          <a:bodyPr lIns="0" rIns="0" tIns="0" bIns="0" anchor="ctr">
            <a:noAutofit/>
          </a:bodyPr>
          <a:p>
            <a:pPr marL="343080" indent="-343080" defTabSz="914400">
              <a:lnSpc>
                <a:spcPct val="100000"/>
              </a:lnSpc>
              <a:buClr>
                <a:srgbClr val="065a82"/>
              </a:buClr>
              <a:buFont typeface="Symbol" charset="2"/>
              <a:buChar char=""/>
            </a:pPr>
            <a:r>
              <a:rPr b="0" lang="fr-FR" sz="950" strike="noStrike" u="none">
                <a:solidFill>
                  <a:srgbClr val="065a82"/>
                </a:solidFill>
                <a:uFillTx/>
                <a:latin typeface="Calibri"/>
              </a:rPr>
              <a:t>kWh sauvegardé toutes les 5 sec</a:t>
            </a:r>
            <a:endParaRPr b="0" lang="fr-FR" sz="950" strike="noStrike" u="none">
              <a:solidFill>
                <a:srgbClr val="000000"/>
              </a:solidFill>
              <a:uFillTx/>
              <a:latin typeface="Arial"/>
            </a:endParaRPr>
          </a:p>
          <a:p>
            <a:pPr marL="343080" indent="-343080" defTabSz="914400">
              <a:lnSpc>
                <a:spcPct val="100000"/>
              </a:lnSpc>
              <a:buClr>
                <a:srgbClr val="065a82"/>
              </a:buClr>
              <a:buFont typeface="Symbol" charset="2"/>
              <a:buChar char=""/>
            </a:pPr>
            <a:r>
              <a:rPr b="0" lang="fr-FR" sz="950" strike="noStrike" u="none">
                <a:solidFill>
                  <a:srgbClr val="065a82"/>
                </a:solidFill>
                <a:uFillTx/>
                <a:latin typeface="Calibri"/>
              </a:rPr>
              <a:t>Batterie ≤25% → sauvegarde forcée</a:t>
            </a:r>
            <a:endParaRPr b="0" lang="fr-FR" sz="950" strike="noStrike" u="none">
              <a:solidFill>
                <a:srgbClr val="000000"/>
              </a:solidFill>
              <a:uFillTx/>
              <a:latin typeface="Arial"/>
            </a:endParaRPr>
          </a:p>
          <a:p>
            <a:pPr marL="343080" indent="-343080" defTabSz="914400">
              <a:lnSpc>
                <a:spcPct val="100000"/>
              </a:lnSpc>
              <a:buClr>
                <a:srgbClr val="065a82"/>
              </a:buClr>
              <a:buFont typeface="Symbol" charset="2"/>
              <a:buChar char=""/>
            </a:pPr>
            <a:r>
              <a:rPr b="0" lang="fr-FR" sz="950" strike="noStrike" u="none">
                <a:solidFill>
                  <a:srgbClr val="065a82"/>
                </a:solidFill>
                <a:uFillTx/>
                <a:latin typeface="Calibri"/>
              </a:rPr>
              <a:t>Résistant aux coupures 220V</a:t>
            </a:r>
            <a:endParaRPr b="0" lang="fr-FR" sz="950" strike="noStrike" u="none">
              <a:solidFill>
                <a:srgbClr val="000000"/>
              </a:solidFill>
              <a:uFillTx/>
              <a:latin typeface="Arial"/>
            </a:endParaRPr>
          </a:p>
          <a:p>
            <a:pPr marL="343080" indent="-343080" defTabSz="914400">
              <a:lnSpc>
                <a:spcPct val="100000"/>
              </a:lnSpc>
              <a:buClr>
                <a:srgbClr val="065a82"/>
              </a:buClr>
              <a:buFont typeface="Symbol" charset="2"/>
              <a:buChar char=""/>
            </a:pPr>
            <a:r>
              <a:rPr b="0" lang="fr-FR" sz="950" strike="noStrike" u="none">
                <a:solidFill>
                  <a:srgbClr val="065a82"/>
                </a:solidFill>
                <a:uFillTx/>
                <a:latin typeface="Calibri"/>
              </a:rPr>
              <a:t>Données jamais perdues</a:t>
            </a:r>
            <a:endParaRPr b="0" lang="fr-FR" sz="950" strike="noStrike" u="none">
              <a:solidFill>
                <a:srgbClr val="000000"/>
              </a:solidFill>
              <a:uFillTx/>
              <a:latin typeface="Arial"/>
            </a:endParaRPr>
          </a:p>
          <a:p>
            <a:pPr marL="343080" indent="-343080" defTabSz="914400">
              <a:lnSpc>
                <a:spcPct val="100000"/>
              </a:lnSpc>
              <a:buClr>
                <a:srgbClr val="065a82"/>
              </a:buClr>
              <a:buFont typeface="Symbol" charset="2"/>
              <a:buChar char=""/>
            </a:pPr>
            <a:r>
              <a:rPr b="0" lang="fr-FR" sz="950" strike="noStrike" u="none">
                <a:solidFill>
                  <a:srgbClr val="065a82"/>
                </a:solidFill>
                <a:uFillTx/>
                <a:latin typeface="Calibri"/>
              </a:rPr>
              <a:t>Historique 30 jours conservé</a:t>
            </a:r>
            <a:endParaRPr b="0" lang="fr-FR" sz="95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ff6ff"/>
        </a:solidFill>
      </p:bgPr>
    </p:bg>
    <p:spTree>
      <p:nvGrpSpPr>
        <p:cNvPr id="1" name=""/>
        <p:cNvGrpSpPr/>
        <p:nvPr/>
      </p:nvGrpSpPr>
      <p:grpSpPr>
        <a:xfrm>
          <a:off x="0" y="0"/>
          <a:ext cx="0" cy="0"/>
          <a:chOff x="0" y="0"/>
          <a:chExt cx="0" cy="0"/>
        </a:xfrm>
      </p:grpSpPr>
      <p:sp>
        <p:nvSpPr>
          <p:cNvPr id="164" name="Shape 0"/>
          <p:cNvSpPr/>
          <p:nvPr/>
        </p:nvSpPr>
        <p:spPr>
          <a:xfrm>
            <a:off x="0" y="0"/>
            <a:ext cx="9143640" cy="914040"/>
          </a:xfrm>
          <a:prstGeom prst="rect">
            <a:avLst/>
          </a:prstGeom>
          <a:solidFill>
            <a:srgbClr val="065a82"/>
          </a:solidFill>
          <a:ln w="12700">
            <a:solidFill>
              <a:srgbClr val="065a82"/>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165" name="Text 1"/>
          <p:cNvSpPr/>
          <p:nvPr/>
        </p:nvSpPr>
        <p:spPr>
          <a:xfrm>
            <a:off x="457200" y="0"/>
            <a:ext cx="8229240" cy="914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1800" spc="201" strike="noStrike" u="none">
                <a:solidFill>
                  <a:srgbClr val="00b4d8"/>
                </a:solidFill>
                <a:uFillTx/>
                <a:latin typeface="Calibri"/>
              </a:rPr>
              <a:t>03  </a:t>
            </a:r>
            <a:r>
              <a:rPr b="1" lang="fr-FR" sz="1800" spc="201" strike="noStrike" u="none">
                <a:solidFill>
                  <a:srgbClr val="ffffff"/>
                </a:solidFill>
                <a:uFillTx/>
                <a:latin typeface="Calibri"/>
              </a:rPr>
              <a:t>MÉTHODOLOGIE — Interface web locale</a:t>
            </a:r>
            <a:endParaRPr b="0" lang="fr-FR" sz="1800" strike="noStrike" u="none">
              <a:solidFill>
                <a:srgbClr val="000000"/>
              </a:solidFill>
              <a:uFillTx/>
              <a:latin typeface="Arial"/>
            </a:endParaRPr>
          </a:p>
        </p:txBody>
      </p:sp>
      <p:sp>
        <p:nvSpPr>
          <p:cNvPr id="166" name="Shape 2"/>
          <p:cNvSpPr/>
          <p:nvPr/>
        </p:nvSpPr>
        <p:spPr>
          <a:xfrm>
            <a:off x="2286000" y="1005840"/>
            <a:ext cx="4571640" cy="502560"/>
          </a:xfrm>
          <a:prstGeom prst="rect">
            <a:avLst/>
          </a:prstGeom>
          <a:solidFill>
            <a:srgbClr val="1c7293"/>
          </a:solidFill>
          <a:ln w="12700">
            <a:solidFill>
              <a:srgbClr val="1c7293"/>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167" name="Text 3"/>
          <p:cNvSpPr/>
          <p:nvPr/>
        </p:nvSpPr>
        <p:spPr>
          <a:xfrm>
            <a:off x="2286000" y="1005840"/>
            <a:ext cx="457164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900" strike="noStrike" u="none">
                <a:solidFill>
                  <a:srgbClr val="ffffff"/>
                </a:solidFill>
                <a:uFillTx/>
                <a:latin typeface="Calibri"/>
              </a:rPr>
              <a:t>📶 </a:t>
            </a:r>
            <a:r>
              <a:rPr b="1" lang="fr-FR" sz="900" strike="noStrike" u="none">
                <a:solidFill>
                  <a:srgbClr val="ffffff"/>
                </a:solidFill>
                <a:uFillTx/>
                <a:latin typeface="Calibri"/>
              </a:rPr>
              <a:t>ESP32 Access Point — SSID: Departageur — Aucun internet requis</a:t>
            </a:r>
            <a:endParaRPr b="0" lang="fr-FR" sz="900" strike="noStrike" u="none">
              <a:solidFill>
                <a:srgbClr val="000000"/>
              </a:solidFill>
              <a:uFillTx/>
              <a:latin typeface="Arial"/>
            </a:endParaRPr>
          </a:p>
        </p:txBody>
      </p:sp>
      <p:sp>
        <p:nvSpPr>
          <p:cNvPr id="168" name="Shape 4"/>
          <p:cNvSpPr/>
          <p:nvPr/>
        </p:nvSpPr>
        <p:spPr>
          <a:xfrm>
            <a:off x="365760" y="1645920"/>
            <a:ext cx="4205880" cy="3200040"/>
          </a:xfrm>
          <a:prstGeom prst="rect">
            <a:avLst/>
          </a:prstGeom>
          <a:solidFill>
            <a:srgbClr val="ffffff"/>
          </a:solidFill>
          <a:ln w="12700">
            <a:solidFill>
              <a:srgbClr val="d1e8f5"/>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fr-FR" sz="1800" strike="noStrike" u="none">
              <a:solidFill>
                <a:srgbClr val="000000"/>
              </a:solidFill>
              <a:uFillTx/>
              <a:latin typeface="Arial"/>
            </a:endParaRPr>
          </a:p>
        </p:txBody>
      </p:sp>
      <p:sp>
        <p:nvSpPr>
          <p:cNvPr id="169" name="Shape 5"/>
          <p:cNvSpPr/>
          <p:nvPr/>
        </p:nvSpPr>
        <p:spPr>
          <a:xfrm>
            <a:off x="365760" y="1645920"/>
            <a:ext cx="4205880" cy="502560"/>
          </a:xfrm>
          <a:prstGeom prst="rect">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uFillTx/>
              <a:latin typeface="Arial"/>
            </a:endParaRPr>
          </a:p>
        </p:txBody>
      </p:sp>
      <p:sp>
        <p:nvSpPr>
          <p:cNvPr id="170" name="Text 6"/>
          <p:cNvSpPr/>
          <p:nvPr/>
        </p:nvSpPr>
        <p:spPr>
          <a:xfrm>
            <a:off x="365760" y="1645920"/>
            <a:ext cx="420588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050" strike="noStrike" u="none">
                <a:solidFill>
                  <a:srgbClr val="ffffff"/>
                </a:solidFill>
                <a:uFillTx/>
                <a:latin typeface="Calibri"/>
              </a:rPr>
              <a:t>🔐 </a:t>
            </a:r>
            <a:r>
              <a:rPr b="1" lang="fr-FR" sz="1050" strike="noStrike" u="none">
                <a:solidFill>
                  <a:srgbClr val="ffffff"/>
                </a:solidFill>
                <a:uFillTx/>
                <a:latin typeface="Calibri"/>
              </a:rPr>
              <a:t>Bailleur — Accès sécurisé</a:t>
            </a:r>
            <a:endParaRPr b="0" lang="fr-FR" sz="1050" strike="noStrike" u="none">
              <a:solidFill>
                <a:srgbClr val="000000"/>
              </a:solidFill>
              <a:uFillTx/>
              <a:latin typeface="Arial"/>
            </a:endParaRPr>
          </a:p>
        </p:txBody>
      </p:sp>
      <p:sp>
        <p:nvSpPr>
          <p:cNvPr id="171" name="Text 7"/>
          <p:cNvSpPr/>
          <p:nvPr/>
        </p:nvSpPr>
        <p:spPr>
          <a:xfrm>
            <a:off x="457200" y="2194560"/>
            <a:ext cx="402300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fr-FR" sz="850" strike="noStrike" u="none">
                <a:solidFill>
                  <a:srgbClr val="64748b"/>
                </a:solidFill>
                <a:uFillTx/>
                <a:latin typeface="Calibri"/>
              </a:rPr>
              <a:t>Route : /admin</a:t>
            </a:r>
            <a:endParaRPr b="0" lang="fr-FR" sz="850" strike="noStrike" u="none">
              <a:solidFill>
                <a:srgbClr val="000000"/>
              </a:solidFill>
              <a:uFillTx/>
              <a:latin typeface="Arial"/>
            </a:endParaRPr>
          </a:p>
        </p:txBody>
      </p:sp>
      <p:sp>
        <p:nvSpPr>
          <p:cNvPr id="172" name="Text 8"/>
          <p:cNvSpPr/>
          <p:nvPr/>
        </p:nvSpPr>
        <p:spPr>
          <a:xfrm>
            <a:off x="457200" y="2514600"/>
            <a:ext cx="3931560" cy="2194200"/>
          </a:xfrm>
          <a:prstGeom prst="rect">
            <a:avLst/>
          </a:prstGeom>
          <a:noFill/>
          <a:ln w="0">
            <a:noFill/>
          </a:ln>
        </p:spPr>
        <p:style>
          <a:lnRef idx="0"/>
          <a:fillRef idx="0"/>
          <a:effectRef idx="0"/>
          <a:fontRef idx="minor"/>
        </p:style>
        <p:txBody>
          <a:bodyPr lIns="0" rIns="0" tIns="0" bIns="0" anchor="ctr">
            <a:noAutofit/>
          </a:bodyPr>
          <a:p>
            <a:pPr marL="343080" indent="-343080" defTabSz="914400">
              <a:lnSpc>
                <a:spcPct val="100000"/>
              </a:lnSpc>
              <a:buClr>
                <a:srgbClr val="065a82"/>
              </a:buClr>
              <a:buFont typeface="Symbol" charset="2"/>
              <a:buChar char=""/>
            </a:pPr>
            <a:r>
              <a:rPr b="0" lang="fr-FR" sz="950" strike="noStrike" u="none">
                <a:solidFill>
                  <a:srgbClr val="065a82"/>
                </a:solidFill>
                <a:uFillTx/>
                <a:latin typeface="Calibri"/>
              </a:rPr>
              <a:t>Mot de passe requis côté ESP32</a:t>
            </a:r>
            <a:endParaRPr b="0" lang="fr-FR" sz="950" strike="noStrike" u="none">
              <a:solidFill>
                <a:srgbClr val="000000"/>
              </a:solidFill>
              <a:uFillTx/>
              <a:latin typeface="Arial"/>
            </a:endParaRPr>
          </a:p>
          <a:p>
            <a:pPr marL="343080" indent="-343080" defTabSz="914400">
              <a:lnSpc>
                <a:spcPct val="100000"/>
              </a:lnSpc>
              <a:buClr>
                <a:srgbClr val="065a82"/>
              </a:buClr>
              <a:buFont typeface="Symbol" charset="2"/>
              <a:buChar char=""/>
            </a:pPr>
            <a:r>
              <a:rPr b="0" lang="fr-FR" sz="950" strike="noStrike" u="none">
                <a:solidFill>
                  <a:srgbClr val="065a82"/>
                </a:solidFill>
                <a:uFillTx/>
                <a:latin typeface="Calibri"/>
              </a:rPr>
              <a:t>Ajout du courqnt de locataire</a:t>
            </a:r>
            <a:endParaRPr b="0" lang="fr-FR" sz="950" strike="noStrike" u="none">
              <a:solidFill>
                <a:srgbClr val="000000"/>
              </a:solidFill>
              <a:uFillTx/>
              <a:latin typeface="Arial"/>
            </a:endParaRPr>
          </a:p>
          <a:p>
            <a:pPr marL="343080" indent="-343080" defTabSz="914400">
              <a:lnSpc>
                <a:spcPct val="100000"/>
              </a:lnSpc>
              <a:buClr>
                <a:srgbClr val="065a82"/>
              </a:buClr>
              <a:buFont typeface="Symbol" charset="2"/>
              <a:buChar char=""/>
            </a:pPr>
            <a:r>
              <a:rPr b="0" lang="fr-FR" sz="950" strike="noStrike" u="none">
                <a:solidFill>
                  <a:srgbClr val="065a82"/>
                </a:solidFill>
                <a:uFillTx/>
                <a:latin typeface="Calibri"/>
              </a:rPr>
              <a:t>Saisie crédit kWh par locataire</a:t>
            </a:r>
            <a:endParaRPr b="0" lang="fr-FR" sz="950" strike="noStrike" u="none">
              <a:solidFill>
                <a:srgbClr val="000000"/>
              </a:solidFill>
              <a:uFillTx/>
              <a:latin typeface="Arial"/>
            </a:endParaRPr>
          </a:p>
          <a:p>
            <a:pPr marL="343080" indent="-343080" defTabSz="914400">
              <a:lnSpc>
                <a:spcPct val="100000"/>
              </a:lnSpc>
              <a:buClr>
                <a:srgbClr val="065a82"/>
              </a:buClr>
              <a:buFont typeface="Symbol" charset="2"/>
              <a:buChar char=""/>
            </a:pPr>
            <a:r>
              <a:rPr b="0" lang="fr-FR" sz="950" strike="noStrike" u="none">
                <a:solidFill>
                  <a:srgbClr val="065a82"/>
                </a:solidFill>
                <a:uFillTx/>
                <a:latin typeface="Calibri"/>
              </a:rPr>
              <a:t>Date et heure de chaque recharge</a:t>
            </a:r>
            <a:endParaRPr b="0" lang="fr-FR" sz="950" strike="noStrike" u="none">
              <a:solidFill>
                <a:srgbClr val="000000"/>
              </a:solidFill>
              <a:uFillTx/>
              <a:latin typeface="Arial"/>
            </a:endParaRPr>
          </a:p>
          <a:p>
            <a:pPr marL="343080" indent="-343080" defTabSz="914400">
              <a:lnSpc>
                <a:spcPct val="100000"/>
              </a:lnSpc>
              <a:buClr>
                <a:srgbClr val="065a82"/>
              </a:buClr>
              <a:buFont typeface="Symbol" charset="2"/>
              <a:buChar char=""/>
            </a:pPr>
            <a:r>
              <a:rPr b="0" lang="fr-FR" sz="950" strike="noStrike" u="none">
                <a:solidFill>
                  <a:srgbClr val="065a82"/>
                </a:solidFill>
                <a:uFillTx/>
                <a:latin typeface="Calibri"/>
              </a:rPr>
              <a:t>Vue globale tous locataires</a:t>
            </a:r>
            <a:endParaRPr b="0" lang="fr-FR" sz="950" strike="noStrike" u="none">
              <a:solidFill>
                <a:srgbClr val="000000"/>
              </a:solidFill>
              <a:uFillTx/>
              <a:latin typeface="Arial"/>
            </a:endParaRPr>
          </a:p>
          <a:p>
            <a:pPr marL="343080" indent="-343080" defTabSz="914400">
              <a:lnSpc>
                <a:spcPct val="100000"/>
              </a:lnSpc>
              <a:buClr>
                <a:srgbClr val="065a82"/>
              </a:buClr>
              <a:buFont typeface="Symbol" charset="2"/>
              <a:buChar char=""/>
            </a:pPr>
            <a:r>
              <a:rPr b="0" lang="fr-FR" sz="950" strike="noStrike" u="none">
                <a:solidFill>
                  <a:srgbClr val="065a82"/>
                </a:solidFill>
                <a:uFillTx/>
                <a:latin typeface="Calibri"/>
              </a:rPr>
              <a:t>Coupure / rétablissement manuel</a:t>
            </a:r>
            <a:endParaRPr b="0" lang="fr-FR" sz="950" strike="noStrike" u="none">
              <a:solidFill>
                <a:srgbClr val="000000"/>
              </a:solidFill>
              <a:uFillTx/>
              <a:latin typeface="Arial"/>
            </a:endParaRPr>
          </a:p>
          <a:p>
            <a:pPr marL="343080" indent="-343080" defTabSz="914400">
              <a:lnSpc>
                <a:spcPct val="100000"/>
              </a:lnSpc>
              <a:buClr>
                <a:srgbClr val="065a82"/>
              </a:buClr>
              <a:buFont typeface="Symbol" charset="2"/>
              <a:buChar char=""/>
            </a:pPr>
            <a:r>
              <a:rPr b="0" lang="fr-FR" sz="950" strike="noStrike" u="none">
                <a:solidFill>
                  <a:srgbClr val="065a82"/>
                </a:solidFill>
                <a:uFillTx/>
                <a:latin typeface="Calibri"/>
              </a:rPr>
              <a:t>Configuration du système</a:t>
            </a:r>
            <a:endParaRPr b="0" lang="fr-FR" sz="950" strike="noStrike" u="none">
              <a:solidFill>
                <a:srgbClr val="000000"/>
              </a:solidFill>
              <a:uFillTx/>
              <a:latin typeface="Arial"/>
            </a:endParaRPr>
          </a:p>
        </p:txBody>
      </p:sp>
      <p:sp>
        <p:nvSpPr>
          <p:cNvPr id="173" name="Shape 9"/>
          <p:cNvSpPr/>
          <p:nvPr/>
        </p:nvSpPr>
        <p:spPr>
          <a:xfrm>
            <a:off x="4937760" y="1645920"/>
            <a:ext cx="4205880" cy="3200040"/>
          </a:xfrm>
          <a:prstGeom prst="rect">
            <a:avLst/>
          </a:prstGeom>
          <a:solidFill>
            <a:srgbClr val="ffffff"/>
          </a:solidFill>
          <a:ln w="12700">
            <a:solidFill>
              <a:srgbClr val="d1e8f5"/>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fr-FR" sz="1800" strike="noStrike" u="none">
              <a:solidFill>
                <a:srgbClr val="000000"/>
              </a:solidFill>
              <a:uFillTx/>
              <a:latin typeface="Arial"/>
            </a:endParaRPr>
          </a:p>
        </p:txBody>
      </p:sp>
      <p:sp>
        <p:nvSpPr>
          <p:cNvPr id="174" name="Shape 10"/>
          <p:cNvSpPr/>
          <p:nvPr/>
        </p:nvSpPr>
        <p:spPr>
          <a:xfrm>
            <a:off x="4937760" y="1645920"/>
            <a:ext cx="4205880" cy="502560"/>
          </a:xfrm>
          <a:prstGeom prst="rect">
            <a:avLst/>
          </a:prstGeom>
          <a:solidFill>
            <a:srgbClr val="10b981"/>
          </a:solidFill>
          <a:ln w="12700">
            <a:solidFill>
              <a:srgbClr val="10b981"/>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175" name="Text 11"/>
          <p:cNvSpPr/>
          <p:nvPr/>
        </p:nvSpPr>
        <p:spPr>
          <a:xfrm>
            <a:off x="4937760" y="1645920"/>
            <a:ext cx="420588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050" strike="noStrike" u="none">
                <a:solidFill>
                  <a:srgbClr val="ffffff"/>
                </a:solidFill>
                <a:uFillTx/>
                <a:latin typeface="Calibri"/>
              </a:rPr>
              <a:t>👁 </a:t>
            </a:r>
            <a:r>
              <a:rPr b="1" lang="fr-FR" sz="1050" strike="noStrike" u="none">
                <a:solidFill>
                  <a:srgbClr val="ffffff"/>
                </a:solidFill>
                <a:uFillTx/>
                <a:latin typeface="Calibri"/>
              </a:rPr>
              <a:t>Locataires — Lecture seule</a:t>
            </a:r>
            <a:endParaRPr b="0" lang="fr-FR" sz="1050" strike="noStrike" u="none">
              <a:solidFill>
                <a:srgbClr val="000000"/>
              </a:solidFill>
              <a:uFillTx/>
              <a:latin typeface="Arial"/>
            </a:endParaRPr>
          </a:p>
        </p:txBody>
      </p:sp>
      <p:sp>
        <p:nvSpPr>
          <p:cNvPr id="176" name="Text 12"/>
          <p:cNvSpPr/>
          <p:nvPr/>
        </p:nvSpPr>
        <p:spPr>
          <a:xfrm>
            <a:off x="5029200" y="2194560"/>
            <a:ext cx="402300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fr-FR" sz="850" strike="noStrike" u="none">
                <a:solidFill>
                  <a:srgbClr val="64748b"/>
                </a:solidFill>
                <a:uFillTx/>
                <a:latin typeface="Calibri"/>
              </a:rPr>
              <a:t>Route : /L1 à /L7</a:t>
            </a:r>
            <a:endParaRPr b="0" lang="fr-FR" sz="850" strike="noStrike" u="none">
              <a:solidFill>
                <a:srgbClr val="000000"/>
              </a:solidFill>
              <a:uFillTx/>
              <a:latin typeface="Arial"/>
            </a:endParaRPr>
          </a:p>
        </p:txBody>
      </p:sp>
      <p:sp>
        <p:nvSpPr>
          <p:cNvPr id="177" name="Text 13"/>
          <p:cNvSpPr/>
          <p:nvPr/>
        </p:nvSpPr>
        <p:spPr>
          <a:xfrm>
            <a:off x="5029200" y="2514600"/>
            <a:ext cx="3931560" cy="2194200"/>
          </a:xfrm>
          <a:prstGeom prst="rect">
            <a:avLst/>
          </a:prstGeom>
          <a:noFill/>
          <a:ln w="0">
            <a:noFill/>
          </a:ln>
        </p:spPr>
        <p:style>
          <a:lnRef idx="0"/>
          <a:fillRef idx="0"/>
          <a:effectRef idx="0"/>
          <a:fontRef idx="minor"/>
        </p:style>
        <p:txBody>
          <a:bodyPr lIns="0" rIns="0" tIns="0" bIns="0" anchor="ctr">
            <a:noAutofit/>
          </a:bodyPr>
          <a:p>
            <a:pPr marL="343080" indent="-343080" defTabSz="914400">
              <a:lnSpc>
                <a:spcPct val="100000"/>
              </a:lnSpc>
              <a:buClr>
                <a:srgbClr val="065a82"/>
              </a:buClr>
              <a:buFont typeface="Symbol" charset="2"/>
              <a:buChar char=""/>
            </a:pPr>
            <a:r>
              <a:rPr b="0" lang="fr-FR" sz="950" strike="noStrike" u="none">
                <a:solidFill>
                  <a:srgbClr val="065a82"/>
                </a:solidFill>
                <a:uFillTx/>
                <a:latin typeface="Calibri"/>
              </a:rPr>
              <a:t>Crédit restant en kWh — temps réel</a:t>
            </a:r>
            <a:endParaRPr b="0" lang="fr-FR" sz="950" strike="noStrike" u="none">
              <a:solidFill>
                <a:srgbClr val="000000"/>
              </a:solidFill>
              <a:uFillTx/>
              <a:latin typeface="Arial"/>
            </a:endParaRPr>
          </a:p>
          <a:p>
            <a:pPr marL="343080" indent="-343080" defTabSz="914400">
              <a:lnSpc>
                <a:spcPct val="100000"/>
              </a:lnSpc>
              <a:buClr>
                <a:srgbClr val="065a82"/>
              </a:buClr>
              <a:buFont typeface="Symbol" charset="2"/>
              <a:buChar char=""/>
            </a:pPr>
            <a:r>
              <a:rPr b="0" lang="fr-FR" sz="950" strike="noStrike" u="none">
                <a:solidFill>
                  <a:srgbClr val="065a82"/>
                </a:solidFill>
                <a:uFillTx/>
                <a:latin typeface="Calibri"/>
              </a:rPr>
              <a:t>Consommation actuelle (Watts)</a:t>
            </a:r>
            <a:endParaRPr b="0" lang="fr-FR" sz="950" strike="noStrike" u="none">
              <a:solidFill>
                <a:srgbClr val="000000"/>
              </a:solidFill>
              <a:uFillTx/>
              <a:latin typeface="Arial"/>
            </a:endParaRPr>
          </a:p>
          <a:p>
            <a:pPr marL="343080" indent="-343080" defTabSz="914400">
              <a:lnSpc>
                <a:spcPct val="100000"/>
              </a:lnSpc>
              <a:buClr>
                <a:srgbClr val="065a82"/>
              </a:buClr>
              <a:buFont typeface="Symbol" charset="2"/>
              <a:buChar char=""/>
            </a:pPr>
            <a:r>
              <a:rPr b="0" lang="fr-FR" sz="950" strike="noStrike" u="none">
                <a:solidFill>
                  <a:srgbClr val="065a82"/>
                </a:solidFill>
                <a:uFillTx/>
                <a:latin typeface="Calibri"/>
              </a:rPr>
              <a:t>Conversion kwh restant-monnaie visuelle</a:t>
            </a:r>
            <a:endParaRPr b="0" lang="fr-FR" sz="950" strike="noStrike" u="none">
              <a:solidFill>
                <a:srgbClr val="000000"/>
              </a:solidFill>
              <a:uFillTx/>
              <a:latin typeface="Arial"/>
            </a:endParaRPr>
          </a:p>
          <a:p>
            <a:pPr marL="343080" indent="-343080" defTabSz="914400">
              <a:lnSpc>
                <a:spcPct val="100000"/>
              </a:lnSpc>
              <a:buClr>
                <a:srgbClr val="065a82"/>
              </a:buClr>
              <a:buFont typeface="Symbol" charset="2"/>
              <a:buChar char=""/>
            </a:pPr>
            <a:r>
              <a:rPr b="0" lang="fr-FR" sz="950" strike="noStrike" u="none">
                <a:solidFill>
                  <a:srgbClr val="065a82"/>
                </a:solidFill>
                <a:uFillTx/>
                <a:latin typeface="Calibri"/>
              </a:rPr>
              <a:t>Historique recharges avec dates</a:t>
            </a:r>
            <a:endParaRPr b="0" lang="fr-FR" sz="950" strike="noStrike" u="none">
              <a:solidFill>
                <a:srgbClr val="000000"/>
              </a:solidFill>
              <a:uFillTx/>
              <a:latin typeface="Arial"/>
            </a:endParaRPr>
          </a:p>
          <a:p>
            <a:pPr marL="343080" indent="-343080" defTabSz="914400">
              <a:lnSpc>
                <a:spcPct val="100000"/>
              </a:lnSpc>
              <a:buClr>
                <a:srgbClr val="065a82"/>
              </a:buClr>
              <a:buFont typeface="Symbol" charset="2"/>
              <a:buChar char=""/>
            </a:pPr>
            <a:r>
              <a:rPr b="0" lang="fr-FR" sz="950" strike="noStrike" u="none">
                <a:solidFill>
                  <a:srgbClr val="065a82"/>
                </a:solidFill>
                <a:uFillTx/>
                <a:latin typeface="Calibri"/>
              </a:rPr>
              <a:t>Peut comparer avec facture bailleur</a:t>
            </a:r>
            <a:endParaRPr b="0" lang="fr-FR" sz="950" strike="noStrike" u="none">
              <a:solidFill>
                <a:srgbClr val="000000"/>
              </a:solidFill>
              <a:uFillTx/>
              <a:latin typeface="Arial"/>
            </a:endParaRPr>
          </a:p>
          <a:p>
            <a:pPr marL="343080" indent="-343080" defTabSz="914400">
              <a:lnSpc>
                <a:spcPct val="100000"/>
              </a:lnSpc>
              <a:buClr>
                <a:srgbClr val="065a82"/>
              </a:buClr>
              <a:buFont typeface="Symbol" charset="2"/>
              <a:buChar char=""/>
            </a:pPr>
            <a:r>
              <a:rPr b="0" lang="fr-FR" sz="950" strike="noStrike" u="none">
                <a:solidFill>
                  <a:srgbClr val="065a82"/>
                </a:solidFill>
                <a:uFillTx/>
                <a:latin typeface="Calibri"/>
              </a:rPr>
              <a:t>Alerte crédit faible automatique</a:t>
            </a:r>
            <a:endParaRPr b="0" lang="fr-FR" sz="950" strike="noStrike" u="none">
              <a:solidFill>
                <a:srgbClr val="000000"/>
              </a:solidFill>
              <a:uFillTx/>
              <a:latin typeface="Arial"/>
            </a:endParaRPr>
          </a:p>
          <a:p>
            <a:pPr marL="343080" indent="-343080" defTabSz="914400">
              <a:lnSpc>
                <a:spcPct val="100000"/>
              </a:lnSpc>
              <a:buClr>
                <a:srgbClr val="065a82"/>
              </a:buClr>
              <a:buFont typeface="Symbol" charset="2"/>
              <a:buChar char=""/>
            </a:pPr>
            <a:r>
              <a:rPr b="0" lang="fr-FR" sz="950" strike="noStrike" u="none">
                <a:solidFill>
                  <a:srgbClr val="065a82"/>
                </a:solidFill>
                <a:uFillTx/>
                <a:latin typeface="Calibri"/>
              </a:rPr>
              <a:t>Historique jour / semaine / mois</a:t>
            </a:r>
            <a:endParaRPr b="0" lang="fr-FR" sz="950" strike="noStrike" u="none">
              <a:solidFill>
                <a:srgbClr val="000000"/>
              </a:solidFill>
              <a:uFillTx/>
              <a:latin typeface="Arial"/>
            </a:endParaRPr>
          </a:p>
        </p:txBody>
      </p:sp>
      <p:sp>
        <p:nvSpPr>
          <p:cNvPr id="178" name="Shape 14"/>
          <p:cNvSpPr/>
          <p:nvPr/>
        </p:nvSpPr>
        <p:spPr>
          <a:xfrm>
            <a:off x="365760" y="4663440"/>
            <a:ext cx="8412120" cy="319680"/>
          </a:xfrm>
          <a:prstGeom prst="rect">
            <a:avLst/>
          </a:prstGeom>
          <a:solidFill>
            <a:srgbClr val="eff6ff"/>
          </a:solidFill>
          <a:ln w="12700">
            <a:solidFill>
              <a:srgbClr val="1c7293"/>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uFillTx/>
              <a:latin typeface="Arial"/>
            </a:endParaRPr>
          </a:p>
        </p:txBody>
      </p:sp>
      <p:sp>
        <p:nvSpPr>
          <p:cNvPr id="179" name="Text 15"/>
          <p:cNvSpPr/>
          <p:nvPr/>
        </p:nvSpPr>
        <p:spPr>
          <a:xfrm>
            <a:off x="457200" y="4663440"/>
            <a:ext cx="82292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fr-FR" sz="800" strike="noStrike" u="none">
                <a:solidFill>
                  <a:srgbClr val="065a82"/>
                </a:solidFill>
                <a:uFillTx/>
                <a:latin typeface="Calibri"/>
              </a:rPr>
              <a:t>🔒 </a:t>
            </a:r>
            <a:r>
              <a:rPr b="0" i="1" lang="fr-FR" sz="800" strike="noStrike" u="none">
                <a:solidFill>
                  <a:srgbClr val="065a82"/>
                </a:solidFill>
                <a:uFillTx/>
                <a:latin typeface="Calibri"/>
              </a:rPr>
              <a:t>Sécurité : vérification mot de passe côté ESP32 (pas en JavaScript) — Reset physique si oublié — Boîtier fermé à clé</a:t>
            </a:r>
            <a:endParaRPr b="0" lang="fr-FR" sz="8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ff6ff"/>
        </a:solidFill>
      </p:bgPr>
    </p:bg>
    <p:spTree>
      <p:nvGrpSpPr>
        <p:cNvPr id="1" name=""/>
        <p:cNvGrpSpPr/>
        <p:nvPr/>
      </p:nvGrpSpPr>
      <p:grpSpPr>
        <a:xfrm>
          <a:off x="0" y="0"/>
          <a:ext cx="0" cy="0"/>
          <a:chOff x="0" y="0"/>
          <a:chExt cx="0" cy="0"/>
        </a:xfrm>
      </p:grpSpPr>
      <p:sp>
        <p:nvSpPr>
          <p:cNvPr id="180" name="Shape 0"/>
          <p:cNvSpPr/>
          <p:nvPr/>
        </p:nvSpPr>
        <p:spPr>
          <a:xfrm>
            <a:off x="0" y="0"/>
            <a:ext cx="9143640" cy="914040"/>
          </a:xfrm>
          <a:prstGeom prst="rect">
            <a:avLst/>
          </a:prstGeom>
          <a:solidFill>
            <a:srgbClr val="065a82"/>
          </a:solidFill>
          <a:ln w="12700">
            <a:solidFill>
              <a:srgbClr val="065a82"/>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181" name="Text 1"/>
          <p:cNvSpPr/>
          <p:nvPr/>
        </p:nvSpPr>
        <p:spPr>
          <a:xfrm>
            <a:off x="457200" y="0"/>
            <a:ext cx="8229240" cy="914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2000" spc="201" strike="noStrike" u="none">
                <a:solidFill>
                  <a:srgbClr val="00b4d8"/>
                </a:solidFill>
                <a:uFillTx/>
                <a:latin typeface="Calibri"/>
              </a:rPr>
              <a:t>04  </a:t>
            </a:r>
            <a:r>
              <a:rPr b="1" lang="fr-FR" sz="2000" spc="201" strike="noStrike" u="none">
                <a:solidFill>
                  <a:srgbClr val="ffffff"/>
                </a:solidFill>
                <a:uFillTx/>
                <a:latin typeface="Calibri"/>
              </a:rPr>
              <a:t>RÉSULTATS ATTENDUS</a:t>
            </a:r>
            <a:endParaRPr b="0" lang="fr-FR" sz="2000" strike="noStrike" u="none">
              <a:solidFill>
                <a:srgbClr val="000000"/>
              </a:solidFill>
              <a:uFillTx/>
              <a:latin typeface="Arial"/>
            </a:endParaRPr>
          </a:p>
        </p:txBody>
      </p:sp>
      <p:sp>
        <p:nvSpPr>
          <p:cNvPr id="182" name="Shape 2"/>
          <p:cNvSpPr/>
          <p:nvPr/>
        </p:nvSpPr>
        <p:spPr>
          <a:xfrm>
            <a:off x="274320" y="1005840"/>
            <a:ext cx="4023000" cy="3474360"/>
          </a:xfrm>
          <a:prstGeom prst="rect">
            <a:avLst/>
          </a:prstGeom>
          <a:solidFill>
            <a:srgbClr val="fff5f5"/>
          </a:solidFill>
          <a:ln w="12700">
            <a:solidFill>
              <a:srgbClr val="ef4444"/>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uFillTx/>
              <a:latin typeface="Arial"/>
            </a:endParaRPr>
          </a:p>
        </p:txBody>
      </p:sp>
      <p:sp>
        <p:nvSpPr>
          <p:cNvPr id="183" name="Shape 3"/>
          <p:cNvSpPr/>
          <p:nvPr/>
        </p:nvSpPr>
        <p:spPr>
          <a:xfrm>
            <a:off x="274320" y="1005840"/>
            <a:ext cx="4023000" cy="411120"/>
          </a:xfrm>
          <a:prstGeom prst="rect">
            <a:avLst/>
          </a:prstGeom>
          <a:solidFill>
            <a:srgbClr val="ef4444"/>
          </a:solidFill>
          <a:ln w="12700">
            <a:solidFill>
              <a:srgbClr val="ef4444"/>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184" name="Text 4"/>
          <p:cNvSpPr/>
          <p:nvPr/>
        </p:nvSpPr>
        <p:spPr>
          <a:xfrm>
            <a:off x="274320" y="1005840"/>
            <a:ext cx="402300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000" strike="noStrike" u="none">
                <a:solidFill>
                  <a:srgbClr val="ffffff"/>
                </a:solidFill>
                <a:uFillTx/>
                <a:latin typeface="Calibri"/>
              </a:rPr>
              <a:t>❌ </a:t>
            </a:r>
            <a:r>
              <a:rPr b="1" lang="fr-FR" sz="1000" strike="noStrike" u="none">
                <a:solidFill>
                  <a:srgbClr val="ffffff"/>
                </a:solidFill>
                <a:uFillTx/>
                <a:latin typeface="Calibri"/>
              </a:rPr>
              <a:t>AVANT — Situation actuelle</a:t>
            </a:r>
            <a:endParaRPr b="0" lang="fr-FR" sz="1000" strike="noStrike" u="none">
              <a:solidFill>
                <a:srgbClr val="000000"/>
              </a:solidFill>
              <a:uFillTx/>
              <a:latin typeface="Arial"/>
            </a:endParaRPr>
          </a:p>
        </p:txBody>
      </p:sp>
      <p:sp>
        <p:nvSpPr>
          <p:cNvPr id="185" name="Text 5"/>
          <p:cNvSpPr/>
          <p:nvPr/>
        </p:nvSpPr>
        <p:spPr>
          <a:xfrm>
            <a:off x="457200" y="1508760"/>
            <a:ext cx="3565800" cy="2834280"/>
          </a:xfrm>
          <a:prstGeom prst="rect">
            <a:avLst/>
          </a:prstGeom>
          <a:noFill/>
          <a:ln w="0">
            <a:noFill/>
          </a:ln>
        </p:spPr>
        <p:style>
          <a:lnRef idx="0"/>
          <a:fillRef idx="0"/>
          <a:effectRef idx="0"/>
          <a:fontRef idx="minor"/>
        </p:style>
        <p:txBody>
          <a:bodyPr lIns="0" rIns="0" tIns="0" bIns="0" anchor="ctr">
            <a:noAutofit/>
          </a:bodyPr>
          <a:p>
            <a:pPr marL="343080" indent="-343080" defTabSz="914400">
              <a:lnSpc>
                <a:spcPct val="100000"/>
              </a:lnSpc>
              <a:buClr>
                <a:srgbClr val="065a82"/>
              </a:buClr>
              <a:buFont typeface="Symbol" charset="2"/>
              <a:buChar char=""/>
            </a:pPr>
            <a:r>
              <a:rPr b="0" lang="fr-FR" sz="1000" strike="noStrike" u="none">
                <a:solidFill>
                  <a:srgbClr val="065a82"/>
                </a:solidFill>
                <a:uFillTx/>
                <a:latin typeface="Calibri"/>
              </a:rPr>
              <a:t>Bailleur consomme sans être mesuré</a:t>
            </a:r>
            <a:endParaRPr b="0" lang="fr-FR" sz="1000" strike="noStrike" u="none">
              <a:solidFill>
                <a:srgbClr val="000000"/>
              </a:solidFill>
              <a:uFillTx/>
              <a:latin typeface="Arial"/>
            </a:endParaRPr>
          </a:p>
          <a:p>
            <a:pPr marL="343080" indent="-343080" defTabSz="914400">
              <a:lnSpc>
                <a:spcPct val="100000"/>
              </a:lnSpc>
              <a:buClr>
                <a:srgbClr val="065a82"/>
              </a:buClr>
              <a:buFont typeface="Symbol" charset="2"/>
              <a:buChar char=""/>
            </a:pPr>
            <a:r>
              <a:rPr b="0" lang="fr-FR" sz="1000" strike="noStrike" u="none">
                <a:solidFill>
                  <a:srgbClr val="065a82"/>
                </a:solidFill>
                <a:uFillTx/>
                <a:latin typeface="Calibri"/>
              </a:rPr>
              <a:t>Aucune transparence sur la consommation</a:t>
            </a:r>
            <a:endParaRPr b="0" lang="fr-FR" sz="1000" strike="noStrike" u="none">
              <a:solidFill>
                <a:srgbClr val="000000"/>
              </a:solidFill>
              <a:uFillTx/>
              <a:latin typeface="Arial"/>
            </a:endParaRPr>
          </a:p>
          <a:p>
            <a:pPr marL="343080" indent="-343080" defTabSz="914400">
              <a:lnSpc>
                <a:spcPct val="100000"/>
              </a:lnSpc>
              <a:buClr>
                <a:srgbClr val="065a82"/>
              </a:buClr>
              <a:buFont typeface="Symbol" charset="2"/>
              <a:buChar char=""/>
            </a:pPr>
            <a:r>
              <a:rPr b="0" lang="fr-FR" sz="1000" strike="noStrike" u="none">
                <a:solidFill>
                  <a:srgbClr val="065a82"/>
                </a:solidFill>
                <a:uFillTx/>
                <a:latin typeface="Calibri"/>
              </a:rPr>
              <a:t>Coupure manuelle par le bailleur uniquement</a:t>
            </a:r>
            <a:endParaRPr b="0" lang="fr-FR" sz="1000" strike="noStrike" u="none">
              <a:solidFill>
                <a:srgbClr val="000000"/>
              </a:solidFill>
              <a:uFillTx/>
              <a:latin typeface="Arial"/>
            </a:endParaRPr>
          </a:p>
          <a:p>
            <a:pPr marL="343080" indent="-343080" defTabSz="914400">
              <a:lnSpc>
                <a:spcPct val="100000"/>
              </a:lnSpc>
              <a:buClr>
                <a:srgbClr val="065a82"/>
              </a:buClr>
              <a:buFont typeface="Symbol" charset="2"/>
              <a:buChar char=""/>
            </a:pPr>
            <a:r>
              <a:rPr b="0" lang="fr-FR" sz="1000" strike="noStrike" u="none">
                <a:solidFill>
                  <a:srgbClr val="065a82"/>
                </a:solidFill>
                <a:uFillTx/>
                <a:latin typeface="Calibri"/>
              </a:rPr>
              <a:t>Conflits récurrents non résolus</a:t>
            </a:r>
            <a:endParaRPr b="0" lang="fr-FR" sz="1000" strike="noStrike" u="none">
              <a:solidFill>
                <a:srgbClr val="000000"/>
              </a:solidFill>
              <a:uFillTx/>
              <a:latin typeface="Arial"/>
            </a:endParaRPr>
          </a:p>
          <a:p>
            <a:pPr marL="343080" indent="-343080" defTabSz="914400">
              <a:lnSpc>
                <a:spcPct val="100000"/>
              </a:lnSpc>
              <a:buClr>
                <a:srgbClr val="065a82"/>
              </a:buClr>
              <a:buFont typeface="Symbol" charset="2"/>
              <a:buChar char=""/>
            </a:pPr>
            <a:r>
              <a:rPr b="0" lang="fr-FR" sz="1000" strike="noStrike" u="none">
                <a:solidFill>
                  <a:srgbClr val="065a82"/>
                </a:solidFill>
                <a:uFillTx/>
                <a:latin typeface="Calibri"/>
              </a:rPr>
              <a:t>Sous-compteur $15 sans coupure auto</a:t>
            </a:r>
            <a:endParaRPr b="0" lang="fr-FR" sz="1000" strike="noStrike" u="none">
              <a:solidFill>
                <a:srgbClr val="000000"/>
              </a:solidFill>
              <a:uFillTx/>
              <a:latin typeface="Arial"/>
            </a:endParaRPr>
          </a:p>
          <a:p>
            <a:pPr marL="343080" indent="-343080" defTabSz="914400">
              <a:lnSpc>
                <a:spcPct val="100000"/>
              </a:lnSpc>
              <a:buClr>
                <a:srgbClr val="065a82"/>
              </a:buClr>
              <a:buFont typeface="Symbol" charset="2"/>
              <a:buChar char=""/>
            </a:pPr>
            <a:r>
              <a:rPr b="0" lang="fr-FR" sz="1000" strike="noStrike" u="none">
                <a:solidFill>
                  <a:srgbClr val="065a82"/>
                </a:solidFill>
                <a:uFillTx/>
                <a:latin typeface="Calibri"/>
              </a:rPr>
              <a:t>Locataire ne peut pas vérifier sa consommation</a:t>
            </a:r>
            <a:endParaRPr b="0" lang="fr-FR" sz="1000" strike="noStrike" u="none">
              <a:solidFill>
                <a:srgbClr val="000000"/>
              </a:solidFill>
              <a:uFillTx/>
              <a:latin typeface="Arial"/>
            </a:endParaRPr>
          </a:p>
        </p:txBody>
      </p:sp>
      <p:sp>
        <p:nvSpPr>
          <p:cNvPr id="186" name="Shape 6"/>
          <p:cNvSpPr/>
          <p:nvPr/>
        </p:nvSpPr>
        <p:spPr>
          <a:xfrm>
            <a:off x="4846320" y="1005840"/>
            <a:ext cx="4023000" cy="3474360"/>
          </a:xfrm>
          <a:prstGeom prst="rect">
            <a:avLst/>
          </a:prstGeom>
          <a:solidFill>
            <a:srgbClr val="f0fff4"/>
          </a:solidFill>
          <a:ln w="12700">
            <a:solidFill>
              <a:srgbClr val="10b981"/>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uFillTx/>
              <a:latin typeface="Arial"/>
            </a:endParaRPr>
          </a:p>
        </p:txBody>
      </p:sp>
      <p:sp>
        <p:nvSpPr>
          <p:cNvPr id="187" name="Shape 7"/>
          <p:cNvSpPr/>
          <p:nvPr/>
        </p:nvSpPr>
        <p:spPr>
          <a:xfrm>
            <a:off x="4846320" y="1005840"/>
            <a:ext cx="4023000" cy="411120"/>
          </a:xfrm>
          <a:prstGeom prst="rect">
            <a:avLst/>
          </a:prstGeom>
          <a:solidFill>
            <a:srgbClr val="10b981"/>
          </a:solidFill>
          <a:ln w="12700">
            <a:solidFill>
              <a:srgbClr val="10b981"/>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188" name="Text 8"/>
          <p:cNvSpPr/>
          <p:nvPr/>
        </p:nvSpPr>
        <p:spPr>
          <a:xfrm>
            <a:off x="4846320" y="1005840"/>
            <a:ext cx="402300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000" strike="noStrike" u="none">
                <a:solidFill>
                  <a:srgbClr val="ffffff"/>
                </a:solidFill>
                <a:uFillTx/>
                <a:latin typeface="Calibri"/>
              </a:rPr>
              <a:t>✅ </a:t>
            </a:r>
            <a:r>
              <a:rPr b="1" lang="fr-FR" sz="1000" strike="noStrike" u="none">
                <a:solidFill>
                  <a:srgbClr val="ffffff"/>
                </a:solidFill>
                <a:uFillTx/>
                <a:latin typeface="Calibri"/>
              </a:rPr>
              <a:t>APRÈS — Avec le système</a:t>
            </a:r>
            <a:endParaRPr b="0" lang="fr-FR" sz="1000" strike="noStrike" u="none">
              <a:solidFill>
                <a:srgbClr val="000000"/>
              </a:solidFill>
              <a:uFillTx/>
              <a:latin typeface="Arial"/>
            </a:endParaRPr>
          </a:p>
        </p:txBody>
      </p:sp>
      <p:sp>
        <p:nvSpPr>
          <p:cNvPr id="189" name="Text 9"/>
          <p:cNvSpPr/>
          <p:nvPr/>
        </p:nvSpPr>
        <p:spPr>
          <a:xfrm>
            <a:off x="5029200" y="1508760"/>
            <a:ext cx="3565800" cy="2834280"/>
          </a:xfrm>
          <a:prstGeom prst="rect">
            <a:avLst/>
          </a:prstGeom>
          <a:noFill/>
          <a:ln w="0">
            <a:noFill/>
          </a:ln>
        </p:spPr>
        <p:style>
          <a:lnRef idx="0"/>
          <a:fillRef idx="0"/>
          <a:effectRef idx="0"/>
          <a:fontRef idx="minor"/>
        </p:style>
        <p:txBody>
          <a:bodyPr lIns="0" rIns="0" tIns="0" bIns="0" anchor="ctr">
            <a:noAutofit/>
          </a:bodyPr>
          <a:p>
            <a:pPr marL="343080" indent="-343080" defTabSz="914400">
              <a:lnSpc>
                <a:spcPct val="100000"/>
              </a:lnSpc>
              <a:buClr>
                <a:srgbClr val="065a82"/>
              </a:buClr>
              <a:buFont typeface="Symbol" charset="2"/>
              <a:buChar char=""/>
            </a:pPr>
            <a:r>
              <a:rPr b="0" lang="fr-FR" sz="1000" strike="noStrike" u="none">
                <a:solidFill>
                  <a:srgbClr val="065a82"/>
                </a:solidFill>
                <a:uFillTx/>
                <a:latin typeface="Calibri"/>
              </a:rPr>
              <a:t>Chaque consommation mesurée individuellement</a:t>
            </a:r>
            <a:endParaRPr b="0" lang="fr-FR" sz="1000" strike="noStrike" u="none">
              <a:solidFill>
                <a:srgbClr val="000000"/>
              </a:solidFill>
              <a:uFillTx/>
              <a:latin typeface="Arial"/>
            </a:endParaRPr>
          </a:p>
          <a:p>
            <a:pPr marL="343080" indent="-343080" defTabSz="914400">
              <a:lnSpc>
                <a:spcPct val="100000"/>
              </a:lnSpc>
              <a:buClr>
                <a:srgbClr val="065a82"/>
              </a:buClr>
              <a:buFont typeface="Symbol" charset="2"/>
              <a:buChar char=""/>
            </a:pPr>
            <a:r>
              <a:rPr b="0" lang="fr-FR" sz="1000" strike="noStrike" u="none">
                <a:solidFill>
                  <a:srgbClr val="065a82"/>
                </a:solidFill>
                <a:uFillTx/>
                <a:latin typeface="Calibri"/>
              </a:rPr>
              <a:t>Interface web — historique transparent</a:t>
            </a:r>
            <a:endParaRPr b="0" lang="fr-FR" sz="1000" strike="noStrike" u="none">
              <a:solidFill>
                <a:srgbClr val="000000"/>
              </a:solidFill>
              <a:uFillTx/>
              <a:latin typeface="Arial"/>
            </a:endParaRPr>
          </a:p>
          <a:p>
            <a:pPr marL="343080" indent="-343080" defTabSz="914400">
              <a:lnSpc>
                <a:spcPct val="100000"/>
              </a:lnSpc>
              <a:buClr>
                <a:srgbClr val="065a82"/>
              </a:buClr>
              <a:buFont typeface="Symbol" charset="2"/>
              <a:buChar char=""/>
            </a:pPr>
            <a:r>
              <a:rPr b="0" lang="fr-FR" sz="1000" strike="noStrike" u="none">
                <a:solidFill>
                  <a:srgbClr val="065a82"/>
                </a:solidFill>
                <a:uFillTx/>
                <a:latin typeface="Calibri"/>
              </a:rPr>
              <a:t>Coupure automatique au dépassement du crédit</a:t>
            </a:r>
            <a:endParaRPr b="0" lang="fr-FR" sz="1000" strike="noStrike" u="none">
              <a:solidFill>
                <a:srgbClr val="000000"/>
              </a:solidFill>
              <a:uFillTx/>
              <a:latin typeface="Arial"/>
            </a:endParaRPr>
          </a:p>
          <a:p>
            <a:pPr marL="343080" indent="-343080" defTabSz="914400">
              <a:lnSpc>
                <a:spcPct val="100000"/>
              </a:lnSpc>
              <a:buClr>
                <a:srgbClr val="065a82"/>
              </a:buClr>
              <a:buFont typeface="Symbol" charset="2"/>
              <a:buChar char=""/>
            </a:pPr>
            <a:r>
              <a:rPr b="0" lang="fr-FR" sz="1000" strike="noStrike" u="none">
                <a:solidFill>
                  <a:srgbClr val="065a82"/>
                </a:solidFill>
                <a:uFillTx/>
                <a:latin typeface="Calibri"/>
              </a:rPr>
              <a:t>Conflits résolus par preuves numériques</a:t>
            </a:r>
            <a:endParaRPr b="0" lang="fr-FR" sz="1000" strike="noStrike" u="none">
              <a:solidFill>
                <a:srgbClr val="000000"/>
              </a:solidFill>
              <a:uFillTx/>
              <a:latin typeface="Arial"/>
            </a:endParaRPr>
          </a:p>
          <a:p>
            <a:pPr marL="343080" indent="-343080" defTabSz="914400">
              <a:lnSpc>
                <a:spcPct val="100000"/>
              </a:lnSpc>
              <a:buClr>
                <a:srgbClr val="065a82"/>
              </a:buClr>
              <a:buFont typeface="Symbol" charset="2"/>
              <a:buChar char=""/>
            </a:pPr>
            <a:r>
              <a:rPr b="0" lang="fr-FR" sz="1000" strike="noStrike" u="none">
                <a:solidFill>
                  <a:srgbClr val="065a82"/>
                </a:solidFill>
                <a:uFillTx/>
                <a:latin typeface="Calibri"/>
              </a:rPr>
              <a:t>Coût partagé ~$3.25 par personne</a:t>
            </a:r>
            <a:endParaRPr b="0" lang="fr-FR" sz="1000" strike="noStrike" u="none">
              <a:solidFill>
                <a:srgbClr val="000000"/>
              </a:solidFill>
              <a:uFillTx/>
              <a:latin typeface="Arial"/>
            </a:endParaRPr>
          </a:p>
          <a:p>
            <a:pPr marL="343080" indent="-343080" defTabSz="914400">
              <a:lnSpc>
                <a:spcPct val="100000"/>
              </a:lnSpc>
              <a:buClr>
                <a:srgbClr val="065a82"/>
              </a:buClr>
              <a:buFont typeface="Symbol" charset="2"/>
              <a:buChar char=""/>
            </a:pPr>
            <a:r>
              <a:rPr b="0" lang="fr-FR" sz="1000" strike="noStrike" u="none">
                <a:solidFill>
                  <a:srgbClr val="065a82"/>
                </a:solidFill>
                <a:uFillTx/>
                <a:latin typeface="Calibri"/>
              </a:rPr>
              <a:t>Locataire voit son crédit en temps réel</a:t>
            </a:r>
            <a:endParaRPr b="0" lang="fr-FR" sz="1000" strike="noStrike" u="none">
              <a:solidFill>
                <a:srgbClr val="000000"/>
              </a:solidFill>
              <a:uFillTx/>
              <a:latin typeface="Arial"/>
            </a:endParaRPr>
          </a:p>
        </p:txBody>
      </p:sp>
      <p:sp>
        <p:nvSpPr>
          <p:cNvPr id="190" name="Text 10"/>
          <p:cNvSpPr/>
          <p:nvPr/>
        </p:nvSpPr>
        <p:spPr>
          <a:xfrm>
            <a:off x="4114800" y="2286000"/>
            <a:ext cx="731160" cy="731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3200" strike="noStrike" u="none">
                <a:solidFill>
                  <a:srgbClr val="00b4d8"/>
                </a:solidFill>
                <a:uFillTx/>
                <a:latin typeface="Calibri"/>
              </a:rPr>
              <a:t>→</a:t>
            </a:r>
            <a:endParaRPr b="0" lang="fr-FR" sz="3200" strike="noStrike" u="none">
              <a:solidFill>
                <a:srgbClr val="000000"/>
              </a:solidFill>
              <a:uFillTx/>
              <a:latin typeface="Arial"/>
            </a:endParaRPr>
          </a:p>
        </p:txBody>
      </p:sp>
      <p:sp>
        <p:nvSpPr>
          <p:cNvPr id="191" name="Shape 11"/>
          <p:cNvSpPr/>
          <p:nvPr/>
        </p:nvSpPr>
        <p:spPr>
          <a:xfrm>
            <a:off x="274320" y="4663440"/>
            <a:ext cx="8595000" cy="319680"/>
          </a:xfrm>
          <a:prstGeom prst="rect">
            <a:avLst/>
          </a:prstGeom>
          <a:solidFill>
            <a:srgbClr val="065a82"/>
          </a:solidFill>
          <a:ln w="12700">
            <a:solidFill>
              <a:srgbClr val="065a82"/>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192" name="Text 12"/>
          <p:cNvSpPr/>
          <p:nvPr/>
        </p:nvSpPr>
        <p:spPr>
          <a:xfrm>
            <a:off x="274320" y="4663440"/>
            <a:ext cx="859500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fr-FR" sz="800" strike="noStrike" u="none">
                <a:solidFill>
                  <a:srgbClr val="00b4d8"/>
                </a:solidFill>
                <a:uFillTx/>
                <a:latin typeface="Calibri"/>
              </a:rPr>
              <a:t>Perspectives : V2 — 16 canaux (2 modules relais) | V3 — Architecture distribuée Wi-Fi | Intégration Virunga après diplôme</a:t>
            </a:r>
            <a:endParaRPr b="0" lang="fr-FR" sz="8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193" name="Shape 0"/>
          <p:cNvSpPr/>
          <p:nvPr/>
        </p:nvSpPr>
        <p:spPr>
          <a:xfrm>
            <a:off x="0" y="0"/>
            <a:ext cx="9143640" cy="914040"/>
          </a:xfrm>
          <a:prstGeom prst="rect">
            <a:avLst/>
          </a:prstGeom>
          <a:solidFill>
            <a:srgbClr val="065a82"/>
          </a:solidFill>
          <a:ln w="12700">
            <a:solidFill>
              <a:srgbClr val="065a82"/>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194" name="Text 1"/>
          <p:cNvSpPr/>
          <p:nvPr/>
        </p:nvSpPr>
        <p:spPr>
          <a:xfrm>
            <a:off x="457200" y="0"/>
            <a:ext cx="8229240" cy="914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2000" spc="201" strike="noStrike" u="none">
                <a:solidFill>
                  <a:srgbClr val="00b4d8"/>
                </a:solidFill>
                <a:uFillTx/>
                <a:latin typeface="Calibri"/>
              </a:rPr>
              <a:t>05  </a:t>
            </a:r>
            <a:r>
              <a:rPr b="1" lang="fr-FR" sz="2000" spc="201" strike="noStrike" u="none">
                <a:solidFill>
                  <a:srgbClr val="ffffff"/>
                </a:solidFill>
                <a:uFillTx/>
                <a:latin typeface="Calibri"/>
              </a:rPr>
              <a:t>CONCLUSION</a:t>
            </a:r>
            <a:endParaRPr b="0" lang="fr-FR" sz="2000" strike="noStrike" u="none">
              <a:solidFill>
                <a:srgbClr val="ffffff"/>
              </a:solidFill>
              <a:uFillTx/>
              <a:latin typeface="Arial"/>
            </a:endParaRPr>
          </a:p>
        </p:txBody>
      </p:sp>
      <p:sp>
        <p:nvSpPr>
          <p:cNvPr id="195" name="Shape 2"/>
          <p:cNvSpPr/>
          <p:nvPr/>
        </p:nvSpPr>
        <p:spPr>
          <a:xfrm>
            <a:off x="365760" y="1005840"/>
            <a:ext cx="8412120" cy="1188360"/>
          </a:xfrm>
          <a:prstGeom prst="rect">
            <a:avLst/>
          </a:prstGeom>
          <a:solidFill>
            <a:srgbClr val="065a82"/>
          </a:solidFill>
          <a:ln w="12700">
            <a:solidFill>
              <a:srgbClr val="1c7293"/>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196" name="Text 3"/>
          <p:cNvSpPr/>
          <p:nvPr/>
        </p:nvSpPr>
        <p:spPr>
          <a:xfrm>
            <a:off x="548640" y="1051560"/>
            <a:ext cx="8046360" cy="1051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1100" strike="noStrike" u="none">
                <a:solidFill>
                  <a:srgbClr val="ffffff"/>
                </a:solidFill>
                <a:uFillTx/>
                <a:latin typeface="Calibri"/>
              </a:rPr>
              <a:t>Ce projet démontre qu'un système IoT embarqué à faible coût peut résoudre un problème social et économique réel vécu quotidiennement à Goma — sans infrastructure internet, sans modification de l'installation existante, avec une transparence totale pour toutes les parties.</a:t>
            </a:r>
            <a:endParaRPr b="0" lang="fr-FR" sz="1100" strike="noStrike" u="none">
              <a:solidFill>
                <a:srgbClr val="ffffff"/>
              </a:solidFill>
              <a:uFillTx/>
              <a:latin typeface="Arial"/>
            </a:endParaRPr>
          </a:p>
        </p:txBody>
      </p:sp>
      <p:sp>
        <p:nvSpPr>
          <p:cNvPr id="197" name="Shape 4"/>
          <p:cNvSpPr/>
          <p:nvPr/>
        </p:nvSpPr>
        <p:spPr>
          <a:xfrm>
            <a:off x="365760" y="2377440"/>
            <a:ext cx="1965600" cy="2102760"/>
          </a:xfrm>
          <a:prstGeom prst="rect">
            <a:avLst/>
          </a:prstGeom>
          <a:solidFill>
            <a:srgbClr val="1c7293"/>
          </a:solidFill>
          <a:ln w="12700">
            <a:solidFill>
              <a:srgbClr val="1c7293"/>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198" name="Text 5"/>
          <p:cNvSpPr/>
          <p:nvPr/>
        </p:nvSpPr>
        <p:spPr>
          <a:xfrm>
            <a:off x="365760" y="2423160"/>
            <a:ext cx="196560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2200" strike="noStrike" u="none">
                <a:solidFill>
                  <a:srgbClr val="000000"/>
                </a:solidFill>
                <a:uFillTx/>
                <a:latin typeface="Calibri"/>
              </a:rPr>
              <a:t>🔬</a:t>
            </a:r>
            <a:endParaRPr b="0" lang="fr-FR" sz="2200" strike="noStrike" u="none">
              <a:solidFill>
                <a:srgbClr val="ffffff"/>
              </a:solidFill>
              <a:uFillTx/>
              <a:latin typeface="Arial"/>
            </a:endParaRPr>
          </a:p>
        </p:txBody>
      </p:sp>
      <p:sp>
        <p:nvSpPr>
          <p:cNvPr id="199" name="Text 6"/>
          <p:cNvSpPr/>
          <p:nvPr/>
        </p:nvSpPr>
        <p:spPr>
          <a:xfrm>
            <a:off x="365760" y="2880360"/>
            <a:ext cx="196560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100" strike="noStrike" u="none">
                <a:solidFill>
                  <a:srgbClr val="f59e0b"/>
                </a:solidFill>
                <a:uFillTx/>
                <a:latin typeface="Calibri"/>
              </a:rPr>
              <a:t>Technique</a:t>
            </a:r>
            <a:endParaRPr b="0" lang="fr-FR" sz="1100" strike="noStrike" u="none">
              <a:solidFill>
                <a:srgbClr val="ffffff"/>
              </a:solidFill>
              <a:uFillTx/>
              <a:latin typeface="Arial"/>
            </a:endParaRPr>
          </a:p>
        </p:txBody>
      </p:sp>
      <p:sp>
        <p:nvSpPr>
          <p:cNvPr id="200" name="Text 7"/>
          <p:cNvSpPr/>
          <p:nvPr/>
        </p:nvSpPr>
        <p:spPr>
          <a:xfrm>
            <a:off x="457200" y="3291840"/>
            <a:ext cx="1782720" cy="1005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900" strike="noStrike" u="none">
                <a:solidFill>
                  <a:srgbClr val="ffffff"/>
                </a:solidFill>
                <a:uFillTx/>
                <a:latin typeface="Calibri"/>
              </a:rPr>
              <a:t>ESP32 + C++</a:t>
            </a:r>
            <a:endParaRPr b="0" lang="fr-FR" sz="900" strike="noStrike" u="none">
              <a:solidFill>
                <a:srgbClr val="ffffff"/>
              </a:solidFill>
              <a:uFillTx/>
              <a:latin typeface="Arial"/>
            </a:endParaRPr>
          </a:p>
          <a:p>
            <a:pPr algn="ctr" defTabSz="914400">
              <a:lnSpc>
                <a:spcPct val="100000"/>
              </a:lnSpc>
              <a:tabLst>
                <a:tab algn="l" pos="0"/>
              </a:tabLst>
            </a:pPr>
            <a:r>
              <a:rPr b="0" lang="fr-FR" sz="900" strike="noStrike" u="none">
                <a:solidFill>
                  <a:srgbClr val="ffffff"/>
                </a:solidFill>
                <a:uFillTx/>
                <a:latin typeface="Calibri"/>
              </a:rPr>
              <a:t>ACS712 + ZMPT101B</a:t>
            </a:r>
            <a:endParaRPr b="0" lang="fr-FR" sz="900" strike="noStrike" u="none">
              <a:solidFill>
                <a:srgbClr val="ffffff"/>
              </a:solidFill>
              <a:uFillTx/>
              <a:latin typeface="Arial"/>
            </a:endParaRPr>
          </a:p>
          <a:p>
            <a:pPr algn="ctr" defTabSz="914400">
              <a:lnSpc>
                <a:spcPct val="100000"/>
              </a:lnSpc>
              <a:tabLst>
                <a:tab algn="l" pos="0"/>
              </a:tabLst>
            </a:pPr>
            <a:r>
              <a:rPr b="0" lang="fr-FR" sz="900" strike="noStrike" u="none">
                <a:solidFill>
                  <a:srgbClr val="ffffff"/>
                </a:solidFill>
                <a:uFillTx/>
                <a:latin typeface="Calibri"/>
              </a:rPr>
              <a:t>Firmware complet</a:t>
            </a:r>
            <a:endParaRPr b="0" lang="fr-FR" sz="900" strike="noStrike" u="none">
              <a:solidFill>
                <a:srgbClr val="ffffff"/>
              </a:solidFill>
              <a:uFillTx/>
              <a:latin typeface="Arial"/>
            </a:endParaRPr>
          </a:p>
        </p:txBody>
      </p:sp>
      <p:sp>
        <p:nvSpPr>
          <p:cNvPr id="201" name="Shape 8"/>
          <p:cNvSpPr/>
          <p:nvPr/>
        </p:nvSpPr>
        <p:spPr>
          <a:xfrm>
            <a:off x="2514600" y="2377440"/>
            <a:ext cx="1965600" cy="2102760"/>
          </a:xfrm>
          <a:prstGeom prst="rect">
            <a:avLst/>
          </a:prstGeom>
          <a:solidFill>
            <a:srgbClr val="1c7293"/>
          </a:solidFill>
          <a:ln w="12700">
            <a:solidFill>
              <a:srgbClr val="1c7293"/>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202" name="Text 9"/>
          <p:cNvSpPr/>
          <p:nvPr/>
        </p:nvSpPr>
        <p:spPr>
          <a:xfrm>
            <a:off x="2514600" y="2423160"/>
            <a:ext cx="196560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2200" strike="noStrike" u="none">
                <a:solidFill>
                  <a:srgbClr val="000000"/>
                </a:solidFill>
                <a:uFillTx/>
                <a:latin typeface="Calibri"/>
              </a:rPr>
              <a:t>💰</a:t>
            </a:r>
            <a:endParaRPr b="0" lang="fr-FR" sz="2200" strike="noStrike" u="none">
              <a:solidFill>
                <a:srgbClr val="ffffff"/>
              </a:solidFill>
              <a:uFillTx/>
              <a:latin typeface="Arial"/>
            </a:endParaRPr>
          </a:p>
        </p:txBody>
      </p:sp>
      <p:sp>
        <p:nvSpPr>
          <p:cNvPr id="203" name="Text 10"/>
          <p:cNvSpPr/>
          <p:nvPr/>
        </p:nvSpPr>
        <p:spPr>
          <a:xfrm>
            <a:off x="2514600" y="2880360"/>
            <a:ext cx="196560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100" strike="noStrike" u="none">
                <a:solidFill>
                  <a:srgbClr val="f59e0b"/>
                </a:solidFill>
                <a:uFillTx/>
                <a:latin typeface="Calibri"/>
              </a:rPr>
              <a:t>Économique</a:t>
            </a:r>
            <a:endParaRPr b="0" lang="fr-FR" sz="1100" strike="noStrike" u="none">
              <a:solidFill>
                <a:srgbClr val="ffffff"/>
              </a:solidFill>
              <a:uFillTx/>
              <a:latin typeface="Arial"/>
            </a:endParaRPr>
          </a:p>
        </p:txBody>
      </p:sp>
      <p:sp>
        <p:nvSpPr>
          <p:cNvPr id="204" name="Text 11"/>
          <p:cNvSpPr/>
          <p:nvPr/>
        </p:nvSpPr>
        <p:spPr>
          <a:xfrm>
            <a:off x="2606040" y="3291840"/>
            <a:ext cx="1782720" cy="1005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900" strike="noStrike" u="none">
                <a:solidFill>
                  <a:srgbClr val="ffffff"/>
                </a:solidFill>
                <a:uFillTx/>
                <a:latin typeface="Calibri"/>
              </a:rPr>
              <a:t>~$26 total</a:t>
            </a:r>
            <a:endParaRPr b="0" lang="fr-FR" sz="900" strike="noStrike" u="none">
              <a:solidFill>
                <a:srgbClr val="ffffff"/>
              </a:solidFill>
              <a:uFillTx/>
              <a:latin typeface="Arial"/>
            </a:endParaRPr>
          </a:p>
          <a:p>
            <a:pPr algn="ctr" defTabSz="914400">
              <a:lnSpc>
                <a:spcPct val="100000"/>
              </a:lnSpc>
              <a:tabLst>
                <a:tab algn="l" pos="0"/>
              </a:tabLst>
            </a:pPr>
            <a:r>
              <a:rPr b="0" lang="fr-FR" sz="900" strike="noStrike" u="none">
                <a:solidFill>
                  <a:srgbClr val="ffffff"/>
                </a:solidFill>
                <a:uFillTx/>
                <a:latin typeface="Calibri"/>
              </a:rPr>
              <a:t>~$3.25/personne</a:t>
            </a:r>
            <a:endParaRPr b="0" lang="fr-FR" sz="900" strike="noStrike" u="none">
              <a:solidFill>
                <a:srgbClr val="ffffff"/>
              </a:solidFill>
              <a:uFillTx/>
              <a:latin typeface="Arial"/>
            </a:endParaRPr>
          </a:p>
          <a:p>
            <a:pPr algn="ctr" defTabSz="914400">
              <a:lnSpc>
                <a:spcPct val="100000"/>
              </a:lnSpc>
              <a:tabLst>
                <a:tab algn="l" pos="0"/>
              </a:tabLst>
            </a:pPr>
            <a:r>
              <a:rPr b="0" lang="fr-FR" sz="900" strike="noStrike" u="none">
                <a:solidFill>
                  <a:srgbClr val="ffffff"/>
                </a:solidFill>
                <a:uFillTx/>
                <a:latin typeface="Calibri"/>
              </a:rPr>
              <a:t>ROI immédiat</a:t>
            </a:r>
            <a:endParaRPr b="0" lang="fr-FR" sz="900" strike="noStrike" u="none">
              <a:solidFill>
                <a:srgbClr val="ffffff"/>
              </a:solidFill>
              <a:uFillTx/>
              <a:latin typeface="Arial"/>
            </a:endParaRPr>
          </a:p>
        </p:txBody>
      </p:sp>
      <p:sp>
        <p:nvSpPr>
          <p:cNvPr id="205" name="Shape 12"/>
          <p:cNvSpPr/>
          <p:nvPr/>
        </p:nvSpPr>
        <p:spPr>
          <a:xfrm>
            <a:off x="4663440" y="2377440"/>
            <a:ext cx="1965600" cy="2102760"/>
          </a:xfrm>
          <a:prstGeom prst="rect">
            <a:avLst/>
          </a:prstGeom>
          <a:solidFill>
            <a:srgbClr val="1c7293"/>
          </a:solidFill>
          <a:ln w="12700">
            <a:solidFill>
              <a:srgbClr val="1c7293"/>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206" name="Text 13"/>
          <p:cNvSpPr/>
          <p:nvPr/>
        </p:nvSpPr>
        <p:spPr>
          <a:xfrm>
            <a:off x="4663440" y="2423160"/>
            <a:ext cx="196560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2200" strike="noStrike" u="none">
                <a:solidFill>
                  <a:srgbClr val="000000"/>
                </a:solidFill>
                <a:uFillTx/>
                <a:latin typeface="Calibri"/>
              </a:rPr>
              <a:t>🤝</a:t>
            </a:r>
            <a:endParaRPr b="0" lang="fr-FR" sz="2200" strike="noStrike" u="none">
              <a:solidFill>
                <a:srgbClr val="ffffff"/>
              </a:solidFill>
              <a:uFillTx/>
              <a:latin typeface="Arial"/>
            </a:endParaRPr>
          </a:p>
        </p:txBody>
      </p:sp>
      <p:sp>
        <p:nvSpPr>
          <p:cNvPr id="207" name="Text 14"/>
          <p:cNvSpPr/>
          <p:nvPr/>
        </p:nvSpPr>
        <p:spPr>
          <a:xfrm>
            <a:off x="4663440" y="2880360"/>
            <a:ext cx="196560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100" strike="noStrike" u="none">
                <a:solidFill>
                  <a:srgbClr val="f59e0b"/>
                </a:solidFill>
                <a:uFillTx/>
                <a:latin typeface="Calibri"/>
              </a:rPr>
              <a:t>Social</a:t>
            </a:r>
            <a:endParaRPr b="0" lang="fr-FR" sz="1100" strike="noStrike" u="none">
              <a:solidFill>
                <a:srgbClr val="ffffff"/>
              </a:solidFill>
              <a:uFillTx/>
              <a:latin typeface="Arial"/>
            </a:endParaRPr>
          </a:p>
        </p:txBody>
      </p:sp>
      <p:sp>
        <p:nvSpPr>
          <p:cNvPr id="208" name="Text 15"/>
          <p:cNvSpPr/>
          <p:nvPr/>
        </p:nvSpPr>
        <p:spPr>
          <a:xfrm>
            <a:off x="4754880" y="3291840"/>
            <a:ext cx="1782720" cy="1005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900" strike="noStrike" u="none">
                <a:solidFill>
                  <a:srgbClr val="ffffff"/>
                </a:solidFill>
                <a:uFillTx/>
                <a:latin typeface="Calibri"/>
              </a:rPr>
              <a:t>Fin des conflits</a:t>
            </a:r>
            <a:endParaRPr b="0" lang="fr-FR" sz="900" strike="noStrike" u="none">
              <a:solidFill>
                <a:srgbClr val="ffffff"/>
              </a:solidFill>
              <a:uFillTx/>
              <a:latin typeface="Arial"/>
            </a:endParaRPr>
          </a:p>
          <a:p>
            <a:pPr algn="ctr" defTabSz="914400">
              <a:lnSpc>
                <a:spcPct val="100000"/>
              </a:lnSpc>
              <a:tabLst>
                <a:tab algn="l" pos="0"/>
              </a:tabLst>
            </a:pPr>
            <a:r>
              <a:rPr b="0" lang="fr-FR" sz="900" strike="noStrike" u="none">
                <a:solidFill>
                  <a:srgbClr val="ffffff"/>
                </a:solidFill>
                <a:uFillTx/>
                <a:latin typeface="Calibri"/>
              </a:rPr>
              <a:t>Transparence totale</a:t>
            </a:r>
            <a:endParaRPr b="0" lang="fr-FR" sz="900" strike="noStrike" u="none">
              <a:solidFill>
                <a:srgbClr val="ffffff"/>
              </a:solidFill>
              <a:uFillTx/>
              <a:latin typeface="Arial"/>
            </a:endParaRPr>
          </a:p>
          <a:p>
            <a:pPr algn="ctr" defTabSz="914400">
              <a:lnSpc>
                <a:spcPct val="100000"/>
              </a:lnSpc>
              <a:tabLst>
                <a:tab algn="l" pos="0"/>
              </a:tabLst>
            </a:pPr>
            <a:r>
              <a:rPr b="0" lang="fr-FR" sz="900" strike="noStrike" u="none">
                <a:solidFill>
                  <a:srgbClr val="ffffff"/>
                </a:solidFill>
                <a:uFillTx/>
                <a:latin typeface="Calibri"/>
              </a:rPr>
              <a:t>Équité énergétique</a:t>
            </a:r>
            <a:endParaRPr b="0" lang="fr-FR" sz="900" strike="noStrike" u="none">
              <a:solidFill>
                <a:srgbClr val="ffffff"/>
              </a:solidFill>
              <a:uFillTx/>
              <a:latin typeface="Arial"/>
            </a:endParaRPr>
          </a:p>
        </p:txBody>
      </p:sp>
      <p:sp>
        <p:nvSpPr>
          <p:cNvPr id="209" name="Shape 16"/>
          <p:cNvSpPr/>
          <p:nvPr/>
        </p:nvSpPr>
        <p:spPr>
          <a:xfrm>
            <a:off x="6812280" y="2377440"/>
            <a:ext cx="1965600" cy="2102760"/>
          </a:xfrm>
          <a:prstGeom prst="rect">
            <a:avLst/>
          </a:prstGeom>
          <a:solidFill>
            <a:srgbClr val="1c7293"/>
          </a:solidFill>
          <a:ln w="12700">
            <a:solidFill>
              <a:srgbClr val="1c7293"/>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210" name="Text 17"/>
          <p:cNvSpPr/>
          <p:nvPr/>
        </p:nvSpPr>
        <p:spPr>
          <a:xfrm>
            <a:off x="6812280" y="2423160"/>
            <a:ext cx="196560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2200" strike="noStrike" u="none">
                <a:solidFill>
                  <a:srgbClr val="000000"/>
                </a:solidFill>
                <a:uFillTx/>
                <a:latin typeface="Calibri"/>
              </a:rPr>
              <a:t>🚀</a:t>
            </a:r>
            <a:endParaRPr b="0" lang="fr-FR" sz="2200" strike="noStrike" u="none">
              <a:solidFill>
                <a:srgbClr val="ffffff"/>
              </a:solidFill>
              <a:uFillTx/>
              <a:latin typeface="Arial"/>
            </a:endParaRPr>
          </a:p>
        </p:txBody>
      </p:sp>
      <p:sp>
        <p:nvSpPr>
          <p:cNvPr id="211" name="Text 18"/>
          <p:cNvSpPr/>
          <p:nvPr/>
        </p:nvSpPr>
        <p:spPr>
          <a:xfrm>
            <a:off x="6812280" y="2880360"/>
            <a:ext cx="196560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100" strike="noStrike" u="none">
                <a:solidFill>
                  <a:srgbClr val="f59e0b"/>
                </a:solidFill>
                <a:uFillTx/>
                <a:latin typeface="Calibri"/>
              </a:rPr>
              <a:t>Perspective</a:t>
            </a:r>
            <a:endParaRPr b="0" lang="fr-FR" sz="1100" strike="noStrike" u="none">
              <a:solidFill>
                <a:srgbClr val="ffffff"/>
              </a:solidFill>
              <a:uFillTx/>
              <a:latin typeface="Arial"/>
            </a:endParaRPr>
          </a:p>
        </p:txBody>
      </p:sp>
      <p:sp>
        <p:nvSpPr>
          <p:cNvPr id="212" name="Text 19"/>
          <p:cNvSpPr/>
          <p:nvPr/>
        </p:nvSpPr>
        <p:spPr>
          <a:xfrm>
            <a:off x="6903720" y="3291840"/>
            <a:ext cx="1782720" cy="1005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900" strike="noStrike" u="none">
                <a:solidFill>
                  <a:srgbClr val="ffffff"/>
                </a:solidFill>
                <a:uFillTx/>
                <a:latin typeface="Calibri"/>
              </a:rPr>
              <a:t>V2 16 canaux</a:t>
            </a:r>
            <a:endParaRPr b="0" lang="fr-FR" sz="900" strike="noStrike" u="none">
              <a:solidFill>
                <a:srgbClr val="ffffff"/>
              </a:solidFill>
              <a:uFillTx/>
              <a:latin typeface="Arial"/>
            </a:endParaRPr>
          </a:p>
          <a:p>
            <a:pPr algn="ctr" defTabSz="914400">
              <a:lnSpc>
                <a:spcPct val="100000"/>
              </a:lnSpc>
              <a:tabLst>
                <a:tab algn="l" pos="0"/>
              </a:tabLst>
            </a:pPr>
            <a:r>
              <a:rPr b="0" lang="fr-FR" sz="900" strike="noStrike" u="none">
                <a:solidFill>
                  <a:srgbClr val="ffffff"/>
                </a:solidFill>
                <a:uFillTx/>
                <a:latin typeface="Calibri"/>
              </a:rPr>
              <a:t>Flutter app mobile</a:t>
            </a:r>
            <a:endParaRPr b="0" lang="fr-FR" sz="900" strike="noStrike" u="none">
              <a:solidFill>
                <a:srgbClr val="ffffff"/>
              </a:solidFill>
              <a:uFillTx/>
              <a:latin typeface="Arial"/>
            </a:endParaRPr>
          </a:p>
          <a:p>
            <a:pPr algn="ctr" defTabSz="914400">
              <a:lnSpc>
                <a:spcPct val="100000"/>
              </a:lnSpc>
              <a:tabLst>
                <a:tab algn="l" pos="0"/>
              </a:tabLst>
            </a:pPr>
            <a:r>
              <a:rPr b="0" lang="fr-FR" sz="900" strike="noStrike" u="none">
                <a:solidFill>
                  <a:srgbClr val="ffffff"/>
                </a:solidFill>
                <a:uFillTx/>
                <a:latin typeface="Calibri"/>
              </a:rPr>
              <a:t>Intégration Virunga</a:t>
            </a:r>
            <a:endParaRPr b="0" lang="fr-FR" sz="900" strike="noStrike" u="none">
              <a:solidFill>
                <a:srgbClr val="ffffff"/>
              </a:solidFill>
              <a:uFillTx/>
              <a:latin typeface="Arial"/>
            </a:endParaRPr>
          </a:p>
        </p:txBody>
      </p:sp>
      <p:sp>
        <p:nvSpPr>
          <p:cNvPr id="213" name="Shape 20"/>
          <p:cNvSpPr/>
          <p:nvPr/>
        </p:nvSpPr>
        <p:spPr>
          <a:xfrm>
            <a:off x="0" y="4709160"/>
            <a:ext cx="9143640" cy="434160"/>
          </a:xfrm>
          <a:prstGeom prst="rect">
            <a:avLst/>
          </a:prstGeom>
          <a:solidFill>
            <a:srgbClr val="00b4d8"/>
          </a:solidFill>
          <a:ln w="12700">
            <a:solidFill>
              <a:srgbClr val="00b4d8"/>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uFillTx/>
              <a:latin typeface="Arial"/>
            </a:endParaRPr>
          </a:p>
        </p:txBody>
      </p:sp>
      <p:sp>
        <p:nvSpPr>
          <p:cNvPr id="214" name="Text 21"/>
          <p:cNvSpPr/>
          <p:nvPr/>
        </p:nvSpPr>
        <p:spPr>
          <a:xfrm>
            <a:off x="0" y="4709160"/>
            <a:ext cx="9143640" cy="43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300" spc="99" strike="noStrike" u="none">
                <a:solidFill>
                  <a:srgbClr val="0a1628"/>
                </a:solidFill>
                <a:uFillTx/>
                <a:latin typeface="Calibri"/>
              </a:rPr>
              <a:t>Merci pour votre attention — Questions et suggestions bienvenues</a:t>
            </a:r>
            <a:endParaRPr b="0" lang="fr-FR" sz="13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75</TotalTime>
  <Application>LibreOffice/24.8.7.2$Linux_X86_64 LibreOffice_project/480$Build-2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2026-03-14T11:41:00Z</dcterms:created>
  <dc:creator>Votre Nom</dc:creator>
  <dc:description/>
  <dc:language>fr-FR</dc:language>
  <cp:lastModifiedBy/>
  <dcterms:modified xsi:type="dcterms:W3CDTF">2026-03-14T15:21:06Z</dcterms:modified>
  <cp:revision>2</cp:revision>
  <dc:subject>PptxGenJS Presentation</dc:subject>
  <dc:title>Départageur Intelligent — TFC</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11</vt:i4>
  </property>
  <property fmtid="{D5CDD505-2E9C-101B-9397-08002B2CF9AE}" pid="3" name="PresentationFormat">
    <vt:lpwstr>On-screen Show (16:9)</vt:lpwstr>
  </property>
  <property fmtid="{D5CDD505-2E9C-101B-9397-08002B2CF9AE}" pid="4" name="Slides">
    <vt:i4>11</vt:i4>
  </property>
</Properties>
</file>