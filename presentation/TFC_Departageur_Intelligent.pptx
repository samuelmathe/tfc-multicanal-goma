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fr-FR" sz="4400" spc="-1" strike="noStrike">
                <a:solidFill>
                  <a:srgbClr val="000000"/>
                </a:solidFill>
                <a:latin typeface="Arial"/>
              </a:rPr>
              <a:t>Click to move the slide</a:t>
            </a:r>
            <a:endParaRPr b="0" lang="fr-FR"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fr-FR" sz="2000" spc="-1" strike="noStrike">
                <a:solidFill>
                  <a:srgbClr val="000000"/>
                </a:solidFill>
                <a:latin typeface="Arial"/>
              </a:rPr>
              <a:t>Click to edit the notes format</a:t>
            </a:r>
            <a:endParaRPr b="0" lang="fr-FR"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pc="-1" strike="noStrike">
                <a:solidFill>
                  <a:srgbClr val="000000"/>
                </a:solidFill>
                <a:latin typeface="Times New Roman"/>
              </a:rPr>
              <a:t>&lt;header&gt;</a:t>
            </a:r>
            <a:endParaRPr b="0" lang="fr-FR"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pc="-1" strike="noStrike">
                <a:solidFill>
                  <a:srgbClr val="000000"/>
                </a:solidFill>
                <a:latin typeface="Times New Roman"/>
              </a:defRPr>
            </a:lvl1pPr>
          </a:lstStyle>
          <a:p>
            <a:pPr indent="0" algn="r">
              <a:buNone/>
            </a:pPr>
            <a:r>
              <a:rPr b="0" lang="fr-FR" sz="1400" spc="-1" strike="noStrike">
                <a:solidFill>
                  <a:srgbClr val="000000"/>
                </a:solidFill>
                <a:latin typeface="Times New Roman"/>
              </a:rPr>
              <a:t>&lt;date/time&gt;</a:t>
            </a:r>
            <a:endParaRPr b="0" lang="fr-FR"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pc="-1" strike="noStrike">
                <a:solidFill>
                  <a:srgbClr val="000000"/>
                </a:solidFill>
                <a:latin typeface="Times New Roman"/>
              </a:defRPr>
            </a:lvl1pPr>
          </a:lstStyle>
          <a:p>
            <a:pPr indent="0">
              <a:buNone/>
            </a:pPr>
            <a:r>
              <a:rPr b="0" lang="fr-FR" sz="1400" spc="-1" strike="noStrike">
                <a:solidFill>
                  <a:srgbClr val="000000"/>
                </a:solidFill>
                <a:latin typeface="Times New Roman"/>
              </a:rPr>
              <a:t>&lt;footer&gt;</a:t>
            </a:r>
            <a:endParaRPr b="0" lang="fr-FR"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pc="-1" strike="noStrike">
                <a:solidFill>
                  <a:srgbClr val="000000"/>
                </a:solidFill>
                <a:latin typeface="Times New Roman"/>
              </a:defRPr>
            </a:lvl1pPr>
          </a:lstStyle>
          <a:p>
            <a:pPr indent="0" algn="r">
              <a:buNone/>
            </a:pPr>
            <a:fld id="{45132D4A-BCFC-4295-AD17-F8E01E3156BB}" type="slidenum">
              <a:rPr b="0" lang="fr-FR" sz="1400" spc="-1" strike="noStrike">
                <a:solidFill>
                  <a:srgbClr val="000000"/>
                </a:solidFill>
                <a:latin typeface="Times New Roman"/>
              </a:rPr>
              <a:t>&lt;number&gt;</a:t>
            </a:fld>
            <a:endParaRPr b="0" lang="fr-F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5680" cy="3085560"/>
          </a:xfrm>
          <a:prstGeom prst="rect">
            <a:avLst/>
          </a:prstGeom>
          <a:ln w="0">
            <a:noFill/>
          </a:ln>
        </p:spPr>
      </p:sp>
      <p:sp>
        <p:nvSpPr>
          <p:cNvPr id="21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17"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B45BD38D-A0FB-4F72-9D5F-7DBA29107786}"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5680" cy="3085560"/>
          </a:xfrm>
          <a:prstGeom prst="rect">
            <a:avLst/>
          </a:prstGeom>
          <a:ln w="0">
            <a:noFill/>
          </a:ln>
        </p:spPr>
      </p:sp>
      <p:sp>
        <p:nvSpPr>
          <p:cNvPr id="21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20"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40F82E40-6D59-4461-AE64-AF0B483ECB00}"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5680" cy="3085560"/>
          </a:xfrm>
          <a:prstGeom prst="rect">
            <a:avLst/>
          </a:prstGeom>
          <a:ln w="0">
            <a:noFill/>
          </a:ln>
        </p:spPr>
      </p:sp>
      <p:sp>
        <p:nvSpPr>
          <p:cNvPr id="22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23"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89E93B7F-B4A7-4ABB-8C59-9645194D2306}"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5680" cy="3085560"/>
          </a:xfrm>
          <a:prstGeom prst="rect">
            <a:avLst/>
          </a:prstGeom>
          <a:ln w="0">
            <a:noFill/>
          </a:ln>
        </p:spPr>
      </p:sp>
      <p:sp>
        <p:nvSpPr>
          <p:cNvPr id="22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26"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7FD42849-BD6E-4F16-82D4-78100FE7596D}"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5680" cy="3085560"/>
          </a:xfrm>
          <a:prstGeom prst="rect">
            <a:avLst/>
          </a:prstGeom>
          <a:ln w="0">
            <a:noFill/>
          </a:ln>
        </p:spPr>
      </p:sp>
      <p:sp>
        <p:nvSpPr>
          <p:cNvPr id="22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29"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B95039FF-EE2A-4065-BCDE-9BA5048C8DC6}"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5680" cy="3085560"/>
          </a:xfrm>
          <a:prstGeom prst="rect">
            <a:avLst/>
          </a:prstGeom>
          <a:ln w="0">
            <a:noFill/>
          </a:ln>
        </p:spPr>
      </p:sp>
      <p:sp>
        <p:nvSpPr>
          <p:cNvPr id="23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32"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37B4E412-C2A2-4925-B9F8-CD1549D21A94}"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5680" cy="3085560"/>
          </a:xfrm>
          <a:prstGeom prst="rect">
            <a:avLst/>
          </a:prstGeom>
          <a:ln w="0">
            <a:noFill/>
          </a:ln>
        </p:spPr>
      </p:sp>
      <p:sp>
        <p:nvSpPr>
          <p:cNvPr id="23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35"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C7FFF9D4-5967-42CD-A7B6-00DE30467B67}"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5680" cy="3085560"/>
          </a:xfrm>
          <a:prstGeom prst="rect">
            <a:avLst/>
          </a:prstGeom>
          <a:ln w="0">
            <a:noFill/>
          </a:ln>
        </p:spPr>
      </p:sp>
      <p:sp>
        <p:nvSpPr>
          <p:cNvPr id="23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38"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4E02755F-677E-497B-A9D2-EDD4A37933C8}"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5680" cy="3085560"/>
          </a:xfrm>
          <a:prstGeom prst="rect">
            <a:avLst/>
          </a:prstGeom>
          <a:ln w="0">
            <a:noFill/>
          </a:ln>
        </p:spPr>
      </p:sp>
      <p:sp>
        <p:nvSpPr>
          <p:cNvPr id="24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41"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C04C128B-96E2-4D05-ABEA-33BA4A1AD0E4}"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5680" cy="3085560"/>
          </a:xfrm>
          <a:prstGeom prst="rect">
            <a:avLst/>
          </a:prstGeom>
          <a:ln w="0">
            <a:noFill/>
          </a:ln>
        </p:spPr>
      </p:sp>
      <p:sp>
        <p:nvSpPr>
          <p:cNvPr id="24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44"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CA4309FE-D016-4823-89ED-9856628114E7}"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5680" cy="3085560"/>
          </a:xfrm>
          <a:prstGeom prst="rect">
            <a:avLst/>
          </a:prstGeom>
          <a:ln w="0">
            <a:noFill/>
          </a:ln>
        </p:spPr>
      </p:sp>
      <p:sp>
        <p:nvSpPr>
          <p:cNvPr id="24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fr-FR" sz="1800" spc="-1" strike="noStrike">
              <a:solidFill>
                <a:srgbClr val="000000"/>
              </a:solidFill>
              <a:latin typeface="Arial"/>
            </a:endParaRPr>
          </a:p>
        </p:txBody>
      </p:sp>
      <p:sp>
        <p:nvSpPr>
          <p:cNvPr id="247"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pc="-1" strike="noStrike">
                <a:solidFill>
                  <a:schemeClr val="dk1"/>
                </a:solidFill>
                <a:latin typeface="+mn-lt"/>
                <a:ea typeface="+mn-ea"/>
              </a:defRPr>
            </a:lvl1pPr>
          </a:lstStyle>
          <a:p>
            <a:pPr indent="0" algn="r" defTabSz="914400">
              <a:lnSpc>
                <a:spcPct val="100000"/>
              </a:lnSpc>
              <a:buNone/>
              <a:tabLst>
                <a:tab algn="l" pos="0"/>
              </a:tabLst>
            </a:pPr>
            <a:fld id="{81A11478-8739-405A-9532-2EF3BF57AB96}" type="slidenum">
              <a:rPr b="0" lang="fr-FR" sz="1200" spc="-1" strike="noStrike">
                <a:solidFill>
                  <a:schemeClr val="dk1"/>
                </a:solidFill>
                <a:latin typeface="+mn-lt"/>
                <a:ea typeface="+mn-ea"/>
              </a:rPr>
              <a:t>&lt;number&gt;</a:t>
            </a:fld>
            <a:endParaRPr b="0" lang="fr-FR" sz="1200" spc="-1" strike="noStrike">
              <a:solidFill>
                <a:srgbClr val="000000"/>
              </a:solidFill>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fr-FR" sz="4400" spc="-1" strike="noStrike">
                <a:solidFill>
                  <a:srgbClr val="000000"/>
                </a:solidFill>
                <a:latin typeface="Arial"/>
              </a:rPr>
              <a:t>Click to edit the title text format</a:t>
            </a:r>
            <a:endParaRPr b="0" lang="fr-FR" sz="4400" spc="-1" strike="noStrike">
              <a:solidFill>
                <a:srgbClr val="000000"/>
              </a:solidFill>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pc="-1" strike="noStrike">
                <a:solidFill>
                  <a:srgbClr val="000000"/>
                </a:solidFill>
                <a:latin typeface="Arial"/>
              </a:rPr>
              <a:t>Click to edit the outline text format</a:t>
            </a:r>
            <a:endParaRPr b="0" lang="fr-F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2800" spc="-1" strike="noStrike">
                <a:solidFill>
                  <a:srgbClr val="000000"/>
                </a:solidFill>
                <a:latin typeface="Arial"/>
              </a:rPr>
              <a:t>Second Outline Level</a:t>
            </a:r>
            <a:endParaRPr b="0" lang="fr-F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2400" spc="-1" strike="noStrike">
                <a:solidFill>
                  <a:srgbClr val="000000"/>
                </a:solidFill>
                <a:latin typeface="Arial"/>
              </a:rPr>
              <a:t>Third Outline Level</a:t>
            </a:r>
            <a:endParaRPr b="0" lang="fr-F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2000" spc="-1" strike="noStrike">
                <a:solidFill>
                  <a:srgbClr val="000000"/>
                </a:solidFill>
                <a:latin typeface="Arial"/>
              </a:rPr>
              <a:t>Fourth Outline Level</a:t>
            </a:r>
            <a:endParaRPr b="0" lang="fr-F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2000" spc="-1" strike="noStrike">
                <a:solidFill>
                  <a:srgbClr val="000000"/>
                </a:solidFill>
                <a:latin typeface="Arial"/>
              </a:rPr>
              <a:t>Fifth Outline Level</a:t>
            </a:r>
            <a:endParaRPr b="0" lang="fr-F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2000" spc="-1" strike="noStrike">
                <a:solidFill>
                  <a:srgbClr val="000000"/>
                </a:solidFill>
                <a:latin typeface="Arial"/>
              </a:rPr>
              <a:t>Sixth Outline Level</a:t>
            </a:r>
            <a:endParaRPr b="0" lang="fr-F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2000" spc="-1" strike="noStrike">
                <a:solidFill>
                  <a:srgbClr val="000000"/>
                </a:solidFill>
                <a:latin typeface="Arial"/>
              </a:rPr>
              <a:t>Seventh Outline Level</a:t>
            </a:r>
            <a:endParaRPr b="0" lang="fr-F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8" name="Shape 0"/>
          <p:cNvSpPr/>
          <p:nvPr/>
        </p:nvSpPr>
        <p:spPr>
          <a:xfrm>
            <a:off x="0" y="0"/>
            <a:ext cx="163800" cy="514296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 name="Shape 1"/>
          <p:cNvSpPr/>
          <p:nvPr/>
        </p:nvSpPr>
        <p:spPr>
          <a:xfrm>
            <a:off x="0" y="4663440"/>
            <a:ext cx="9143280" cy="4795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0" name="Text 2"/>
          <p:cNvSpPr/>
          <p:nvPr/>
        </p:nvSpPr>
        <p:spPr>
          <a:xfrm>
            <a:off x="365760" y="274320"/>
            <a:ext cx="841176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99" strike="noStrike">
                <a:solidFill>
                  <a:srgbClr val="00b4d8"/>
                </a:solidFill>
                <a:latin typeface="Calibri"/>
              </a:rPr>
              <a:t>UNIVERSITÉ ULPGL — FACULTÉ DE GÉNIE INFORMATIQUE</a:t>
            </a:r>
            <a:endParaRPr b="0" lang="fr-FR" sz="900" spc="-1" strike="noStrike">
              <a:solidFill>
                <a:srgbClr val="ffffff"/>
              </a:solidFill>
              <a:latin typeface="Arial"/>
            </a:endParaRPr>
          </a:p>
        </p:txBody>
      </p:sp>
      <p:sp>
        <p:nvSpPr>
          <p:cNvPr id="11" name="Text 3"/>
          <p:cNvSpPr/>
          <p:nvPr/>
        </p:nvSpPr>
        <p:spPr>
          <a:xfrm>
            <a:off x="365760" y="822960"/>
            <a:ext cx="8411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pc="-1" strike="noStrike">
                <a:solidFill>
                  <a:srgbClr val="ffffff"/>
                </a:solidFill>
                <a:latin typeface="Calibri"/>
              </a:rPr>
              <a:t>Conception d'un Système IoT de</a:t>
            </a:r>
            <a:endParaRPr b="0" lang="fr-FR" sz="2800" spc="-1" strike="noStrike">
              <a:solidFill>
                <a:srgbClr val="ffffff"/>
              </a:solidFill>
              <a:latin typeface="Arial"/>
            </a:endParaRPr>
          </a:p>
        </p:txBody>
      </p:sp>
      <p:sp>
        <p:nvSpPr>
          <p:cNvPr id="12" name="Text 4"/>
          <p:cNvSpPr/>
          <p:nvPr/>
        </p:nvSpPr>
        <p:spPr>
          <a:xfrm>
            <a:off x="365760" y="1417320"/>
            <a:ext cx="8411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pc="-1" strike="noStrike">
                <a:solidFill>
                  <a:srgbClr val="00b4d8"/>
                </a:solidFill>
                <a:latin typeface="Calibri"/>
              </a:rPr>
              <a:t>Comptage et de Coupure Automatique</a:t>
            </a:r>
            <a:endParaRPr b="0" lang="fr-FR" sz="2800" spc="-1" strike="noStrike">
              <a:solidFill>
                <a:srgbClr val="ffffff"/>
              </a:solidFill>
              <a:latin typeface="Arial"/>
            </a:endParaRPr>
          </a:p>
        </p:txBody>
      </p:sp>
      <p:sp>
        <p:nvSpPr>
          <p:cNvPr id="13" name="Text 5"/>
          <p:cNvSpPr/>
          <p:nvPr/>
        </p:nvSpPr>
        <p:spPr>
          <a:xfrm>
            <a:off x="365760" y="2011680"/>
            <a:ext cx="8411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pc="-1" strike="noStrike">
                <a:solidFill>
                  <a:srgbClr val="ffffff"/>
                </a:solidFill>
                <a:latin typeface="Calibri"/>
              </a:rPr>
              <a:t>d'Énergie pour la Gestion Transparente</a:t>
            </a:r>
            <a:endParaRPr b="0" lang="fr-FR" sz="2800" spc="-1" strike="noStrike">
              <a:solidFill>
                <a:srgbClr val="ffffff"/>
              </a:solidFill>
              <a:latin typeface="Arial"/>
            </a:endParaRPr>
          </a:p>
        </p:txBody>
      </p:sp>
      <p:sp>
        <p:nvSpPr>
          <p:cNvPr id="14" name="Text 6"/>
          <p:cNvSpPr/>
          <p:nvPr/>
        </p:nvSpPr>
        <p:spPr>
          <a:xfrm>
            <a:off x="365760" y="2606040"/>
            <a:ext cx="841176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800" spc="-1" strike="noStrike">
                <a:solidFill>
                  <a:srgbClr val="f59e0b"/>
                </a:solidFill>
                <a:latin typeface="Calibri"/>
              </a:rPr>
              <a:t>en Milieu Locatif Urbain</a:t>
            </a:r>
            <a:endParaRPr b="0" lang="fr-FR" sz="2800" spc="-1" strike="noStrike">
              <a:solidFill>
                <a:srgbClr val="ffffff"/>
              </a:solidFill>
              <a:latin typeface="Arial"/>
            </a:endParaRPr>
          </a:p>
        </p:txBody>
      </p:sp>
      <p:sp>
        <p:nvSpPr>
          <p:cNvPr id="15" name="Shape 7"/>
          <p:cNvSpPr/>
          <p:nvPr/>
        </p:nvSpPr>
        <p:spPr>
          <a:xfrm>
            <a:off x="365760" y="3337560"/>
            <a:ext cx="2742480" cy="36000"/>
          </a:xfrm>
          <a:prstGeom prst="rect">
            <a:avLst/>
          </a:prstGeom>
          <a:solidFill>
            <a:srgbClr val="1c7293"/>
          </a:solidFill>
          <a:ln w="12700">
            <a:solidFill>
              <a:srgbClr val="1c7293"/>
            </a:solidFill>
            <a:round/>
          </a:ln>
        </p:spPr>
        <p:style>
          <a:lnRef idx="0"/>
          <a:fillRef idx="0"/>
          <a:effectRef idx="0"/>
          <a:fontRef idx="minor"/>
        </p:style>
        <p:txBody>
          <a:bodyPr lIns="90000" rIns="90000" tIns="-8280" bIns="-8280" anchor="t">
            <a:noAutofit/>
          </a:bodyPr>
          <a:p>
            <a:pPr>
              <a:lnSpc>
                <a:spcPct val="100000"/>
              </a:lnSpc>
            </a:pPr>
            <a:endParaRPr b="0" lang="fr-FR" sz="1800" spc="-1" strike="noStrike">
              <a:solidFill>
                <a:srgbClr val="ffffff"/>
              </a:solidFill>
              <a:latin typeface="Arial"/>
            </a:endParaRPr>
          </a:p>
        </p:txBody>
      </p:sp>
      <p:sp>
        <p:nvSpPr>
          <p:cNvPr id="16" name="Text 8"/>
          <p:cNvSpPr/>
          <p:nvPr/>
        </p:nvSpPr>
        <p:spPr>
          <a:xfrm>
            <a:off x="365760" y="3520440"/>
            <a:ext cx="8228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200" spc="-1" strike="noStrike">
                <a:solidFill>
                  <a:srgbClr val="f0f4f8"/>
                </a:solidFill>
                <a:latin typeface="Calibri"/>
              </a:rPr>
              <a:t>Travail de Fin de Cycle — G3 Génie Informatique</a:t>
            </a:r>
            <a:endParaRPr b="0" lang="fr-FR" sz="1200" spc="-1" strike="noStrike">
              <a:solidFill>
                <a:srgbClr val="ffffff"/>
              </a:solidFill>
              <a:latin typeface="Arial"/>
            </a:endParaRPr>
          </a:p>
        </p:txBody>
      </p:sp>
      <p:sp>
        <p:nvSpPr>
          <p:cNvPr id="17" name="Text 9"/>
          <p:cNvSpPr/>
          <p:nvPr/>
        </p:nvSpPr>
        <p:spPr>
          <a:xfrm>
            <a:off x="365760" y="384048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000" spc="-1" strike="noStrike">
                <a:solidFill>
                  <a:srgbClr val="64748b"/>
                </a:solidFill>
                <a:latin typeface="Calibri"/>
              </a:rPr>
              <a:t>Présenté par : SAMUEL MATHE |  Encadreur : Master VINGI|  Année : 2025–2026</a:t>
            </a:r>
            <a:endParaRPr b="0" lang="fr-FR" sz="1000" spc="-1" strike="noStrike">
              <a:solidFill>
                <a:srgbClr val="ffffff"/>
              </a:solidFill>
              <a:latin typeface="Arial"/>
            </a:endParaRPr>
          </a:p>
        </p:txBody>
      </p:sp>
      <p:sp>
        <p:nvSpPr>
          <p:cNvPr id="18" name="Shape 10"/>
          <p:cNvSpPr/>
          <p:nvPr/>
        </p:nvSpPr>
        <p:spPr>
          <a:xfrm>
            <a:off x="6858000" y="3474720"/>
            <a:ext cx="1919520" cy="639360"/>
          </a:xfrm>
          <a:prstGeom prst="roundRect">
            <a:avLst>
              <a:gd name="adj" fmla="val 17143"/>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 name="Text 11"/>
          <p:cNvSpPr/>
          <p:nvPr/>
        </p:nvSpPr>
        <p:spPr>
          <a:xfrm>
            <a:off x="6858000" y="3474720"/>
            <a:ext cx="1919520" cy="6393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 </a:t>
            </a:r>
            <a:r>
              <a:rPr b="1" lang="fr-FR" sz="1100" spc="-1" strike="noStrike">
                <a:solidFill>
                  <a:srgbClr val="ffffff"/>
                </a:solidFill>
                <a:latin typeface="Calibri"/>
              </a:rPr>
              <a:t>Goma, RDC</a:t>
            </a:r>
            <a:endParaRPr b="0" lang="fr-FR" sz="1100" spc="-1" strike="noStrike">
              <a:solidFill>
                <a:srgbClr val="ffffff"/>
              </a:solidFill>
              <a:latin typeface="Arial"/>
            </a:endParaRPr>
          </a:p>
        </p:txBody>
      </p:sp>
      <p:sp>
        <p:nvSpPr>
          <p:cNvPr id="20" name="Text 12"/>
          <p:cNvSpPr/>
          <p:nvPr/>
        </p:nvSpPr>
        <p:spPr>
          <a:xfrm>
            <a:off x="228600" y="4709160"/>
            <a:ext cx="86860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00" spc="-1" strike="noStrike">
                <a:solidFill>
                  <a:srgbClr val="8aafc8"/>
                </a:solidFill>
                <a:latin typeface="Calibri"/>
              </a:rPr>
              <a:t>Mots-clés : ESP32 — IoT — ACS712 — ZMPT101B — Énergie — Milieu locatif — Goma</a:t>
            </a:r>
            <a:endParaRPr b="0" lang="fr-FR"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21"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2"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200" spc="299" strike="noStrike">
                <a:solidFill>
                  <a:srgbClr val="ffffff"/>
                </a:solidFill>
                <a:latin typeface="Calibri"/>
              </a:rPr>
              <a:t>PLAN DE PRÉSENTATION</a:t>
            </a:r>
            <a:endParaRPr b="0" lang="fr-FR" sz="2200" spc="-1" strike="noStrike">
              <a:solidFill>
                <a:srgbClr val="000000"/>
              </a:solidFill>
              <a:latin typeface="Arial"/>
            </a:endParaRPr>
          </a:p>
        </p:txBody>
      </p:sp>
      <p:sp>
        <p:nvSpPr>
          <p:cNvPr id="23" name="Shape 2"/>
          <p:cNvSpPr/>
          <p:nvPr/>
        </p:nvSpPr>
        <p:spPr>
          <a:xfrm>
            <a:off x="457200" y="118872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4" name="Shape 3"/>
          <p:cNvSpPr/>
          <p:nvPr/>
        </p:nvSpPr>
        <p:spPr>
          <a:xfrm>
            <a:off x="457200" y="118872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5" name="Text 4"/>
          <p:cNvSpPr/>
          <p:nvPr/>
        </p:nvSpPr>
        <p:spPr>
          <a:xfrm>
            <a:off x="457200" y="118872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01</a:t>
            </a:r>
            <a:endParaRPr b="0" lang="fr-FR" sz="1600" spc="-1" strike="noStrike">
              <a:solidFill>
                <a:srgbClr val="000000"/>
              </a:solidFill>
              <a:latin typeface="Arial"/>
            </a:endParaRPr>
          </a:p>
        </p:txBody>
      </p:sp>
      <p:sp>
        <p:nvSpPr>
          <p:cNvPr id="26" name="Text 5"/>
          <p:cNvSpPr/>
          <p:nvPr/>
        </p:nvSpPr>
        <p:spPr>
          <a:xfrm>
            <a:off x="1051560" y="128016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Problématique</a:t>
            </a:r>
            <a:endParaRPr b="0" lang="fr-FR" sz="1300" spc="-1" strike="noStrike">
              <a:solidFill>
                <a:srgbClr val="000000"/>
              </a:solidFill>
              <a:latin typeface="Arial"/>
            </a:endParaRPr>
          </a:p>
        </p:txBody>
      </p:sp>
      <p:sp>
        <p:nvSpPr>
          <p:cNvPr id="27" name="Text 6"/>
          <p:cNvSpPr/>
          <p:nvPr/>
        </p:nvSpPr>
        <p:spPr>
          <a:xfrm>
            <a:off x="1051560" y="164592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Contexte énergétique en milieu locatif à Goma</a:t>
            </a:r>
            <a:endParaRPr b="0" lang="fr-FR" sz="900" spc="-1" strike="noStrike">
              <a:solidFill>
                <a:srgbClr val="000000"/>
              </a:solidFill>
              <a:latin typeface="Arial"/>
            </a:endParaRPr>
          </a:p>
        </p:txBody>
      </p:sp>
      <p:sp>
        <p:nvSpPr>
          <p:cNvPr id="28" name="Shape 7"/>
          <p:cNvSpPr/>
          <p:nvPr/>
        </p:nvSpPr>
        <p:spPr>
          <a:xfrm>
            <a:off x="4846320" y="118872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29" name="Shape 8"/>
          <p:cNvSpPr/>
          <p:nvPr/>
        </p:nvSpPr>
        <p:spPr>
          <a:xfrm>
            <a:off x="4846320" y="118872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0" name="Text 9"/>
          <p:cNvSpPr/>
          <p:nvPr/>
        </p:nvSpPr>
        <p:spPr>
          <a:xfrm>
            <a:off x="4846320" y="118872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02</a:t>
            </a:r>
            <a:endParaRPr b="0" lang="fr-FR" sz="1600" spc="-1" strike="noStrike">
              <a:solidFill>
                <a:srgbClr val="000000"/>
              </a:solidFill>
              <a:latin typeface="Arial"/>
            </a:endParaRPr>
          </a:p>
        </p:txBody>
      </p:sp>
      <p:sp>
        <p:nvSpPr>
          <p:cNvPr id="31" name="Text 10"/>
          <p:cNvSpPr/>
          <p:nvPr/>
        </p:nvSpPr>
        <p:spPr>
          <a:xfrm>
            <a:off x="5440680" y="128016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Hypothèse</a:t>
            </a:r>
            <a:endParaRPr b="0" lang="fr-FR" sz="1300" spc="-1" strike="noStrike">
              <a:solidFill>
                <a:srgbClr val="000000"/>
              </a:solidFill>
              <a:latin typeface="Arial"/>
            </a:endParaRPr>
          </a:p>
        </p:txBody>
      </p:sp>
      <p:sp>
        <p:nvSpPr>
          <p:cNvPr id="32" name="Text 11"/>
          <p:cNvSpPr/>
          <p:nvPr/>
        </p:nvSpPr>
        <p:spPr>
          <a:xfrm>
            <a:off x="5440680" y="164592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Solution proposée et résultats attendus</a:t>
            </a:r>
            <a:endParaRPr b="0" lang="fr-FR" sz="900" spc="-1" strike="noStrike">
              <a:solidFill>
                <a:srgbClr val="000000"/>
              </a:solidFill>
              <a:latin typeface="Arial"/>
            </a:endParaRPr>
          </a:p>
        </p:txBody>
      </p:sp>
      <p:sp>
        <p:nvSpPr>
          <p:cNvPr id="33" name="Shape 12"/>
          <p:cNvSpPr/>
          <p:nvPr/>
        </p:nvSpPr>
        <p:spPr>
          <a:xfrm>
            <a:off x="457200" y="242316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4" name="Shape 13"/>
          <p:cNvSpPr/>
          <p:nvPr/>
        </p:nvSpPr>
        <p:spPr>
          <a:xfrm>
            <a:off x="457200" y="242316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35" name="Text 14"/>
          <p:cNvSpPr/>
          <p:nvPr/>
        </p:nvSpPr>
        <p:spPr>
          <a:xfrm>
            <a:off x="457200" y="242316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03</a:t>
            </a:r>
            <a:endParaRPr b="0" lang="fr-FR" sz="1600" spc="-1" strike="noStrike">
              <a:solidFill>
                <a:srgbClr val="000000"/>
              </a:solidFill>
              <a:latin typeface="Arial"/>
            </a:endParaRPr>
          </a:p>
        </p:txBody>
      </p:sp>
      <p:sp>
        <p:nvSpPr>
          <p:cNvPr id="36" name="Text 15"/>
          <p:cNvSpPr/>
          <p:nvPr/>
        </p:nvSpPr>
        <p:spPr>
          <a:xfrm>
            <a:off x="1051560" y="251460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Méthodologie</a:t>
            </a:r>
            <a:endParaRPr b="0" lang="fr-FR" sz="1300" spc="-1" strike="noStrike">
              <a:solidFill>
                <a:srgbClr val="000000"/>
              </a:solidFill>
              <a:latin typeface="Arial"/>
            </a:endParaRPr>
          </a:p>
        </p:txBody>
      </p:sp>
      <p:sp>
        <p:nvSpPr>
          <p:cNvPr id="37" name="Text 16"/>
          <p:cNvSpPr/>
          <p:nvPr/>
        </p:nvSpPr>
        <p:spPr>
          <a:xfrm>
            <a:off x="1051560" y="288036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Architecture, composants et implémentation</a:t>
            </a:r>
            <a:endParaRPr b="0" lang="fr-FR" sz="900" spc="-1" strike="noStrike">
              <a:solidFill>
                <a:srgbClr val="000000"/>
              </a:solidFill>
              <a:latin typeface="Arial"/>
            </a:endParaRPr>
          </a:p>
        </p:txBody>
      </p:sp>
      <p:sp>
        <p:nvSpPr>
          <p:cNvPr id="38" name="Shape 17"/>
          <p:cNvSpPr/>
          <p:nvPr/>
        </p:nvSpPr>
        <p:spPr>
          <a:xfrm>
            <a:off x="4846320" y="242316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39" name="Shape 18"/>
          <p:cNvSpPr/>
          <p:nvPr/>
        </p:nvSpPr>
        <p:spPr>
          <a:xfrm>
            <a:off x="4846320" y="242316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40" name="Text 19"/>
          <p:cNvSpPr/>
          <p:nvPr/>
        </p:nvSpPr>
        <p:spPr>
          <a:xfrm>
            <a:off x="4846320" y="242316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04</a:t>
            </a:r>
            <a:endParaRPr b="0" lang="fr-FR" sz="1600" spc="-1" strike="noStrike">
              <a:solidFill>
                <a:srgbClr val="000000"/>
              </a:solidFill>
              <a:latin typeface="Arial"/>
            </a:endParaRPr>
          </a:p>
        </p:txBody>
      </p:sp>
      <p:sp>
        <p:nvSpPr>
          <p:cNvPr id="41" name="Text 20"/>
          <p:cNvSpPr/>
          <p:nvPr/>
        </p:nvSpPr>
        <p:spPr>
          <a:xfrm>
            <a:off x="5440680" y="251460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Résultats attendus</a:t>
            </a:r>
            <a:endParaRPr b="0" lang="fr-FR" sz="1300" spc="-1" strike="noStrike">
              <a:solidFill>
                <a:srgbClr val="000000"/>
              </a:solidFill>
              <a:latin typeface="Arial"/>
            </a:endParaRPr>
          </a:p>
        </p:txBody>
      </p:sp>
      <p:sp>
        <p:nvSpPr>
          <p:cNvPr id="42" name="Text 21"/>
          <p:cNvSpPr/>
          <p:nvPr/>
        </p:nvSpPr>
        <p:spPr>
          <a:xfrm>
            <a:off x="5440680" y="288036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Validation et impact mesurable</a:t>
            </a:r>
            <a:endParaRPr b="0" lang="fr-FR" sz="900" spc="-1" strike="noStrike">
              <a:solidFill>
                <a:srgbClr val="000000"/>
              </a:solidFill>
              <a:latin typeface="Arial"/>
            </a:endParaRPr>
          </a:p>
        </p:txBody>
      </p:sp>
      <p:sp>
        <p:nvSpPr>
          <p:cNvPr id="43" name="Shape 22"/>
          <p:cNvSpPr/>
          <p:nvPr/>
        </p:nvSpPr>
        <p:spPr>
          <a:xfrm>
            <a:off x="457200" y="365760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44" name="Shape 23"/>
          <p:cNvSpPr/>
          <p:nvPr/>
        </p:nvSpPr>
        <p:spPr>
          <a:xfrm>
            <a:off x="457200" y="365760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45" name="Text 24"/>
          <p:cNvSpPr/>
          <p:nvPr/>
        </p:nvSpPr>
        <p:spPr>
          <a:xfrm>
            <a:off x="457200" y="365760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05</a:t>
            </a:r>
            <a:endParaRPr b="0" lang="fr-FR" sz="1600" spc="-1" strike="noStrike">
              <a:solidFill>
                <a:srgbClr val="000000"/>
              </a:solidFill>
              <a:latin typeface="Arial"/>
            </a:endParaRPr>
          </a:p>
        </p:txBody>
      </p:sp>
      <p:sp>
        <p:nvSpPr>
          <p:cNvPr id="46" name="Text 25"/>
          <p:cNvSpPr/>
          <p:nvPr/>
        </p:nvSpPr>
        <p:spPr>
          <a:xfrm>
            <a:off x="1051560" y="374904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Conclusion</a:t>
            </a:r>
            <a:endParaRPr b="0" lang="fr-FR" sz="1300" spc="-1" strike="noStrike">
              <a:solidFill>
                <a:srgbClr val="000000"/>
              </a:solidFill>
              <a:latin typeface="Arial"/>
            </a:endParaRPr>
          </a:p>
        </p:txBody>
      </p:sp>
      <p:sp>
        <p:nvSpPr>
          <p:cNvPr id="47" name="Text 26"/>
          <p:cNvSpPr/>
          <p:nvPr/>
        </p:nvSpPr>
        <p:spPr>
          <a:xfrm>
            <a:off x="1051560" y="411480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Bilan et perspectives</a:t>
            </a:r>
            <a:endParaRPr b="0" lang="fr-FR" sz="900" spc="-1" strike="noStrike">
              <a:solidFill>
                <a:srgbClr val="000000"/>
              </a:solidFill>
              <a:latin typeface="Arial"/>
            </a:endParaRPr>
          </a:p>
        </p:txBody>
      </p:sp>
      <p:sp>
        <p:nvSpPr>
          <p:cNvPr id="48" name="Shape 27"/>
          <p:cNvSpPr/>
          <p:nvPr/>
        </p:nvSpPr>
        <p:spPr>
          <a:xfrm>
            <a:off x="2423160" y="3657600"/>
            <a:ext cx="3839760" cy="100512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49" name="Shape 28"/>
          <p:cNvSpPr/>
          <p:nvPr/>
        </p:nvSpPr>
        <p:spPr>
          <a:xfrm>
            <a:off x="2423160" y="3657600"/>
            <a:ext cx="502200" cy="10051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50" name="Text 29"/>
          <p:cNvSpPr/>
          <p:nvPr/>
        </p:nvSpPr>
        <p:spPr>
          <a:xfrm>
            <a:off x="2423160" y="3657600"/>
            <a:ext cx="50220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00b4d8"/>
                </a:solidFill>
                <a:latin typeface="Calibri"/>
              </a:rPr>
              <a:t>05</a:t>
            </a:r>
            <a:endParaRPr b="0" lang="fr-FR" sz="1600" spc="-1" strike="noStrike">
              <a:solidFill>
                <a:srgbClr val="000000"/>
              </a:solidFill>
              <a:latin typeface="Arial"/>
            </a:endParaRPr>
          </a:p>
        </p:txBody>
      </p:sp>
      <p:sp>
        <p:nvSpPr>
          <p:cNvPr id="51" name="Text 30"/>
          <p:cNvSpPr/>
          <p:nvPr/>
        </p:nvSpPr>
        <p:spPr>
          <a:xfrm>
            <a:off x="3017520" y="3749040"/>
            <a:ext cx="3153960" cy="346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300" spc="-1" strike="noStrike">
                <a:solidFill>
                  <a:srgbClr val="065a82"/>
                </a:solidFill>
                <a:latin typeface="Calibri"/>
              </a:rPr>
              <a:t>Conclusion</a:t>
            </a:r>
            <a:endParaRPr b="0" lang="fr-FR" sz="1300" spc="-1" strike="noStrike">
              <a:solidFill>
                <a:srgbClr val="000000"/>
              </a:solidFill>
              <a:latin typeface="Arial"/>
            </a:endParaRPr>
          </a:p>
        </p:txBody>
      </p:sp>
      <p:sp>
        <p:nvSpPr>
          <p:cNvPr id="52" name="Text 31"/>
          <p:cNvSpPr/>
          <p:nvPr/>
        </p:nvSpPr>
        <p:spPr>
          <a:xfrm>
            <a:off x="3017520" y="4114800"/>
            <a:ext cx="3153960" cy="456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64748b"/>
                </a:solidFill>
                <a:latin typeface="Calibri"/>
              </a:rPr>
              <a:t>Bilan et perspectives</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53"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54"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199" strike="noStrike">
                <a:solidFill>
                  <a:srgbClr val="00b4d8"/>
                </a:solidFill>
                <a:latin typeface="Calibri"/>
              </a:rPr>
              <a:t>01  </a:t>
            </a:r>
            <a:r>
              <a:rPr b="1" lang="fr-FR" sz="2000" spc="199" strike="noStrike">
                <a:solidFill>
                  <a:srgbClr val="ffffff"/>
                </a:solidFill>
                <a:latin typeface="Calibri"/>
              </a:rPr>
              <a:t>PROBLÉMATIQUE</a:t>
            </a:r>
            <a:endParaRPr b="0" lang="fr-FR" sz="2000" spc="-1" strike="noStrike">
              <a:solidFill>
                <a:srgbClr val="000000"/>
              </a:solidFill>
              <a:latin typeface="Arial"/>
            </a:endParaRPr>
          </a:p>
        </p:txBody>
      </p:sp>
      <p:sp>
        <p:nvSpPr>
          <p:cNvPr id="55" name="Shape 2"/>
          <p:cNvSpPr/>
          <p:nvPr/>
        </p:nvSpPr>
        <p:spPr>
          <a:xfrm>
            <a:off x="274320" y="1005840"/>
            <a:ext cx="4022640" cy="37483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56" name="Shape 3"/>
          <p:cNvSpPr/>
          <p:nvPr/>
        </p:nvSpPr>
        <p:spPr>
          <a:xfrm>
            <a:off x="274320" y="1005840"/>
            <a:ext cx="402264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57" name="Text 4"/>
          <p:cNvSpPr/>
          <p:nvPr/>
        </p:nvSpPr>
        <p:spPr>
          <a:xfrm>
            <a:off x="274320" y="1005840"/>
            <a:ext cx="402264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CONTEXTE — GOMA</a:t>
            </a:r>
            <a:endParaRPr b="0" lang="fr-FR" sz="1100" spc="-1" strike="noStrike">
              <a:solidFill>
                <a:srgbClr val="000000"/>
              </a:solidFill>
              <a:latin typeface="Arial"/>
            </a:endParaRPr>
          </a:p>
        </p:txBody>
      </p:sp>
      <p:sp>
        <p:nvSpPr>
          <p:cNvPr id="58" name="Text 5"/>
          <p:cNvSpPr/>
          <p:nvPr/>
        </p:nvSpPr>
        <p:spPr>
          <a:xfrm>
            <a:off x="457200" y="1508760"/>
            <a:ext cx="3656880" cy="31082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fr-FR" sz="1050" spc="-1" strike="noStrike">
                <a:solidFill>
                  <a:srgbClr val="065a82"/>
                </a:solidFill>
                <a:latin typeface="Calibri"/>
              </a:rPr>
              <a:t>Alimentation électrique : </a:t>
            </a:r>
            <a:r>
              <a:rPr b="0" lang="fr-FR" sz="1050" spc="-1" strike="noStrike">
                <a:solidFill>
                  <a:srgbClr val="065a82"/>
                </a:solidFill>
                <a:latin typeface="Calibri"/>
              </a:rPr>
              <a:t>SOCODEE / Virunga / NURU</a:t>
            </a:r>
            <a:endParaRPr b="0" lang="fr-FR" sz="1050" spc="-1" strike="noStrike">
              <a:solidFill>
                <a:srgbClr val="000000"/>
              </a:solidFill>
              <a:latin typeface="Arial"/>
            </a:endParaRPr>
          </a:p>
          <a:p>
            <a:pPr>
              <a:lnSpc>
                <a:spcPct val="100000"/>
              </a:lnSpc>
            </a:pPr>
            <a:endParaRPr b="0" lang="fr-FR" sz="1050" spc="-1" strike="noStrike">
              <a:solidFill>
                <a:srgbClr val="000000"/>
              </a:solidFill>
              <a:latin typeface="Arial"/>
            </a:endParaRPr>
          </a:p>
          <a:p>
            <a:pPr>
              <a:lnSpc>
                <a:spcPct val="100000"/>
              </a:lnSpc>
            </a:pPr>
            <a:r>
              <a:rPr b="1" lang="fr-FR" sz="1050" spc="-1" strike="noStrike">
                <a:solidFill>
                  <a:srgbClr val="065a82"/>
                </a:solidFill>
                <a:latin typeface="Calibri"/>
              </a:rPr>
              <a:t>Structure des concessions :</a:t>
            </a:r>
            <a:endParaRPr b="0" lang="fr-FR" sz="1050" spc="-1" strike="noStrike">
              <a:solidFill>
                <a:srgbClr val="000000"/>
              </a:solidFill>
              <a:latin typeface="Arial"/>
            </a:endParaRPr>
          </a:p>
          <a:p>
            <a:pPr>
              <a:lnSpc>
                <a:spcPct val="100000"/>
              </a:lnSpc>
            </a:pPr>
            <a:r>
              <a:rPr b="0" lang="fr-FR" sz="1050" spc="-1" strike="noStrike">
                <a:solidFill>
                  <a:srgbClr val="065a82"/>
                </a:solidFill>
                <a:latin typeface="Calibri"/>
              </a:rPr>
              <a:t>Un compteur principal (bailleur)</a:t>
            </a:r>
            <a:endParaRPr b="0" lang="fr-FR" sz="1050" spc="-1" strike="noStrike">
              <a:solidFill>
                <a:srgbClr val="000000"/>
              </a:solidFill>
              <a:latin typeface="Arial"/>
            </a:endParaRPr>
          </a:p>
          <a:p>
            <a:pPr>
              <a:lnSpc>
                <a:spcPct val="100000"/>
              </a:lnSpc>
            </a:pPr>
            <a:r>
              <a:rPr b="0" lang="fr-FR" sz="1050" spc="-1" strike="noStrike">
                <a:solidFill>
                  <a:srgbClr val="065a82"/>
                </a:solidFill>
                <a:latin typeface="Calibri"/>
              </a:rPr>
              <a:t>Des sous-compteurs prépayés (locataires)</a:t>
            </a:r>
            <a:endParaRPr b="0" lang="fr-FR" sz="1050" spc="-1" strike="noStrike">
              <a:solidFill>
                <a:srgbClr val="000000"/>
              </a:solidFill>
              <a:latin typeface="Arial"/>
            </a:endParaRPr>
          </a:p>
          <a:p>
            <a:pPr>
              <a:lnSpc>
                <a:spcPct val="100000"/>
              </a:lnSpc>
            </a:pPr>
            <a:endParaRPr b="0" lang="fr-FR" sz="1050" spc="-1" strike="noStrike">
              <a:solidFill>
                <a:srgbClr val="000000"/>
              </a:solidFill>
              <a:latin typeface="Arial"/>
            </a:endParaRPr>
          </a:p>
          <a:p>
            <a:pPr>
              <a:lnSpc>
                <a:spcPct val="100000"/>
              </a:lnSpc>
            </a:pPr>
            <a:r>
              <a:rPr b="1" lang="fr-FR" sz="1050" spc="-1" strike="noStrike">
                <a:solidFill>
                  <a:srgbClr val="ef4444"/>
                </a:solidFill>
                <a:latin typeface="Calibri"/>
              </a:rPr>
              <a:t>Problème observé :</a:t>
            </a:r>
            <a:endParaRPr b="0" lang="fr-FR" sz="1050" spc="-1" strike="noStrike">
              <a:solidFill>
                <a:srgbClr val="000000"/>
              </a:solidFill>
              <a:latin typeface="Arial"/>
            </a:endParaRPr>
          </a:p>
          <a:p>
            <a:pPr defTabSz="914400">
              <a:lnSpc>
                <a:spcPct val="100000"/>
              </a:lnSpc>
              <a:tabLst>
                <a:tab algn="l" pos="0"/>
              </a:tabLst>
            </a:pPr>
            <a:r>
              <a:rPr b="0" lang="fr-FR" sz="1050" spc="-1" strike="noStrike">
                <a:solidFill>
                  <a:srgbClr val="ef4444"/>
                </a:solidFill>
                <a:latin typeface="Calibri"/>
              </a:rPr>
              <a:t>Le bailleur se branche AVANT les sous-compteurs — consomme sur le crédit des locataires sans être mesuré.</a:t>
            </a:r>
            <a:endParaRPr b="0" lang="fr-FR" sz="1050" spc="-1" strike="noStrike">
              <a:solidFill>
                <a:srgbClr val="000000"/>
              </a:solidFill>
              <a:latin typeface="Arial"/>
            </a:endParaRPr>
          </a:p>
        </p:txBody>
      </p:sp>
      <p:sp>
        <p:nvSpPr>
          <p:cNvPr id="59" name="Shape 6"/>
          <p:cNvSpPr/>
          <p:nvPr/>
        </p:nvSpPr>
        <p:spPr>
          <a:xfrm>
            <a:off x="4572000" y="1005840"/>
            <a:ext cx="4296960" cy="37483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0" name="Shape 7"/>
          <p:cNvSpPr/>
          <p:nvPr/>
        </p:nvSpPr>
        <p:spPr>
          <a:xfrm>
            <a:off x="4572000" y="1005840"/>
            <a:ext cx="4296960" cy="41076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61" name="Text 8"/>
          <p:cNvSpPr/>
          <p:nvPr/>
        </p:nvSpPr>
        <p:spPr>
          <a:xfrm>
            <a:off x="4572000" y="1005840"/>
            <a:ext cx="429696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CONSÉQUENCES</a:t>
            </a:r>
            <a:endParaRPr b="0" lang="fr-FR" sz="1100" spc="-1" strike="noStrike">
              <a:solidFill>
                <a:srgbClr val="000000"/>
              </a:solidFill>
              <a:latin typeface="Arial"/>
            </a:endParaRPr>
          </a:p>
        </p:txBody>
      </p:sp>
      <p:sp>
        <p:nvSpPr>
          <p:cNvPr id="62" name="Shape 9"/>
          <p:cNvSpPr/>
          <p:nvPr/>
        </p:nvSpPr>
        <p:spPr>
          <a:xfrm>
            <a:off x="4709160" y="1554480"/>
            <a:ext cx="4022640" cy="50220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3" name="Text 10"/>
          <p:cNvSpPr/>
          <p:nvPr/>
        </p:nvSpPr>
        <p:spPr>
          <a:xfrm>
            <a:off x="4754880" y="1554480"/>
            <a:ext cx="36504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pc="-1" strike="noStrike">
                <a:solidFill>
                  <a:srgbClr val="000000"/>
                </a:solidFill>
                <a:latin typeface="Calibri"/>
              </a:rPr>
              <a:t>💸</a:t>
            </a:r>
            <a:endParaRPr b="0" lang="fr-FR" sz="1400" spc="-1" strike="noStrike">
              <a:solidFill>
                <a:srgbClr val="000000"/>
              </a:solidFill>
              <a:latin typeface="Arial"/>
            </a:endParaRPr>
          </a:p>
        </p:txBody>
      </p:sp>
      <p:sp>
        <p:nvSpPr>
          <p:cNvPr id="64" name="Text 11"/>
          <p:cNvSpPr/>
          <p:nvPr/>
        </p:nvSpPr>
        <p:spPr>
          <a:xfrm>
            <a:off x="5166360" y="1600200"/>
            <a:ext cx="34740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pc="-1" strike="noStrike">
                <a:solidFill>
                  <a:srgbClr val="065a82"/>
                </a:solidFill>
                <a:latin typeface="Calibri"/>
              </a:rPr>
              <a:t>Augmentation injustifiée des coûts de production pour les locataires</a:t>
            </a:r>
            <a:endParaRPr b="0" lang="fr-FR" sz="950" spc="-1" strike="noStrike">
              <a:solidFill>
                <a:srgbClr val="000000"/>
              </a:solidFill>
              <a:latin typeface="Arial"/>
            </a:endParaRPr>
          </a:p>
        </p:txBody>
      </p:sp>
      <p:sp>
        <p:nvSpPr>
          <p:cNvPr id="65" name="Shape 12"/>
          <p:cNvSpPr/>
          <p:nvPr/>
        </p:nvSpPr>
        <p:spPr>
          <a:xfrm>
            <a:off x="4709160" y="2167200"/>
            <a:ext cx="4022640" cy="50220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6" name="Text 13"/>
          <p:cNvSpPr/>
          <p:nvPr/>
        </p:nvSpPr>
        <p:spPr>
          <a:xfrm>
            <a:off x="4754880" y="2167200"/>
            <a:ext cx="36504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pc="-1" strike="noStrike">
                <a:solidFill>
                  <a:srgbClr val="000000"/>
                </a:solidFill>
                <a:latin typeface="Calibri"/>
              </a:rPr>
              <a:t>📉</a:t>
            </a:r>
            <a:endParaRPr b="0" lang="fr-FR" sz="1400" spc="-1" strike="noStrike">
              <a:solidFill>
                <a:srgbClr val="000000"/>
              </a:solidFill>
              <a:latin typeface="Arial"/>
            </a:endParaRPr>
          </a:p>
        </p:txBody>
      </p:sp>
      <p:sp>
        <p:nvSpPr>
          <p:cNvPr id="67" name="Text 14"/>
          <p:cNvSpPr/>
          <p:nvPr/>
        </p:nvSpPr>
        <p:spPr>
          <a:xfrm>
            <a:off x="5166360" y="2212920"/>
            <a:ext cx="34740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pc="-1" strike="noStrike">
                <a:solidFill>
                  <a:srgbClr val="065a82"/>
                </a:solidFill>
                <a:latin typeface="Calibri"/>
              </a:rPr>
              <a:t>Baisse de la rentabilité des ménages locataires</a:t>
            </a:r>
            <a:endParaRPr b="0" lang="fr-FR" sz="950" spc="-1" strike="noStrike">
              <a:solidFill>
                <a:srgbClr val="000000"/>
              </a:solidFill>
              <a:latin typeface="Arial"/>
            </a:endParaRPr>
          </a:p>
        </p:txBody>
      </p:sp>
      <p:sp>
        <p:nvSpPr>
          <p:cNvPr id="68" name="Shape 15"/>
          <p:cNvSpPr/>
          <p:nvPr/>
        </p:nvSpPr>
        <p:spPr>
          <a:xfrm>
            <a:off x="4709160" y="2779920"/>
            <a:ext cx="4022640" cy="50220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69" name="Text 16"/>
          <p:cNvSpPr/>
          <p:nvPr/>
        </p:nvSpPr>
        <p:spPr>
          <a:xfrm>
            <a:off x="4754880" y="2779920"/>
            <a:ext cx="36504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pc="-1" strike="noStrike">
                <a:solidFill>
                  <a:srgbClr val="000000"/>
                </a:solidFill>
                <a:latin typeface="Calibri"/>
              </a:rPr>
              <a:t>⚔️</a:t>
            </a:r>
            <a:endParaRPr b="0" lang="fr-FR" sz="1400" spc="-1" strike="noStrike">
              <a:solidFill>
                <a:srgbClr val="000000"/>
              </a:solidFill>
              <a:latin typeface="Arial"/>
            </a:endParaRPr>
          </a:p>
        </p:txBody>
      </p:sp>
      <p:sp>
        <p:nvSpPr>
          <p:cNvPr id="70" name="Text 17"/>
          <p:cNvSpPr/>
          <p:nvPr/>
        </p:nvSpPr>
        <p:spPr>
          <a:xfrm>
            <a:off x="5166360" y="2825640"/>
            <a:ext cx="34740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pc="-1" strike="noStrike">
                <a:solidFill>
                  <a:srgbClr val="065a82"/>
                </a:solidFill>
                <a:latin typeface="Calibri"/>
              </a:rPr>
              <a:t>Conflits récurrents bailleur–locataires non résolus</a:t>
            </a:r>
            <a:endParaRPr b="0" lang="fr-FR" sz="950" spc="-1" strike="noStrike">
              <a:solidFill>
                <a:srgbClr val="000000"/>
              </a:solidFill>
              <a:latin typeface="Arial"/>
            </a:endParaRPr>
          </a:p>
        </p:txBody>
      </p:sp>
      <p:sp>
        <p:nvSpPr>
          <p:cNvPr id="71" name="Shape 18"/>
          <p:cNvSpPr/>
          <p:nvPr/>
        </p:nvSpPr>
        <p:spPr>
          <a:xfrm>
            <a:off x="4709160" y="3392280"/>
            <a:ext cx="4022640" cy="50220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72" name="Text 19"/>
          <p:cNvSpPr/>
          <p:nvPr/>
        </p:nvSpPr>
        <p:spPr>
          <a:xfrm>
            <a:off x="4754880" y="3392280"/>
            <a:ext cx="36504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pc="-1" strike="noStrike">
                <a:solidFill>
                  <a:srgbClr val="000000"/>
                </a:solidFill>
                <a:latin typeface="Calibri"/>
              </a:rPr>
              <a:t>🌍</a:t>
            </a:r>
            <a:endParaRPr b="0" lang="fr-FR" sz="1400" spc="-1" strike="noStrike">
              <a:solidFill>
                <a:srgbClr val="000000"/>
              </a:solidFill>
              <a:latin typeface="Arial"/>
            </a:endParaRPr>
          </a:p>
        </p:txBody>
      </p:sp>
      <p:sp>
        <p:nvSpPr>
          <p:cNvPr id="73" name="Text 20"/>
          <p:cNvSpPr/>
          <p:nvPr/>
        </p:nvSpPr>
        <p:spPr>
          <a:xfrm>
            <a:off x="5166360" y="3438000"/>
            <a:ext cx="34740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pc="-1" strike="noStrike">
                <a:solidFill>
                  <a:srgbClr val="065a82"/>
                </a:solidFill>
                <a:latin typeface="Calibri"/>
              </a:rPr>
              <a:t>Absence totale de transparence dans la consommation partagée</a:t>
            </a:r>
            <a:endParaRPr b="0" lang="fr-FR" sz="950" spc="-1" strike="noStrike">
              <a:solidFill>
                <a:srgbClr val="000000"/>
              </a:solidFill>
              <a:latin typeface="Arial"/>
            </a:endParaRPr>
          </a:p>
        </p:txBody>
      </p:sp>
      <p:sp>
        <p:nvSpPr>
          <p:cNvPr id="74" name="Shape 21"/>
          <p:cNvSpPr/>
          <p:nvPr/>
        </p:nvSpPr>
        <p:spPr>
          <a:xfrm>
            <a:off x="4709160" y="4005000"/>
            <a:ext cx="4022640" cy="502200"/>
          </a:xfrm>
          <a:prstGeom prst="rect">
            <a:avLst/>
          </a:prstGeom>
          <a:solidFill>
            <a:srgbClr val="eff6ff"/>
          </a:solidFill>
          <a:ln w="12700">
            <a:solidFill>
              <a:srgbClr val="e2eef9"/>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75" name="Text 22"/>
          <p:cNvSpPr/>
          <p:nvPr/>
        </p:nvSpPr>
        <p:spPr>
          <a:xfrm>
            <a:off x="4754880" y="4005000"/>
            <a:ext cx="36504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1400" spc="-1" strike="noStrike">
                <a:solidFill>
                  <a:srgbClr val="000000"/>
                </a:solidFill>
                <a:latin typeface="Calibri"/>
              </a:rPr>
              <a:t>🔌</a:t>
            </a:r>
            <a:endParaRPr b="0" lang="fr-FR" sz="1400" spc="-1" strike="noStrike">
              <a:solidFill>
                <a:srgbClr val="000000"/>
              </a:solidFill>
              <a:latin typeface="Arial"/>
            </a:endParaRPr>
          </a:p>
        </p:txBody>
      </p:sp>
      <p:sp>
        <p:nvSpPr>
          <p:cNvPr id="76" name="Text 23"/>
          <p:cNvSpPr/>
          <p:nvPr/>
        </p:nvSpPr>
        <p:spPr>
          <a:xfrm>
            <a:off x="5166360" y="4050720"/>
            <a:ext cx="347400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50" spc="-1" strike="noStrike">
                <a:solidFill>
                  <a:srgbClr val="065a82"/>
                </a:solidFill>
                <a:latin typeface="Calibri"/>
              </a:rPr>
              <a:t>Coupures imprévisibles sans notification préalable</a:t>
            </a:r>
            <a:endParaRPr b="0" lang="fr-FR"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77"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78"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199" strike="noStrike">
                <a:solidFill>
                  <a:srgbClr val="00b4d8"/>
                </a:solidFill>
                <a:latin typeface="Calibri"/>
              </a:rPr>
              <a:t>01  </a:t>
            </a:r>
            <a:r>
              <a:rPr b="1" lang="fr-FR" sz="1800" spc="199" strike="noStrike">
                <a:solidFill>
                  <a:srgbClr val="ffffff"/>
                </a:solidFill>
                <a:latin typeface="Calibri"/>
              </a:rPr>
              <a:t>PROBLÉMATIQUE — Question de recherche</a:t>
            </a:r>
            <a:endParaRPr b="0" lang="fr-FR" sz="1800" spc="-1" strike="noStrike">
              <a:solidFill>
                <a:srgbClr val="ffffff"/>
              </a:solidFill>
              <a:latin typeface="Arial"/>
            </a:endParaRPr>
          </a:p>
        </p:txBody>
      </p:sp>
      <p:sp>
        <p:nvSpPr>
          <p:cNvPr id="79" name="Shape 2"/>
          <p:cNvSpPr/>
          <p:nvPr/>
        </p:nvSpPr>
        <p:spPr>
          <a:xfrm>
            <a:off x="731520" y="1188720"/>
            <a:ext cx="7680240" cy="2010960"/>
          </a:xfrm>
          <a:prstGeom prst="rect">
            <a:avLst/>
          </a:prstGeom>
          <a:solidFill>
            <a:srgbClr val="065a82"/>
          </a:solidFill>
          <a:ln w="12700">
            <a:solidFill>
              <a:srgbClr val="00b4d8"/>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0" name="Shape 3"/>
          <p:cNvSpPr/>
          <p:nvPr/>
        </p:nvSpPr>
        <p:spPr>
          <a:xfrm>
            <a:off x="731520" y="1188720"/>
            <a:ext cx="109080" cy="201096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1" name="Text 4"/>
          <p:cNvSpPr/>
          <p:nvPr/>
        </p:nvSpPr>
        <p:spPr>
          <a:xfrm>
            <a:off x="1005840" y="1234440"/>
            <a:ext cx="7131600" cy="365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1000" spc="-1" strike="noStrike">
                <a:solidFill>
                  <a:srgbClr val="00b4d8"/>
                </a:solidFill>
                <a:latin typeface="Calibri"/>
              </a:rPr>
              <a:t>Question de recherche</a:t>
            </a:r>
            <a:endParaRPr b="0" lang="fr-FR" sz="1000" spc="-1" strike="noStrike">
              <a:solidFill>
                <a:srgbClr val="ffffff"/>
              </a:solidFill>
              <a:latin typeface="Arial"/>
            </a:endParaRPr>
          </a:p>
        </p:txBody>
      </p:sp>
      <p:sp>
        <p:nvSpPr>
          <p:cNvPr id="82" name="Text 5"/>
          <p:cNvSpPr/>
          <p:nvPr/>
        </p:nvSpPr>
        <p:spPr>
          <a:xfrm>
            <a:off x="1005840" y="1645920"/>
            <a:ext cx="7131600" cy="1416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500" spc="-1" strike="noStrike">
                <a:solidFill>
                  <a:srgbClr val="ffffff"/>
                </a:solidFill>
                <a:latin typeface="Calibri"/>
              </a:rPr>
              <a:t>Comment la mise en place d'un système embarqué IoT</a:t>
            </a:r>
            <a:endParaRPr b="0" lang="fr-FR" sz="1500" spc="-1" strike="noStrike">
              <a:solidFill>
                <a:srgbClr val="ffffff"/>
              </a:solidFill>
              <a:latin typeface="Arial"/>
            </a:endParaRPr>
          </a:p>
          <a:p>
            <a:pPr defTabSz="914400">
              <a:lnSpc>
                <a:spcPct val="100000"/>
              </a:lnSpc>
              <a:tabLst>
                <a:tab algn="l" pos="0"/>
              </a:tabLst>
            </a:pPr>
            <a:r>
              <a:rPr b="1" lang="fr-FR" sz="1500" spc="-1" strike="noStrike">
                <a:solidFill>
                  <a:srgbClr val="ffffff"/>
                </a:solidFill>
                <a:latin typeface="Calibri"/>
              </a:rPr>
              <a:t>pourrait-elle assurer une gestion équitable, transparente</a:t>
            </a:r>
            <a:endParaRPr b="0" lang="fr-FR" sz="1500" spc="-1" strike="noStrike">
              <a:solidFill>
                <a:srgbClr val="ffffff"/>
              </a:solidFill>
              <a:latin typeface="Arial"/>
            </a:endParaRPr>
          </a:p>
          <a:p>
            <a:pPr defTabSz="914400">
              <a:lnSpc>
                <a:spcPct val="100000"/>
              </a:lnSpc>
              <a:tabLst>
                <a:tab algn="l" pos="0"/>
              </a:tabLst>
            </a:pPr>
            <a:r>
              <a:rPr b="1" lang="fr-FR" sz="1500" spc="-1" strike="noStrike">
                <a:solidFill>
                  <a:srgbClr val="ffffff"/>
                </a:solidFill>
                <a:latin typeface="Calibri"/>
              </a:rPr>
              <a:t>et automatique de la consommation électrique entre</a:t>
            </a:r>
            <a:endParaRPr b="0" lang="fr-FR" sz="1500" spc="-1" strike="noStrike">
              <a:solidFill>
                <a:srgbClr val="ffffff"/>
              </a:solidFill>
              <a:latin typeface="Arial"/>
            </a:endParaRPr>
          </a:p>
          <a:p>
            <a:pPr defTabSz="914400">
              <a:lnSpc>
                <a:spcPct val="100000"/>
              </a:lnSpc>
              <a:tabLst>
                <a:tab algn="l" pos="0"/>
              </a:tabLst>
            </a:pPr>
            <a:r>
              <a:rPr b="1" lang="fr-FR" sz="1500" spc="-1" strike="noStrike">
                <a:solidFill>
                  <a:srgbClr val="ffffff"/>
                </a:solidFill>
                <a:latin typeface="Calibri"/>
              </a:rPr>
              <a:t>bailleur et locataires dans une concession résidentielle ?</a:t>
            </a:r>
            <a:endParaRPr b="0" lang="fr-FR" sz="1500" spc="-1" strike="noStrike">
              <a:solidFill>
                <a:srgbClr val="ffffff"/>
              </a:solidFill>
              <a:latin typeface="Arial"/>
            </a:endParaRPr>
          </a:p>
        </p:txBody>
      </p:sp>
      <p:sp>
        <p:nvSpPr>
          <p:cNvPr id="83" name="Shape 6"/>
          <p:cNvSpPr/>
          <p:nvPr/>
        </p:nvSpPr>
        <p:spPr>
          <a:xfrm>
            <a:off x="731520" y="3474720"/>
            <a:ext cx="2559600" cy="137088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4" name="Text 7"/>
          <p:cNvSpPr/>
          <p:nvPr/>
        </p:nvSpPr>
        <p:spPr>
          <a:xfrm>
            <a:off x="731520" y="3520440"/>
            <a:ext cx="255960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pc="-1" strike="noStrike">
                <a:solidFill>
                  <a:srgbClr val="f59e0b"/>
                </a:solidFill>
                <a:latin typeface="Calibri"/>
              </a:rPr>
              <a:t>~$15</a:t>
            </a:r>
            <a:endParaRPr b="0" lang="fr-FR" sz="2800" spc="-1" strike="noStrike">
              <a:solidFill>
                <a:srgbClr val="ffffff"/>
              </a:solidFill>
              <a:latin typeface="Arial"/>
            </a:endParaRPr>
          </a:p>
        </p:txBody>
      </p:sp>
      <p:sp>
        <p:nvSpPr>
          <p:cNvPr id="85" name="Text 8"/>
          <p:cNvSpPr/>
          <p:nvPr/>
        </p:nvSpPr>
        <p:spPr>
          <a:xfrm>
            <a:off x="731520" y="4069080"/>
            <a:ext cx="255960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Coût sous-compteur actuel</a:t>
            </a:r>
            <a:endParaRPr b="0" lang="fr-FR" sz="900" spc="-1" strike="noStrike">
              <a:solidFill>
                <a:srgbClr val="ffffff"/>
              </a:solidFill>
              <a:latin typeface="Arial"/>
            </a:endParaRPr>
          </a:p>
        </p:txBody>
      </p:sp>
      <p:sp>
        <p:nvSpPr>
          <p:cNvPr id="86" name="Text 9"/>
          <p:cNvSpPr/>
          <p:nvPr/>
        </p:nvSpPr>
        <p:spPr>
          <a:xfrm>
            <a:off x="731520" y="4434840"/>
            <a:ext cx="2559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pc="-1" strike="noStrike">
                <a:solidFill>
                  <a:srgbClr val="a8d8ea"/>
                </a:solidFill>
                <a:latin typeface="Calibri"/>
              </a:rPr>
              <a:t>sans coupure automatique</a:t>
            </a:r>
            <a:endParaRPr b="0" lang="fr-FR" sz="800" spc="-1" strike="noStrike">
              <a:solidFill>
                <a:srgbClr val="ffffff"/>
              </a:solidFill>
              <a:latin typeface="Arial"/>
            </a:endParaRPr>
          </a:p>
        </p:txBody>
      </p:sp>
      <p:sp>
        <p:nvSpPr>
          <p:cNvPr id="87" name="Shape 10"/>
          <p:cNvSpPr/>
          <p:nvPr/>
        </p:nvSpPr>
        <p:spPr>
          <a:xfrm>
            <a:off x="3566160" y="3474720"/>
            <a:ext cx="2559600" cy="137088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88" name="Text 11"/>
          <p:cNvSpPr/>
          <p:nvPr/>
        </p:nvSpPr>
        <p:spPr>
          <a:xfrm>
            <a:off x="3566160" y="3520440"/>
            <a:ext cx="255960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pc="-1" strike="noStrike">
                <a:solidFill>
                  <a:srgbClr val="f59e0b"/>
                </a:solidFill>
                <a:latin typeface="Calibri"/>
              </a:rPr>
              <a:t>7–8</a:t>
            </a:r>
            <a:endParaRPr b="0" lang="fr-FR" sz="2800" spc="-1" strike="noStrike">
              <a:solidFill>
                <a:srgbClr val="ffffff"/>
              </a:solidFill>
              <a:latin typeface="Arial"/>
            </a:endParaRPr>
          </a:p>
        </p:txBody>
      </p:sp>
      <p:sp>
        <p:nvSpPr>
          <p:cNvPr id="89" name="Text 12"/>
          <p:cNvSpPr/>
          <p:nvPr/>
        </p:nvSpPr>
        <p:spPr>
          <a:xfrm>
            <a:off x="3566160" y="4069080"/>
            <a:ext cx="255960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Locataires par concession</a:t>
            </a:r>
            <a:endParaRPr b="0" lang="fr-FR" sz="900" spc="-1" strike="noStrike">
              <a:solidFill>
                <a:srgbClr val="ffffff"/>
              </a:solidFill>
              <a:latin typeface="Arial"/>
            </a:endParaRPr>
          </a:p>
        </p:txBody>
      </p:sp>
      <p:sp>
        <p:nvSpPr>
          <p:cNvPr id="90" name="Text 13"/>
          <p:cNvSpPr/>
          <p:nvPr/>
        </p:nvSpPr>
        <p:spPr>
          <a:xfrm>
            <a:off x="3566160" y="4434840"/>
            <a:ext cx="2559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pc="-1" strike="noStrike">
                <a:solidFill>
                  <a:srgbClr val="a8d8ea"/>
                </a:solidFill>
                <a:latin typeface="Calibri"/>
              </a:rPr>
              <a:t>moyenne Goma</a:t>
            </a:r>
            <a:endParaRPr b="0" lang="fr-FR" sz="800" spc="-1" strike="noStrike">
              <a:solidFill>
                <a:srgbClr val="ffffff"/>
              </a:solidFill>
              <a:latin typeface="Arial"/>
            </a:endParaRPr>
          </a:p>
        </p:txBody>
      </p:sp>
      <p:sp>
        <p:nvSpPr>
          <p:cNvPr id="91" name="Shape 14"/>
          <p:cNvSpPr/>
          <p:nvPr/>
        </p:nvSpPr>
        <p:spPr>
          <a:xfrm>
            <a:off x="6400800" y="3474720"/>
            <a:ext cx="2559600" cy="137088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2" name="Text 15"/>
          <p:cNvSpPr/>
          <p:nvPr/>
        </p:nvSpPr>
        <p:spPr>
          <a:xfrm>
            <a:off x="6400800" y="3520440"/>
            <a:ext cx="255960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2800" spc="-1" strike="noStrike">
                <a:solidFill>
                  <a:srgbClr val="f59e0b"/>
                </a:solidFill>
                <a:latin typeface="Calibri"/>
              </a:rPr>
              <a:t>0</a:t>
            </a:r>
            <a:endParaRPr b="0" lang="fr-FR" sz="2800" spc="-1" strike="noStrike">
              <a:solidFill>
                <a:srgbClr val="ffffff"/>
              </a:solidFill>
              <a:latin typeface="Arial"/>
            </a:endParaRPr>
          </a:p>
        </p:txBody>
      </p:sp>
      <p:sp>
        <p:nvSpPr>
          <p:cNvPr id="93" name="Text 16"/>
          <p:cNvSpPr/>
          <p:nvPr/>
        </p:nvSpPr>
        <p:spPr>
          <a:xfrm>
            <a:off x="6400800" y="4069080"/>
            <a:ext cx="255960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Outil transparent existant</a:t>
            </a:r>
            <a:endParaRPr b="0" lang="fr-FR" sz="900" spc="-1" strike="noStrike">
              <a:solidFill>
                <a:srgbClr val="ffffff"/>
              </a:solidFill>
              <a:latin typeface="Arial"/>
            </a:endParaRPr>
          </a:p>
        </p:txBody>
      </p:sp>
      <p:sp>
        <p:nvSpPr>
          <p:cNvPr id="94" name="Text 17"/>
          <p:cNvSpPr/>
          <p:nvPr/>
        </p:nvSpPr>
        <p:spPr>
          <a:xfrm>
            <a:off x="6400800" y="4434840"/>
            <a:ext cx="255960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pc="-1" strike="noStrike">
                <a:solidFill>
                  <a:srgbClr val="a8d8ea"/>
                </a:solidFill>
                <a:latin typeface="Calibri"/>
              </a:rPr>
              <a:t>marché local actuel</a:t>
            </a:r>
            <a:endParaRPr b="0" lang="fr-FR"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95"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96"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199" strike="noStrike">
                <a:solidFill>
                  <a:srgbClr val="00b4d8"/>
                </a:solidFill>
                <a:latin typeface="Calibri"/>
              </a:rPr>
              <a:t>02  </a:t>
            </a:r>
            <a:r>
              <a:rPr b="1" lang="fr-FR" sz="2000" spc="199" strike="noStrike">
                <a:solidFill>
                  <a:srgbClr val="ffffff"/>
                </a:solidFill>
                <a:latin typeface="Calibri"/>
              </a:rPr>
              <a:t>HYPOTHÈSE</a:t>
            </a:r>
            <a:endParaRPr b="0" lang="fr-FR" sz="2000" spc="-1" strike="noStrike">
              <a:solidFill>
                <a:srgbClr val="000000"/>
              </a:solidFill>
              <a:latin typeface="Arial"/>
            </a:endParaRPr>
          </a:p>
        </p:txBody>
      </p:sp>
      <p:sp>
        <p:nvSpPr>
          <p:cNvPr id="97" name="Shape 2"/>
          <p:cNvSpPr/>
          <p:nvPr/>
        </p:nvSpPr>
        <p:spPr>
          <a:xfrm>
            <a:off x="365760" y="1005840"/>
            <a:ext cx="8411760" cy="164520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98" name="Shape 3"/>
          <p:cNvSpPr/>
          <p:nvPr/>
        </p:nvSpPr>
        <p:spPr>
          <a:xfrm>
            <a:off x="365760" y="1005840"/>
            <a:ext cx="109080" cy="16452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99" name="Text 4"/>
          <p:cNvSpPr/>
          <p:nvPr/>
        </p:nvSpPr>
        <p:spPr>
          <a:xfrm>
            <a:off x="640080" y="1051560"/>
            <a:ext cx="804600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1000" spc="-1" strike="noStrike">
                <a:solidFill>
                  <a:srgbClr val="64748b"/>
                </a:solidFill>
                <a:latin typeface="Calibri"/>
              </a:rPr>
              <a:t>Hypothèse principale</a:t>
            </a:r>
            <a:endParaRPr b="0" lang="fr-FR" sz="1000" spc="-1" strike="noStrike">
              <a:solidFill>
                <a:srgbClr val="000000"/>
              </a:solidFill>
              <a:latin typeface="Arial"/>
            </a:endParaRPr>
          </a:p>
        </p:txBody>
      </p:sp>
      <p:sp>
        <p:nvSpPr>
          <p:cNvPr id="100" name="Text 5"/>
          <p:cNvSpPr/>
          <p:nvPr/>
        </p:nvSpPr>
        <p:spPr>
          <a:xfrm>
            <a:off x="640080" y="1417320"/>
            <a:ext cx="7954560" cy="1142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100" spc="-1" strike="noStrike">
                <a:solidFill>
                  <a:srgbClr val="065a82"/>
                </a:solidFill>
                <a:latin typeface="Calibri"/>
              </a:rPr>
              <a:t>Un système embarqué à base d'ESP32, équipé de capteurs ACS712 (courant) et ZMPT101B (tension), couplé à des relais optocoupleurs et une interface web locale, permet de mesurer avec précision la consommation individuelle de chaque locataire, d'assurer une coupure automatique au dépassement du crédit, et de garantir une transparence totale — sans modifier l'installation existante et pour un coût inférieur à $30.</a:t>
            </a:r>
            <a:endParaRPr b="0" lang="fr-FR" sz="1100" spc="-1" strike="noStrike">
              <a:solidFill>
                <a:srgbClr val="000000"/>
              </a:solidFill>
              <a:latin typeface="Arial"/>
            </a:endParaRPr>
          </a:p>
        </p:txBody>
      </p:sp>
      <p:sp>
        <p:nvSpPr>
          <p:cNvPr id="101" name="Shape 6"/>
          <p:cNvSpPr/>
          <p:nvPr/>
        </p:nvSpPr>
        <p:spPr>
          <a:xfrm>
            <a:off x="274320" y="2880360"/>
            <a:ext cx="2010960" cy="19195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02" name="Shape 7"/>
          <p:cNvSpPr/>
          <p:nvPr/>
        </p:nvSpPr>
        <p:spPr>
          <a:xfrm>
            <a:off x="274320" y="2880360"/>
            <a:ext cx="201096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03" name="Text 8"/>
          <p:cNvSpPr/>
          <p:nvPr/>
        </p:nvSpPr>
        <p:spPr>
          <a:xfrm>
            <a:off x="274320" y="2880360"/>
            <a:ext cx="201096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Mesure précise</a:t>
            </a:r>
            <a:endParaRPr b="0" lang="fr-FR" sz="900" spc="-1" strike="noStrike">
              <a:solidFill>
                <a:srgbClr val="000000"/>
              </a:solidFill>
              <a:latin typeface="Arial"/>
            </a:endParaRPr>
          </a:p>
        </p:txBody>
      </p:sp>
      <p:sp>
        <p:nvSpPr>
          <p:cNvPr id="104" name="Text 9"/>
          <p:cNvSpPr/>
          <p:nvPr/>
        </p:nvSpPr>
        <p:spPr>
          <a:xfrm>
            <a:off x="365760" y="3383280"/>
            <a:ext cx="1828080" cy="1325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065a82"/>
                </a:solidFill>
                <a:latin typeface="Calibri"/>
              </a:rPr>
              <a:t>Courant (ACS712) × Tension réelle (ZMPT101B) = kWh exact</a:t>
            </a:r>
            <a:endParaRPr b="0" lang="fr-FR" sz="900" spc="-1" strike="noStrike">
              <a:solidFill>
                <a:srgbClr val="000000"/>
              </a:solidFill>
              <a:latin typeface="Arial"/>
            </a:endParaRPr>
          </a:p>
        </p:txBody>
      </p:sp>
      <p:sp>
        <p:nvSpPr>
          <p:cNvPr id="105" name="Shape 10"/>
          <p:cNvSpPr/>
          <p:nvPr/>
        </p:nvSpPr>
        <p:spPr>
          <a:xfrm>
            <a:off x="2468880" y="2880360"/>
            <a:ext cx="2010960" cy="19195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06" name="Shape 11"/>
          <p:cNvSpPr/>
          <p:nvPr/>
        </p:nvSpPr>
        <p:spPr>
          <a:xfrm>
            <a:off x="2468880" y="2880360"/>
            <a:ext cx="201096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07" name="Text 12"/>
          <p:cNvSpPr/>
          <p:nvPr/>
        </p:nvSpPr>
        <p:spPr>
          <a:xfrm>
            <a:off x="2468880" y="2880360"/>
            <a:ext cx="201096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Coupure automatique</a:t>
            </a:r>
            <a:endParaRPr b="0" lang="fr-FR" sz="900" spc="-1" strike="noStrike">
              <a:solidFill>
                <a:srgbClr val="000000"/>
              </a:solidFill>
              <a:latin typeface="Arial"/>
            </a:endParaRPr>
          </a:p>
        </p:txBody>
      </p:sp>
      <p:sp>
        <p:nvSpPr>
          <p:cNvPr id="108" name="Text 13"/>
          <p:cNvSpPr/>
          <p:nvPr/>
        </p:nvSpPr>
        <p:spPr>
          <a:xfrm>
            <a:off x="2560320" y="3383280"/>
            <a:ext cx="1828080" cy="1325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065a82"/>
                </a:solidFill>
                <a:latin typeface="Calibri"/>
              </a:rPr>
              <a:t>Relais ouvre quand crédit = 0 — aucune intervention manuelle</a:t>
            </a:r>
            <a:endParaRPr b="0" lang="fr-FR" sz="900" spc="-1" strike="noStrike">
              <a:solidFill>
                <a:srgbClr val="000000"/>
              </a:solidFill>
              <a:latin typeface="Arial"/>
            </a:endParaRPr>
          </a:p>
        </p:txBody>
      </p:sp>
      <p:sp>
        <p:nvSpPr>
          <p:cNvPr id="109" name="Shape 14"/>
          <p:cNvSpPr/>
          <p:nvPr/>
        </p:nvSpPr>
        <p:spPr>
          <a:xfrm>
            <a:off x="4663440" y="2880360"/>
            <a:ext cx="2010960" cy="19195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10" name="Shape 15"/>
          <p:cNvSpPr/>
          <p:nvPr/>
        </p:nvSpPr>
        <p:spPr>
          <a:xfrm>
            <a:off x="4663440" y="2880360"/>
            <a:ext cx="201096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11" name="Text 16"/>
          <p:cNvSpPr/>
          <p:nvPr/>
        </p:nvSpPr>
        <p:spPr>
          <a:xfrm>
            <a:off x="4663440" y="2880360"/>
            <a:ext cx="201096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Interface transparente</a:t>
            </a:r>
            <a:endParaRPr b="0" lang="fr-FR" sz="900" spc="-1" strike="noStrike">
              <a:solidFill>
                <a:srgbClr val="000000"/>
              </a:solidFill>
              <a:latin typeface="Arial"/>
            </a:endParaRPr>
          </a:p>
        </p:txBody>
      </p:sp>
      <p:sp>
        <p:nvSpPr>
          <p:cNvPr id="112" name="Text 17"/>
          <p:cNvSpPr/>
          <p:nvPr/>
        </p:nvSpPr>
        <p:spPr>
          <a:xfrm>
            <a:off x="4754880" y="3383280"/>
            <a:ext cx="1828080" cy="1325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065a82"/>
                </a:solidFill>
                <a:latin typeface="Calibri"/>
              </a:rPr>
              <a:t>Locataire voit son crédit, historique et recharges en temps réel</a:t>
            </a:r>
            <a:endParaRPr b="0" lang="fr-FR" sz="900" spc="-1" strike="noStrike">
              <a:solidFill>
                <a:srgbClr val="000000"/>
              </a:solidFill>
              <a:latin typeface="Arial"/>
            </a:endParaRPr>
          </a:p>
        </p:txBody>
      </p:sp>
      <p:sp>
        <p:nvSpPr>
          <p:cNvPr id="113" name="Shape 18"/>
          <p:cNvSpPr/>
          <p:nvPr/>
        </p:nvSpPr>
        <p:spPr>
          <a:xfrm>
            <a:off x="6858000" y="2880360"/>
            <a:ext cx="2010960" cy="191952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14" name="Shape 19"/>
          <p:cNvSpPr/>
          <p:nvPr/>
        </p:nvSpPr>
        <p:spPr>
          <a:xfrm>
            <a:off x="6858000" y="2880360"/>
            <a:ext cx="201096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15" name="Text 20"/>
          <p:cNvSpPr/>
          <p:nvPr/>
        </p:nvSpPr>
        <p:spPr>
          <a:xfrm>
            <a:off x="6858000" y="2880360"/>
            <a:ext cx="201096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Coût accessible</a:t>
            </a:r>
            <a:endParaRPr b="0" lang="fr-FR" sz="900" spc="-1" strike="noStrike">
              <a:solidFill>
                <a:srgbClr val="000000"/>
              </a:solidFill>
              <a:latin typeface="Arial"/>
            </a:endParaRPr>
          </a:p>
        </p:txBody>
      </p:sp>
      <p:sp>
        <p:nvSpPr>
          <p:cNvPr id="116" name="Text 21"/>
          <p:cNvSpPr/>
          <p:nvPr/>
        </p:nvSpPr>
        <p:spPr>
          <a:xfrm>
            <a:off x="6949440" y="3383280"/>
            <a:ext cx="1828080" cy="1325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900" spc="-1" strike="noStrike">
                <a:solidFill>
                  <a:srgbClr val="065a82"/>
                </a:solidFill>
                <a:latin typeface="Calibri"/>
              </a:rPr>
              <a:t>&lt;$30/unité* — partagé entre 8 personnes = &lt;$3.75 chacun*</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17"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18"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199" strike="noStrike">
                <a:solidFill>
                  <a:srgbClr val="00b4d8"/>
                </a:solidFill>
                <a:latin typeface="Calibri"/>
              </a:rPr>
              <a:t>03  </a:t>
            </a:r>
            <a:r>
              <a:rPr b="1" lang="fr-FR" sz="1800" spc="199" strike="noStrike">
                <a:solidFill>
                  <a:srgbClr val="ffffff"/>
                </a:solidFill>
                <a:latin typeface="Calibri"/>
              </a:rPr>
              <a:t>MÉTHODOLOGIE — Architecture du système</a:t>
            </a:r>
            <a:endParaRPr b="0" lang="fr-FR" sz="1800" spc="-1" strike="noStrike">
              <a:solidFill>
                <a:srgbClr val="000000"/>
              </a:solidFill>
              <a:latin typeface="Arial"/>
            </a:endParaRPr>
          </a:p>
        </p:txBody>
      </p:sp>
      <p:sp>
        <p:nvSpPr>
          <p:cNvPr id="119" name="Shape 2"/>
          <p:cNvSpPr/>
          <p:nvPr/>
        </p:nvSpPr>
        <p:spPr>
          <a:xfrm>
            <a:off x="274320" y="1005840"/>
            <a:ext cx="8594640" cy="1370880"/>
          </a:xfrm>
          <a:prstGeom prst="rect">
            <a:avLst/>
          </a:prstGeom>
          <a:solidFill>
            <a:srgbClr val="fff5f5"/>
          </a:solidFill>
          <a:ln w="12700">
            <a:solidFill>
              <a:srgbClr val="ef4444"/>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0" name="Text 3"/>
          <p:cNvSpPr/>
          <p:nvPr/>
        </p:nvSpPr>
        <p:spPr>
          <a:xfrm>
            <a:off x="457200" y="1051560"/>
            <a:ext cx="3656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900" spc="-1" strike="noStrike">
                <a:solidFill>
                  <a:srgbClr val="ef4444"/>
                </a:solidFill>
                <a:latin typeface="Calibri"/>
              </a:rPr>
              <a:t>⚡ </a:t>
            </a:r>
            <a:r>
              <a:rPr b="1" lang="fr-FR" sz="900" spc="-1" strike="noStrike">
                <a:solidFill>
                  <a:srgbClr val="ef4444"/>
                </a:solidFill>
                <a:latin typeface="Calibri"/>
              </a:rPr>
              <a:t>ZONE 220V — Haute tension</a:t>
            </a:r>
            <a:endParaRPr b="0" lang="fr-FR" sz="900" spc="-1" strike="noStrike">
              <a:solidFill>
                <a:srgbClr val="000000"/>
              </a:solidFill>
              <a:latin typeface="Arial"/>
            </a:endParaRPr>
          </a:p>
        </p:txBody>
      </p:sp>
      <p:sp>
        <p:nvSpPr>
          <p:cNvPr id="121" name="Shape 4"/>
          <p:cNvSpPr/>
          <p:nvPr/>
        </p:nvSpPr>
        <p:spPr>
          <a:xfrm>
            <a:off x="457200" y="1371600"/>
            <a:ext cx="1828080" cy="86796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2" name="Text 5"/>
          <p:cNvSpPr/>
          <p:nvPr/>
        </p:nvSpPr>
        <p:spPr>
          <a:xfrm>
            <a:off x="457200" y="137160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HLK-PM01</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220V→5V</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$2</a:t>
            </a:r>
            <a:endParaRPr b="0" lang="fr-FR" sz="850" spc="-1" strike="noStrike">
              <a:solidFill>
                <a:srgbClr val="000000"/>
              </a:solidFill>
              <a:latin typeface="Arial"/>
            </a:endParaRPr>
          </a:p>
        </p:txBody>
      </p:sp>
      <p:sp>
        <p:nvSpPr>
          <p:cNvPr id="123" name="Shape 6"/>
          <p:cNvSpPr/>
          <p:nvPr/>
        </p:nvSpPr>
        <p:spPr>
          <a:xfrm>
            <a:off x="2560320" y="1371600"/>
            <a:ext cx="1828080" cy="86796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4" name="Text 7"/>
          <p:cNvSpPr/>
          <p:nvPr/>
        </p:nvSpPr>
        <p:spPr>
          <a:xfrm>
            <a:off x="2560320" y="137160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ZMPT101B</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Mesure tension</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$0.8</a:t>
            </a:r>
            <a:endParaRPr b="0" lang="fr-FR" sz="850" spc="-1" strike="noStrike">
              <a:solidFill>
                <a:srgbClr val="000000"/>
              </a:solidFill>
              <a:latin typeface="Arial"/>
            </a:endParaRPr>
          </a:p>
        </p:txBody>
      </p:sp>
      <p:sp>
        <p:nvSpPr>
          <p:cNvPr id="125" name="Shape 8"/>
          <p:cNvSpPr/>
          <p:nvPr/>
        </p:nvSpPr>
        <p:spPr>
          <a:xfrm>
            <a:off x="4663440" y="1371600"/>
            <a:ext cx="1828080" cy="86796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6" name="Text 9"/>
          <p:cNvSpPr/>
          <p:nvPr/>
        </p:nvSpPr>
        <p:spPr>
          <a:xfrm>
            <a:off x="4663440" y="137160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Relais 8ch</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Pilotage ULN2003A</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$2.5</a:t>
            </a:r>
            <a:endParaRPr b="0" lang="fr-FR" sz="850" spc="-1" strike="noStrike">
              <a:solidFill>
                <a:srgbClr val="000000"/>
              </a:solidFill>
              <a:latin typeface="Arial"/>
            </a:endParaRPr>
          </a:p>
        </p:txBody>
      </p:sp>
      <p:sp>
        <p:nvSpPr>
          <p:cNvPr id="127" name="Shape 10"/>
          <p:cNvSpPr/>
          <p:nvPr/>
        </p:nvSpPr>
        <p:spPr>
          <a:xfrm>
            <a:off x="6766560" y="1371600"/>
            <a:ext cx="1828080" cy="867960"/>
          </a:xfrm>
          <a:prstGeom prst="rect">
            <a:avLst/>
          </a:prstGeom>
          <a:solidFill>
            <a:srgbClr val="ffffff"/>
          </a:solidFill>
          <a:ln w="12700">
            <a:solidFill>
              <a:srgbClr val="ef4444"/>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28" name="Text 11"/>
          <p:cNvSpPr/>
          <p:nvPr/>
        </p:nvSpPr>
        <p:spPr>
          <a:xfrm>
            <a:off x="6766560" y="137160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Bornes sorties</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À vis étiquetées</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$1.5</a:t>
            </a:r>
            <a:endParaRPr b="0" lang="fr-FR" sz="850" spc="-1" strike="noStrike">
              <a:solidFill>
                <a:srgbClr val="000000"/>
              </a:solidFill>
              <a:latin typeface="Arial"/>
            </a:endParaRPr>
          </a:p>
        </p:txBody>
      </p:sp>
      <p:sp>
        <p:nvSpPr>
          <p:cNvPr id="129" name="Shape 12"/>
          <p:cNvSpPr/>
          <p:nvPr/>
        </p:nvSpPr>
        <p:spPr>
          <a:xfrm>
            <a:off x="274320" y="2423160"/>
            <a:ext cx="8594640" cy="20052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30" name="Text 13"/>
          <p:cNvSpPr/>
          <p:nvPr/>
        </p:nvSpPr>
        <p:spPr>
          <a:xfrm>
            <a:off x="274320" y="2423160"/>
            <a:ext cx="8594640" cy="200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750" spc="-1" strike="noStrike">
                <a:solidFill>
                  <a:srgbClr val="ffffff"/>
                </a:solidFill>
                <a:latin typeface="Calibri"/>
              </a:rPr>
              <a:t>━━━ </a:t>
            </a:r>
            <a:r>
              <a:rPr b="1" lang="fr-FR" sz="750" spc="-1" strike="noStrike">
                <a:solidFill>
                  <a:srgbClr val="ffffff"/>
                </a:solidFill>
                <a:latin typeface="Calibri"/>
              </a:rPr>
              <a:t>CLOISON ISOLANTE PLASTIQUE ━━━━━━━━━━━━━━━━━━━━━━━━━━━━━━━━━━━━━━━━━━━━━━━━</a:t>
            </a:r>
            <a:endParaRPr b="0" lang="fr-FR" sz="750" spc="-1" strike="noStrike">
              <a:solidFill>
                <a:srgbClr val="000000"/>
              </a:solidFill>
              <a:latin typeface="Arial"/>
            </a:endParaRPr>
          </a:p>
        </p:txBody>
      </p:sp>
      <p:sp>
        <p:nvSpPr>
          <p:cNvPr id="131" name="Shape 14"/>
          <p:cNvSpPr/>
          <p:nvPr/>
        </p:nvSpPr>
        <p:spPr>
          <a:xfrm>
            <a:off x="274320" y="2651760"/>
            <a:ext cx="8594640" cy="2193840"/>
          </a:xfrm>
          <a:prstGeom prst="rect">
            <a:avLst/>
          </a:prstGeom>
          <a:solidFill>
            <a:srgbClr val="f0f9ff"/>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32" name="Text 15"/>
          <p:cNvSpPr/>
          <p:nvPr/>
        </p:nvSpPr>
        <p:spPr>
          <a:xfrm>
            <a:off x="457200" y="2697480"/>
            <a:ext cx="3656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900" spc="-1" strike="noStrike">
                <a:solidFill>
                  <a:srgbClr val="1c7293"/>
                </a:solidFill>
                <a:latin typeface="Calibri"/>
              </a:rPr>
              <a:t>🔵 </a:t>
            </a:r>
            <a:r>
              <a:rPr b="1" lang="fr-FR" sz="900" spc="-1" strike="noStrike">
                <a:solidFill>
                  <a:srgbClr val="1c7293"/>
                </a:solidFill>
                <a:latin typeface="Calibri"/>
              </a:rPr>
              <a:t>ZONE 5V — Basse tension</a:t>
            </a:r>
            <a:endParaRPr b="0" lang="fr-FR" sz="900" spc="-1" strike="noStrike">
              <a:solidFill>
                <a:srgbClr val="000000"/>
              </a:solidFill>
              <a:latin typeface="Arial"/>
            </a:endParaRPr>
          </a:p>
        </p:txBody>
      </p:sp>
      <p:sp>
        <p:nvSpPr>
          <p:cNvPr id="133" name="Shape 16"/>
          <p:cNvSpPr/>
          <p:nvPr/>
        </p:nvSpPr>
        <p:spPr>
          <a:xfrm>
            <a:off x="457200" y="3017520"/>
            <a:ext cx="1828080" cy="86796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34" name="Text 17"/>
          <p:cNvSpPr/>
          <p:nvPr/>
        </p:nvSpPr>
        <p:spPr>
          <a:xfrm>
            <a:off x="457200" y="301752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ESP32 DevKit</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Dual Core Wi-Fi</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$4</a:t>
            </a:r>
            <a:endParaRPr b="0" lang="fr-FR" sz="850" spc="-1" strike="noStrike">
              <a:solidFill>
                <a:srgbClr val="000000"/>
              </a:solidFill>
              <a:latin typeface="Arial"/>
            </a:endParaRPr>
          </a:p>
        </p:txBody>
      </p:sp>
      <p:sp>
        <p:nvSpPr>
          <p:cNvPr id="135" name="Shape 18"/>
          <p:cNvSpPr/>
          <p:nvPr/>
        </p:nvSpPr>
        <p:spPr>
          <a:xfrm>
            <a:off x="2560320" y="3017520"/>
            <a:ext cx="1828080" cy="86796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36" name="Text 19"/>
          <p:cNvSpPr/>
          <p:nvPr/>
        </p:nvSpPr>
        <p:spPr>
          <a:xfrm>
            <a:off x="2560320" y="301752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ACS712 ×8</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Mesure courant</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$6.4</a:t>
            </a:r>
            <a:endParaRPr b="0" lang="fr-FR" sz="850" spc="-1" strike="noStrike">
              <a:solidFill>
                <a:srgbClr val="000000"/>
              </a:solidFill>
              <a:latin typeface="Arial"/>
            </a:endParaRPr>
          </a:p>
        </p:txBody>
      </p:sp>
      <p:sp>
        <p:nvSpPr>
          <p:cNvPr id="137" name="Shape 20"/>
          <p:cNvSpPr/>
          <p:nvPr/>
        </p:nvSpPr>
        <p:spPr>
          <a:xfrm>
            <a:off x="4663440" y="3017520"/>
            <a:ext cx="1828080" cy="86796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38" name="Text 21"/>
          <p:cNvSpPr/>
          <p:nvPr/>
        </p:nvSpPr>
        <p:spPr>
          <a:xfrm>
            <a:off x="4663440" y="301752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TP4056</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Charge LiPo</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$0.5</a:t>
            </a:r>
            <a:endParaRPr b="0" lang="fr-FR" sz="850" spc="-1" strike="noStrike">
              <a:solidFill>
                <a:srgbClr val="000000"/>
              </a:solidFill>
              <a:latin typeface="Arial"/>
            </a:endParaRPr>
          </a:p>
        </p:txBody>
      </p:sp>
      <p:sp>
        <p:nvSpPr>
          <p:cNvPr id="139" name="Shape 22"/>
          <p:cNvSpPr/>
          <p:nvPr/>
        </p:nvSpPr>
        <p:spPr>
          <a:xfrm>
            <a:off x="6766560" y="3017520"/>
            <a:ext cx="1828080" cy="867960"/>
          </a:xfrm>
          <a:prstGeom prst="rect">
            <a:avLst/>
          </a:prstGeom>
          <a:solidFill>
            <a:srgbClr val="ffffff"/>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40" name="Text 23"/>
          <p:cNvSpPr/>
          <p:nvPr/>
        </p:nvSpPr>
        <p:spPr>
          <a:xfrm>
            <a:off x="6766560" y="3017520"/>
            <a:ext cx="182808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850" spc="-1" strike="noStrike">
                <a:solidFill>
                  <a:srgbClr val="065a82"/>
                </a:solidFill>
                <a:latin typeface="Calibri"/>
              </a:rPr>
              <a:t>LiPo 2000mAh</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Alimentation cont.</a:t>
            </a:r>
            <a:endParaRPr b="0" lang="fr-FR" sz="850" spc="-1" strike="noStrike">
              <a:solidFill>
                <a:srgbClr val="000000"/>
              </a:solidFill>
              <a:latin typeface="Arial"/>
            </a:endParaRPr>
          </a:p>
          <a:p>
            <a:pPr algn="ctr" defTabSz="914400">
              <a:lnSpc>
                <a:spcPct val="100000"/>
              </a:lnSpc>
              <a:tabLst>
                <a:tab algn="l" pos="0"/>
              </a:tabLst>
            </a:pPr>
            <a:r>
              <a:rPr b="0" lang="fr-FR" sz="850" spc="-1" strike="noStrike">
                <a:solidFill>
                  <a:srgbClr val="065a82"/>
                </a:solidFill>
                <a:latin typeface="Calibri"/>
              </a:rPr>
              <a:t>$2.5</a:t>
            </a:r>
            <a:endParaRPr b="0" lang="fr-FR" sz="850" spc="-1" strike="noStrike">
              <a:solidFill>
                <a:srgbClr val="000000"/>
              </a:solidFill>
              <a:latin typeface="Arial"/>
            </a:endParaRPr>
          </a:p>
        </p:txBody>
      </p:sp>
      <p:sp>
        <p:nvSpPr>
          <p:cNvPr id="141" name="Text 24"/>
          <p:cNvSpPr/>
          <p:nvPr/>
        </p:nvSpPr>
        <p:spPr>
          <a:xfrm>
            <a:off x="457200" y="3977640"/>
            <a:ext cx="8228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pc="-1" strike="noStrike">
                <a:solidFill>
                  <a:srgbClr val="64748b"/>
                </a:solidFill>
                <a:latin typeface="Calibri"/>
              </a:rPr>
              <a:t>Seuls les fils signal GPIO 3.3V traversent la cloison — isolation galvanique garantie</a:t>
            </a:r>
            <a:endParaRPr b="0" lang="fr-FR" sz="8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42"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3"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199" strike="noStrike">
                <a:solidFill>
                  <a:srgbClr val="00b4d8"/>
                </a:solidFill>
                <a:latin typeface="Calibri"/>
              </a:rPr>
              <a:t>03  </a:t>
            </a:r>
            <a:r>
              <a:rPr b="1" lang="fr-FR" sz="1800" spc="199" strike="noStrike">
                <a:solidFill>
                  <a:srgbClr val="ffffff"/>
                </a:solidFill>
                <a:latin typeface="Calibri"/>
              </a:rPr>
              <a:t>MÉTHODOLOGIE — Composants et budget</a:t>
            </a:r>
            <a:endParaRPr b="0" lang="fr-FR" sz="1800" spc="-1" strike="noStrike">
              <a:solidFill>
                <a:srgbClr val="000000"/>
              </a:solidFill>
              <a:latin typeface="Arial"/>
            </a:endParaRPr>
          </a:p>
        </p:txBody>
      </p:sp>
      <p:graphicFrame>
        <p:nvGraphicFramePr>
          <p:cNvPr id="144" name="Table 0"/>
          <p:cNvGraphicFramePr/>
          <p:nvPr/>
        </p:nvGraphicFramePr>
        <p:xfrm>
          <a:off x="274320" y="1005840"/>
          <a:ext cx="7680600" cy="2996640"/>
        </p:xfrm>
        <a:graphic>
          <a:graphicData uri="http://schemas.openxmlformats.org/drawingml/2006/table">
            <a:tbl>
              <a:tblPr/>
              <a:tblGrid>
                <a:gridCol w="2926080"/>
                <a:gridCol w="2560320"/>
                <a:gridCol w="548640"/>
                <a:gridCol w="914400"/>
                <a:gridCol w="731520"/>
              </a:tblGrid>
              <a:tr h="0">
                <a:tc>
                  <a:txBody>
                    <a:bodyPr anchor="t">
                      <a:noAutofit/>
                    </a:bodyPr>
                    <a:p>
                      <a:pPr algn="ctr" defTabSz="914400">
                        <a:lnSpc>
                          <a:spcPct val="100000"/>
                        </a:lnSpc>
                        <a:tabLst>
                          <a:tab algn="l" pos="0"/>
                        </a:tabLst>
                      </a:pPr>
                      <a:r>
                        <a:rPr b="1" lang="fr-FR" sz="1000" spc="-1" strike="noStrike">
                          <a:solidFill>
                            <a:srgbClr val="ffffff"/>
                          </a:solidFill>
                          <a:latin typeface="Calibri"/>
                        </a:rPr>
                        <a:t>Composant</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pc="-1" strike="noStrike">
                          <a:solidFill>
                            <a:srgbClr val="ffffff"/>
                          </a:solidFill>
                          <a:latin typeface="Calibri"/>
                        </a:rPr>
                        <a:t>Rôle</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pc="-1" strike="noStrike">
                          <a:solidFill>
                            <a:srgbClr val="ffffff"/>
                          </a:solidFill>
                          <a:latin typeface="Calibri"/>
                        </a:rPr>
                        <a:t>Qté</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pc="-1" strike="noStrike">
                          <a:solidFill>
                            <a:srgbClr val="ffffff"/>
                          </a:solidFill>
                          <a:latin typeface="Calibri"/>
                        </a:rPr>
                        <a:t>Prix unit.</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c>
                  <a:txBody>
                    <a:bodyPr anchor="t">
                      <a:noAutofit/>
                    </a:bodyPr>
                    <a:p>
                      <a:pPr algn="ctr" defTabSz="914400">
                        <a:lnSpc>
                          <a:spcPct val="100000"/>
                        </a:lnSpc>
                        <a:tabLst>
                          <a:tab algn="l" pos="0"/>
                        </a:tabLst>
                      </a:pPr>
                      <a:r>
                        <a:rPr b="1" lang="en-US" sz="1000" spc="-1" strike="noStrike">
                          <a:solidFill>
                            <a:srgbClr val="ffffff"/>
                          </a:solidFill>
                          <a:latin typeface="Calibri"/>
                        </a:rPr>
                        <a:t>Total</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065a82"/>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ESP32 DevKit V1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Centrale Wi-Fi + logique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$4.00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$4.00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Relais 8 canaux optocoupleur</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Coupure automatique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$2.50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$2.50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ACS712 20A</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Mesure courant par locataire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8</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$0.80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$6.40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ZMPT101B</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Mesure tension réseau réelle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$0.80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$0.80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HLK-PM01 220V→5V</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Alimentation isolée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$2.00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$2.00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TP4056 + protection</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Charge batterie LiPo</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$0.50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$0.50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LiPo 3.7V 2000mAh</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Alimentation continue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$2.50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$2.50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Bornes à vis + câblage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Connexions sorties</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 kit</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$3.50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$3.50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eff6ff"/>
                    </a:solidFill>
                  </a:tcPr>
                </a:tc>
              </a:tr>
              <a:tr h="0">
                <a:tc>
                  <a:txBody>
                    <a:bodyPr anchor="t">
                      <a:noAutofit/>
                    </a:bodyPr>
                    <a:p>
                      <a:pPr defTabSz="914400">
                        <a:lnSpc>
                          <a:spcPct val="100000"/>
                        </a:lnSpc>
                        <a:tabLst>
                          <a:tab algn="l" pos="0"/>
                        </a:tabLst>
                      </a:pPr>
                      <a:r>
                        <a:rPr b="0" lang="en-US" sz="900" spc="-1" strike="noStrike">
                          <a:solidFill>
                            <a:srgbClr val="065a82"/>
                          </a:solidFill>
                          <a:latin typeface="Calibri"/>
                        </a:rPr>
                        <a:t>Boîtier électrique</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defTabSz="914400">
                        <a:lnSpc>
                          <a:spcPct val="100000"/>
                        </a:lnSpc>
                        <a:tabLst>
                          <a:tab algn="l" pos="0"/>
                        </a:tabLst>
                      </a:pPr>
                      <a:r>
                        <a:rPr b="0" lang="en-US" sz="900" spc="-1" strike="noStrike">
                          <a:solidFill>
                            <a:srgbClr val="065a82"/>
                          </a:solidFill>
                          <a:latin typeface="Calibri"/>
                        </a:rPr>
                        <a:t>Protection + sécurité</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1</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0" lang="en-US" sz="900" spc="-1" strike="noStrike">
                          <a:solidFill>
                            <a:srgbClr val="065a82"/>
                          </a:solidFill>
                          <a:latin typeface="Calibri"/>
                        </a:rPr>
                        <a:t>$4.00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c>
                  <a:txBody>
                    <a:bodyPr anchor="t">
                      <a:noAutofit/>
                    </a:bodyPr>
                    <a:p>
                      <a:pPr algn="ctr" defTabSz="914400">
                        <a:lnSpc>
                          <a:spcPct val="100000"/>
                        </a:lnSpc>
                        <a:tabLst>
                          <a:tab algn="l" pos="0"/>
                        </a:tabLst>
                      </a:pPr>
                      <a:r>
                        <a:rPr b="1" lang="en-US" sz="900" spc="-1" strike="noStrike">
                          <a:solidFill>
                            <a:srgbClr val="065a82"/>
                          </a:solidFill>
                          <a:latin typeface="Calibri"/>
                        </a:rPr>
                        <a:t>$4.00</a:t>
                      </a:r>
                      <a:endParaRPr b="0" lang="fr-FR" sz="900" spc="-1" strike="noStrike">
                        <a:solidFill>
                          <a:srgbClr val="000000"/>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ffffff"/>
                    </a:solidFill>
                  </a:tcPr>
                </a:tc>
              </a:tr>
              <a:tr h="0">
                <a:tc gridSpan="4">
                  <a:txBody>
                    <a:bodyPr anchor="t">
                      <a:noAutofit/>
                    </a:bodyPr>
                    <a:p>
                      <a:pPr defTabSz="914400">
                        <a:lnSpc>
                          <a:spcPct val="100000"/>
                        </a:lnSpc>
                        <a:tabLst>
                          <a:tab algn="l" pos="0"/>
                        </a:tabLst>
                      </a:pPr>
                      <a:r>
                        <a:rPr b="1" lang="en-US" sz="1000" spc="-1" strike="noStrike">
                          <a:solidFill>
                            <a:srgbClr val="ffffff"/>
                          </a:solidFill>
                          <a:latin typeface="Calibri"/>
                        </a:rPr>
                        <a:t>TOTAL MATÉRIEL</a:t>
                      </a:r>
                      <a:endParaRPr b="0" lang="fr-FR" sz="10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1c7293"/>
                    </a:solidFill>
                  </a:tcPr>
                </a:tc>
                <a:tc hMerge="1">
                  <a:txBody>
                    <a:bodyPr lIns="90000" rIns="90000" tIns="45000" bIns="45000" anchor="t">
                      <a:noAutofit/>
                    </a:bodyPr>
                    <a:p>
                      <a:endParaRPr b="0" lang="fr-FR"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fr-FR" sz="18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endParaRPr b="0" lang="fr-FR" sz="18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anchor="t">
                      <a:noAutofit/>
                    </a:bodyPr>
                    <a:p>
                      <a:pPr algn="ctr" defTabSz="914400">
                        <a:lnSpc>
                          <a:spcPct val="100000"/>
                        </a:lnSpc>
                        <a:tabLst>
                          <a:tab algn="l" pos="0"/>
                        </a:tabLst>
                      </a:pPr>
                      <a:r>
                        <a:rPr b="1" lang="en-US" sz="1200" spc="-1" strike="noStrike">
                          <a:solidFill>
                            <a:srgbClr val="f59e0b"/>
                          </a:solidFill>
                          <a:latin typeface="Calibri"/>
                        </a:rPr>
                        <a:t>~$26.20</a:t>
                      </a:r>
                      <a:endParaRPr b="0" lang="fr-FR" sz="1200" spc="-1" strike="noStrike">
                        <a:solidFill>
                          <a:srgbClr val="ffffff"/>
                        </a:solidFill>
                        <a:latin typeface="Arial"/>
                      </a:endParaRPr>
                    </a:p>
                  </a:txBody>
                  <a:tcPr anchor="t" marL="91440" marR="91440">
                    <a:lnL w="6480">
                      <a:solidFill>
                        <a:srgbClr val="d1e8f5"/>
                      </a:solidFill>
                      <a:prstDash val="solid"/>
                    </a:lnL>
                    <a:lnR w="6480">
                      <a:solidFill>
                        <a:srgbClr val="d1e8f5"/>
                      </a:solidFill>
                      <a:prstDash val="solid"/>
                    </a:lnR>
                    <a:lnT w="6480">
                      <a:solidFill>
                        <a:srgbClr val="d1e8f5"/>
                      </a:solidFill>
                      <a:prstDash val="solid"/>
                    </a:lnT>
                    <a:lnB w="6480">
                      <a:solidFill>
                        <a:srgbClr val="d1e8f5"/>
                      </a:solidFill>
                      <a:prstDash val="solid"/>
                    </a:lnB>
                    <a:solidFill>
                      <a:srgbClr val="1c7293"/>
                    </a:solidFill>
                  </a:tcPr>
                </a:tc>
              </a:tr>
            </a:tbl>
          </a:graphicData>
        </a:graphic>
      </p:graphicFrame>
      <p:sp>
        <p:nvSpPr>
          <p:cNvPr id="145" name="Shape 2"/>
          <p:cNvSpPr/>
          <p:nvPr/>
        </p:nvSpPr>
        <p:spPr>
          <a:xfrm>
            <a:off x="5943600" y="4160520"/>
            <a:ext cx="2925360" cy="730800"/>
          </a:xfrm>
          <a:prstGeom prst="rect">
            <a:avLst/>
          </a:prstGeom>
          <a:solidFill>
            <a:srgbClr val="10b981"/>
          </a:solidFill>
          <a:ln w="12700">
            <a:solidFill>
              <a:srgbClr val="10b981"/>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6" name="Text 3"/>
          <p:cNvSpPr/>
          <p:nvPr/>
        </p:nvSpPr>
        <p:spPr>
          <a:xfrm>
            <a:off x="5943600" y="4160520"/>
            <a:ext cx="2925360" cy="730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&lt;$3.75* / personne</a:t>
            </a:r>
            <a:endParaRPr b="0" lang="fr-FR" sz="900" spc="-1" strike="noStrike">
              <a:solidFill>
                <a:srgbClr val="000000"/>
              </a:solidFill>
              <a:latin typeface="Arial"/>
            </a:endParaRPr>
          </a:p>
          <a:p>
            <a:pPr algn="ctr" defTabSz="914400">
              <a:lnSpc>
                <a:spcPct val="100000"/>
              </a:lnSpc>
              <a:tabLst>
                <a:tab algn="l" pos="0"/>
              </a:tabLst>
            </a:pPr>
            <a:r>
              <a:rPr b="1" lang="fr-FR" sz="900" spc="-1" strike="noStrike">
                <a:solidFill>
                  <a:srgbClr val="ffffff"/>
                </a:solidFill>
                <a:latin typeface="Calibri"/>
              </a:rPr>
              <a:t>*à l'échelle de 100 unités — prototype unique : 60-90$</a:t>
            </a:r>
            <a:endParaRPr b="0" lang="fr-FR" sz="900" spc="-1" strike="noStrike">
              <a:solidFill>
                <a:srgbClr val="000000"/>
              </a:solidFill>
              <a:latin typeface="Arial"/>
            </a:endParaRPr>
          </a:p>
          <a:p>
            <a:pPr algn="ctr" defTabSz="914400">
              <a:lnSpc>
                <a:spcPct val="100000"/>
              </a:lnSpc>
              <a:tabLst>
                <a:tab algn="l" pos="0"/>
              </a:tabLst>
            </a:pPr>
            <a:r>
              <a:rPr b="1" lang="fr-FR" sz="900" spc="-1" strike="noStrike">
                <a:solidFill>
                  <a:srgbClr val="ffffff"/>
                </a:solidFill>
                <a:latin typeface="Calibri"/>
              </a:rPr>
              <a:t>(8 personnes : bailleur + 7 locataires)</a:t>
            </a:r>
            <a:endParaRPr b="0" lang="fr-F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47"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48"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199" strike="noStrike">
                <a:solidFill>
                  <a:srgbClr val="00b4d8"/>
                </a:solidFill>
                <a:latin typeface="Calibri"/>
              </a:rPr>
              <a:t>03  </a:t>
            </a:r>
            <a:r>
              <a:rPr b="1" lang="fr-FR" sz="1800" spc="199" strike="noStrike">
                <a:solidFill>
                  <a:srgbClr val="ffffff"/>
                </a:solidFill>
                <a:latin typeface="Calibri"/>
              </a:rPr>
              <a:t>MÉTHODOLOGIE — Firmware et calcul kWh</a:t>
            </a:r>
            <a:endParaRPr b="0" lang="fr-FR" sz="1800" spc="-1" strike="noStrike">
              <a:solidFill>
                <a:srgbClr val="000000"/>
              </a:solidFill>
              <a:latin typeface="Arial"/>
            </a:endParaRPr>
          </a:p>
        </p:txBody>
      </p:sp>
      <p:sp>
        <p:nvSpPr>
          <p:cNvPr id="149" name="Shape 2"/>
          <p:cNvSpPr/>
          <p:nvPr/>
        </p:nvSpPr>
        <p:spPr>
          <a:xfrm>
            <a:off x="365760" y="1005840"/>
            <a:ext cx="8411760" cy="913680"/>
          </a:xfrm>
          <a:prstGeom prst="rect">
            <a:avLst/>
          </a:prstGeom>
          <a:solidFill>
            <a:srgbClr val="065a82"/>
          </a:solidFill>
          <a:ln w="12700">
            <a:solidFill>
              <a:srgbClr val="00b4d8"/>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50" name="Text 3"/>
          <p:cNvSpPr/>
          <p:nvPr/>
        </p:nvSpPr>
        <p:spPr>
          <a:xfrm>
            <a:off x="457200" y="1051560"/>
            <a:ext cx="36568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en-US" sz="900" spc="-1" strike="noStrike">
                <a:solidFill>
                  <a:srgbClr val="00b4d8"/>
                </a:solidFill>
                <a:latin typeface="Calibri"/>
              </a:rPr>
              <a:t>Formule de calcul — Énergie consommée</a:t>
            </a:r>
            <a:endParaRPr b="0" lang="fr-FR" sz="900" spc="-1" strike="noStrike">
              <a:solidFill>
                <a:srgbClr val="000000"/>
              </a:solidFill>
              <a:latin typeface="Arial"/>
            </a:endParaRPr>
          </a:p>
        </p:txBody>
      </p:sp>
      <p:sp>
        <p:nvSpPr>
          <p:cNvPr id="151" name="Text 4"/>
          <p:cNvSpPr/>
          <p:nvPr/>
        </p:nvSpPr>
        <p:spPr>
          <a:xfrm>
            <a:off x="457200" y="1325880"/>
            <a:ext cx="822888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600" spc="-1" strike="noStrike">
                <a:solidFill>
                  <a:srgbClr val="f59e0b"/>
                </a:solidFill>
                <a:latin typeface="Calibri"/>
              </a:rPr>
              <a:t>kWh  =  Tension (V)  ×  Courant (A)  ×  Temps (h)  ÷  1000</a:t>
            </a:r>
            <a:endParaRPr b="0" lang="fr-FR" sz="1600" spc="-1" strike="noStrike">
              <a:solidFill>
                <a:srgbClr val="000000"/>
              </a:solidFill>
              <a:latin typeface="Arial"/>
            </a:endParaRPr>
          </a:p>
        </p:txBody>
      </p:sp>
      <p:sp>
        <p:nvSpPr>
          <p:cNvPr id="152" name="Shape 5"/>
          <p:cNvSpPr/>
          <p:nvPr/>
        </p:nvSpPr>
        <p:spPr>
          <a:xfrm>
            <a:off x="274320" y="2057400"/>
            <a:ext cx="2833920" cy="27424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53" name="Shape 6"/>
          <p:cNvSpPr/>
          <p:nvPr/>
        </p:nvSpPr>
        <p:spPr>
          <a:xfrm>
            <a:off x="274320" y="2057400"/>
            <a:ext cx="2833920" cy="41076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54" name="Text 7"/>
          <p:cNvSpPr/>
          <p:nvPr/>
        </p:nvSpPr>
        <p:spPr>
          <a:xfrm>
            <a:off x="274320" y="2057400"/>
            <a:ext cx="283392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Lecture capteurs</a:t>
            </a:r>
            <a:endParaRPr b="0" lang="fr-FR" sz="1100" spc="-1" strike="noStrike">
              <a:solidFill>
                <a:srgbClr val="000000"/>
              </a:solidFill>
              <a:latin typeface="Arial"/>
            </a:endParaRPr>
          </a:p>
        </p:txBody>
      </p:sp>
      <p:sp>
        <p:nvSpPr>
          <p:cNvPr id="155" name="Text 8"/>
          <p:cNvSpPr/>
          <p:nvPr/>
        </p:nvSpPr>
        <p:spPr>
          <a:xfrm>
            <a:off x="365760" y="2560320"/>
            <a:ext cx="2651040" cy="21024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ZMPT101B → ADC2 GPIO25</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Tension réelle (pas 220V fixe)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ACS712 ×8 → ADC1 GPIO36-39,32-35</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Courant par locataire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Filtrage : moyenne 100 mesures</a:t>
            </a:r>
            <a:endParaRPr b="0" lang="fr-FR" sz="950" spc="-1" strike="noStrike">
              <a:solidFill>
                <a:srgbClr val="000000"/>
              </a:solidFill>
              <a:latin typeface="Arial"/>
            </a:endParaRPr>
          </a:p>
        </p:txBody>
      </p:sp>
      <p:sp>
        <p:nvSpPr>
          <p:cNvPr id="156" name="Shape 9"/>
          <p:cNvSpPr/>
          <p:nvPr/>
        </p:nvSpPr>
        <p:spPr>
          <a:xfrm>
            <a:off x="3246120" y="2057400"/>
            <a:ext cx="2833920" cy="27424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57" name="Shape 10"/>
          <p:cNvSpPr/>
          <p:nvPr/>
        </p:nvSpPr>
        <p:spPr>
          <a:xfrm>
            <a:off x="3246120" y="2057400"/>
            <a:ext cx="2833920" cy="41076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58" name="Text 11"/>
          <p:cNvSpPr/>
          <p:nvPr/>
        </p:nvSpPr>
        <p:spPr>
          <a:xfrm>
            <a:off x="3246120" y="2057400"/>
            <a:ext cx="283392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Logique de coupure</a:t>
            </a:r>
            <a:endParaRPr b="0" lang="fr-FR" sz="1100" spc="-1" strike="noStrike">
              <a:solidFill>
                <a:srgbClr val="000000"/>
              </a:solidFill>
              <a:latin typeface="Arial"/>
            </a:endParaRPr>
          </a:p>
        </p:txBody>
      </p:sp>
      <p:sp>
        <p:nvSpPr>
          <p:cNvPr id="159" name="Text 12"/>
          <p:cNvSpPr/>
          <p:nvPr/>
        </p:nvSpPr>
        <p:spPr>
          <a:xfrm>
            <a:off x="3337560" y="2560320"/>
            <a:ext cx="2651040" cy="21024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Calcul kWh chaque seconde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Déduction du crédit locataire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Crédit = 0 → relais OUVRE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Coupure automatique immédiate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Alerte Wi-Fi vers interface</a:t>
            </a:r>
            <a:endParaRPr b="0" lang="fr-FR" sz="950" spc="-1" strike="noStrike">
              <a:solidFill>
                <a:srgbClr val="000000"/>
              </a:solidFill>
              <a:latin typeface="Arial"/>
            </a:endParaRPr>
          </a:p>
        </p:txBody>
      </p:sp>
      <p:sp>
        <p:nvSpPr>
          <p:cNvPr id="160" name="Shape 13"/>
          <p:cNvSpPr/>
          <p:nvPr/>
        </p:nvSpPr>
        <p:spPr>
          <a:xfrm>
            <a:off x="6217920" y="2057400"/>
            <a:ext cx="2833920" cy="27424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61" name="Shape 14"/>
          <p:cNvSpPr/>
          <p:nvPr/>
        </p:nvSpPr>
        <p:spPr>
          <a:xfrm>
            <a:off x="6217920" y="2057400"/>
            <a:ext cx="2833920" cy="41076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62" name="Text 15"/>
          <p:cNvSpPr/>
          <p:nvPr/>
        </p:nvSpPr>
        <p:spPr>
          <a:xfrm>
            <a:off x="6217920" y="2057400"/>
            <a:ext cx="283392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fffff"/>
                </a:solidFill>
                <a:latin typeface="Calibri"/>
              </a:rPr>
              <a:t>Sauvegarde NVS</a:t>
            </a:r>
            <a:endParaRPr b="0" lang="fr-FR" sz="1100" spc="-1" strike="noStrike">
              <a:solidFill>
                <a:srgbClr val="000000"/>
              </a:solidFill>
              <a:latin typeface="Arial"/>
            </a:endParaRPr>
          </a:p>
        </p:txBody>
      </p:sp>
      <p:sp>
        <p:nvSpPr>
          <p:cNvPr id="163" name="Text 16"/>
          <p:cNvSpPr/>
          <p:nvPr/>
        </p:nvSpPr>
        <p:spPr>
          <a:xfrm>
            <a:off x="6309360" y="2560320"/>
            <a:ext cx="2651040" cy="21024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kWh sauvegardé toutes les 5 sec</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Batterie ≤25% → sauvegarde forcée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Résistant aux coupures 220V</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Données jamais perdues</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Historique 30 jours conservé</a:t>
            </a:r>
            <a:endParaRPr b="0" lang="fr-FR"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64"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65"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800" spc="199" strike="noStrike">
                <a:solidFill>
                  <a:srgbClr val="00b4d8"/>
                </a:solidFill>
                <a:latin typeface="Calibri"/>
              </a:rPr>
              <a:t>03  </a:t>
            </a:r>
            <a:r>
              <a:rPr b="1" lang="fr-FR" sz="1800" spc="199" strike="noStrike">
                <a:solidFill>
                  <a:srgbClr val="ffffff"/>
                </a:solidFill>
                <a:latin typeface="Calibri"/>
              </a:rPr>
              <a:t>MÉTHODOLOGIE — Interface web locale</a:t>
            </a:r>
            <a:endParaRPr b="0" lang="fr-FR" sz="1800" spc="-1" strike="noStrike">
              <a:solidFill>
                <a:srgbClr val="000000"/>
              </a:solidFill>
              <a:latin typeface="Arial"/>
            </a:endParaRPr>
          </a:p>
        </p:txBody>
      </p:sp>
      <p:sp>
        <p:nvSpPr>
          <p:cNvPr id="166" name="Shape 2"/>
          <p:cNvSpPr/>
          <p:nvPr/>
        </p:nvSpPr>
        <p:spPr>
          <a:xfrm>
            <a:off x="2286000" y="1005840"/>
            <a:ext cx="4571280" cy="502200"/>
          </a:xfrm>
          <a:prstGeom prst="rect">
            <a:avLst/>
          </a:prstGeom>
          <a:solidFill>
            <a:srgbClr val="1c7293"/>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67" name="Text 3"/>
          <p:cNvSpPr/>
          <p:nvPr/>
        </p:nvSpPr>
        <p:spPr>
          <a:xfrm>
            <a:off x="2286000" y="1005840"/>
            <a:ext cx="457128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900" spc="-1" strike="noStrike">
                <a:solidFill>
                  <a:srgbClr val="ffffff"/>
                </a:solidFill>
                <a:latin typeface="Calibri"/>
              </a:rPr>
              <a:t>📶 </a:t>
            </a:r>
            <a:r>
              <a:rPr b="1" lang="fr-FR" sz="900" spc="-1" strike="noStrike">
                <a:solidFill>
                  <a:srgbClr val="ffffff"/>
                </a:solidFill>
                <a:latin typeface="Calibri"/>
              </a:rPr>
              <a:t>ESP32 Access Point — SSID: Departageur — Aucun internet requis</a:t>
            </a:r>
            <a:endParaRPr b="0" lang="fr-FR" sz="900" spc="-1" strike="noStrike">
              <a:solidFill>
                <a:srgbClr val="000000"/>
              </a:solidFill>
              <a:latin typeface="Arial"/>
            </a:endParaRPr>
          </a:p>
        </p:txBody>
      </p:sp>
      <p:sp>
        <p:nvSpPr>
          <p:cNvPr id="168" name="Shape 4"/>
          <p:cNvSpPr/>
          <p:nvPr/>
        </p:nvSpPr>
        <p:spPr>
          <a:xfrm>
            <a:off x="365760" y="1645920"/>
            <a:ext cx="4205520" cy="31996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69" name="Shape 5"/>
          <p:cNvSpPr/>
          <p:nvPr/>
        </p:nvSpPr>
        <p:spPr>
          <a:xfrm>
            <a:off x="365760" y="1645920"/>
            <a:ext cx="4205520" cy="502200"/>
          </a:xfrm>
          <a:prstGeom prst="rect">
            <a:avLst/>
          </a:prstGeom>
          <a:solidFill>
            <a:srgbClr val="f59e0b"/>
          </a:solidFill>
          <a:ln w="12700">
            <a:solidFill>
              <a:srgbClr val="f59e0b"/>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70" name="Text 6"/>
          <p:cNvSpPr/>
          <p:nvPr/>
        </p:nvSpPr>
        <p:spPr>
          <a:xfrm>
            <a:off x="365760" y="1645920"/>
            <a:ext cx="420552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50" spc="-1" strike="noStrike">
                <a:solidFill>
                  <a:srgbClr val="ffffff"/>
                </a:solidFill>
                <a:latin typeface="Calibri"/>
              </a:rPr>
              <a:t>🔐 </a:t>
            </a:r>
            <a:r>
              <a:rPr b="1" lang="fr-FR" sz="1050" spc="-1" strike="noStrike">
                <a:solidFill>
                  <a:srgbClr val="ffffff"/>
                </a:solidFill>
                <a:latin typeface="Calibri"/>
              </a:rPr>
              <a:t>Bailleur — Accès sécurisé</a:t>
            </a:r>
            <a:endParaRPr b="0" lang="fr-FR" sz="1050" spc="-1" strike="noStrike">
              <a:solidFill>
                <a:srgbClr val="000000"/>
              </a:solidFill>
              <a:latin typeface="Arial"/>
            </a:endParaRPr>
          </a:p>
        </p:txBody>
      </p:sp>
      <p:sp>
        <p:nvSpPr>
          <p:cNvPr id="171" name="Text 7"/>
          <p:cNvSpPr/>
          <p:nvPr/>
        </p:nvSpPr>
        <p:spPr>
          <a:xfrm>
            <a:off x="457200" y="2194560"/>
            <a:ext cx="40226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pc="-1" strike="noStrike">
                <a:solidFill>
                  <a:srgbClr val="64748b"/>
                </a:solidFill>
                <a:latin typeface="Calibri"/>
              </a:rPr>
              <a:t>Route : /admin</a:t>
            </a:r>
            <a:endParaRPr b="0" lang="fr-FR" sz="850" spc="-1" strike="noStrike">
              <a:solidFill>
                <a:srgbClr val="000000"/>
              </a:solidFill>
              <a:latin typeface="Arial"/>
            </a:endParaRPr>
          </a:p>
        </p:txBody>
      </p:sp>
      <p:sp>
        <p:nvSpPr>
          <p:cNvPr id="172" name="Text 8"/>
          <p:cNvSpPr/>
          <p:nvPr/>
        </p:nvSpPr>
        <p:spPr>
          <a:xfrm>
            <a:off x="457200" y="2514600"/>
            <a:ext cx="3931200" cy="21938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Mot de passe requis côté ESP32</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Ajout du courant de locataire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Saisie crédit kWh par locataire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Date et heure de chaque recharge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Vue globale tous locataires</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Coupure / rétablissement manuel</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Configuration du système</a:t>
            </a:r>
            <a:endParaRPr b="0" lang="fr-FR" sz="950" spc="-1" strike="noStrike">
              <a:solidFill>
                <a:srgbClr val="000000"/>
              </a:solidFill>
              <a:latin typeface="Arial"/>
            </a:endParaRPr>
          </a:p>
        </p:txBody>
      </p:sp>
      <p:sp>
        <p:nvSpPr>
          <p:cNvPr id="173" name="Shape 9"/>
          <p:cNvSpPr/>
          <p:nvPr/>
        </p:nvSpPr>
        <p:spPr>
          <a:xfrm>
            <a:off x="4937760" y="1645920"/>
            <a:ext cx="4205520" cy="3199680"/>
          </a:xfrm>
          <a:prstGeom prst="rect">
            <a:avLst/>
          </a:prstGeom>
          <a:solidFill>
            <a:srgbClr val="ffffff"/>
          </a:solidFill>
          <a:ln w="12700">
            <a:solidFill>
              <a:srgbClr val="d1e8f5"/>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74" name="Shape 10"/>
          <p:cNvSpPr/>
          <p:nvPr/>
        </p:nvSpPr>
        <p:spPr>
          <a:xfrm>
            <a:off x="4937760" y="1645920"/>
            <a:ext cx="4205520" cy="50220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75" name="Text 11"/>
          <p:cNvSpPr/>
          <p:nvPr/>
        </p:nvSpPr>
        <p:spPr>
          <a:xfrm>
            <a:off x="4937760" y="1645920"/>
            <a:ext cx="4205520" cy="5022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50" spc="-1" strike="noStrike">
                <a:solidFill>
                  <a:srgbClr val="ffffff"/>
                </a:solidFill>
                <a:latin typeface="Calibri"/>
              </a:rPr>
              <a:t>👁 </a:t>
            </a:r>
            <a:r>
              <a:rPr b="1" lang="fr-FR" sz="1050" spc="-1" strike="noStrike">
                <a:solidFill>
                  <a:srgbClr val="ffffff"/>
                </a:solidFill>
                <a:latin typeface="Calibri"/>
              </a:rPr>
              <a:t>Locataires — Lecture seule</a:t>
            </a:r>
            <a:endParaRPr b="0" lang="fr-FR" sz="1050" spc="-1" strike="noStrike">
              <a:solidFill>
                <a:srgbClr val="000000"/>
              </a:solidFill>
              <a:latin typeface="Arial"/>
            </a:endParaRPr>
          </a:p>
        </p:txBody>
      </p:sp>
      <p:sp>
        <p:nvSpPr>
          <p:cNvPr id="176" name="Text 12"/>
          <p:cNvSpPr/>
          <p:nvPr/>
        </p:nvSpPr>
        <p:spPr>
          <a:xfrm>
            <a:off x="5029200" y="2194560"/>
            <a:ext cx="402264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50" spc="-1" strike="noStrike">
                <a:solidFill>
                  <a:srgbClr val="64748b"/>
                </a:solidFill>
                <a:latin typeface="Calibri"/>
              </a:rPr>
              <a:t>Route : /L1 à /L7</a:t>
            </a:r>
            <a:endParaRPr b="0" lang="fr-FR" sz="850" spc="-1" strike="noStrike">
              <a:solidFill>
                <a:srgbClr val="000000"/>
              </a:solidFill>
              <a:latin typeface="Arial"/>
            </a:endParaRPr>
          </a:p>
        </p:txBody>
      </p:sp>
      <p:sp>
        <p:nvSpPr>
          <p:cNvPr id="177" name="Text 13"/>
          <p:cNvSpPr/>
          <p:nvPr/>
        </p:nvSpPr>
        <p:spPr>
          <a:xfrm>
            <a:off x="5029200" y="2514600"/>
            <a:ext cx="3931200" cy="21938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Crédit restant en kWh — temps réel</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Consommation actuelle (Watts)</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Conversion kwh restant-monnaie visuelle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Historique recharges avec dates</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Peut comparer avec facture bailleur</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Alerte crédit faible automatique</a:t>
            </a:r>
            <a:endParaRPr b="0" lang="fr-FR" sz="95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950" spc="-1" strike="noStrike">
                <a:solidFill>
                  <a:srgbClr val="065a82"/>
                </a:solidFill>
                <a:latin typeface="Calibri"/>
              </a:rPr>
              <a:t>Historique jour / semaine / mois</a:t>
            </a:r>
            <a:endParaRPr b="0" lang="fr-FR" sz="950" spc="-1" strike="noStrike">
              <a:solidFill>
                <a:srgbClr val="000000"/>
              </a:solidFill>
              <a:latin typeface="Arial"/>
            </a:endParaRPr>
          </a:p>
        </p:txBody>
      </p:sp>
      <p:sp>
        <p:nvSpPr>
          <p:cNvPr id="178" name="Shape 14"/>
          <p:cNvSpPr/>
          <p:nvPr/>
        </p:nvSpPr>
        <p:spPr>
          <a:xfrm>
            <a:off x="365760" y="4663440"/>
            <a:ext cx="8411760" cy="319320"/>
          </a:xfrm>
          <a:prstGeom prst="rect">
            <a:avLst/>
          </a:prstGeom>
          <a:solidFill>
            <a:srgbClr val="eff6ff"/>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79" name="Text 15"/>
          <p:cNvSpPr/>
          <p:nvPr/>
        </p:nvSpPr>
        <p:spPr>
          <a:xfrm>
            <a:off x="457200" y="4663440"/>
            <a:ext cx="8228880" cy="319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i="1" lang="fr-FR" sz="800" spc="-1" strike="noStrike">
                <a:solidFill>
                  <a:srgbClr val="065a82"/>
                </a:solidFill>
                <a:latin typeface="Calibri"/>
              </a:rPr>
              <a:t>🔒 </a:t>
            </a:r>
            <a:r>
              <a:rPr b="0" i="1" lang="fr-FR" sz="800" spc="-1" strike="noStrike">
                <a:solidFill>
                  <a:srgbClr val="065a82"/>
                </a:solidFill>
                <a:latin typeface="Calibri"/>
              </a:rPr>
              <a:t>Sécurité : vérification mot de passe côté ESP32 (pas en JavaScript) — Reset physique si oublié — Boîtier fermé à clé</a:t>
            </a:r>
            <a:endParaRPr b="0" lang="fr-F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f6ff"/>
        </a:solidFill>
      </p:bgPr>
    </p:bg>
    <p:spTree>
      <p:nvGrpSpPr>
        <p:cNvPr id="1" name=""/>
        <p:cNvGrpSpPr/>
        <p:nvPr/>
      </p:nvGrpSpPr>
      <p:grpSpPr>
        <a:xfrm>
          <a:off x="0" y="0"/>
          <a:ext cx="0" cy="0"/>
          <a:chOff x="0" y="0"/>
          <a:chExt cx="0" cy="0"/>
        </a:xfrm>
      </p:grpSpPr>
      <p:sp>
        <p:nvSpPr>
          <p:cNvPr id="180"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81"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199" strike="noStrike">
                <a:solidFill>
                  <a:srgbClr val="00b4d8"/>
                </a:solidFill>
                <a:latin typeface="Calibri"/>
              </a:rPr>
              <a:t>04  </a:t>
            </a:r>
            <a:r>
              <a:rPr b="1" lang="fr-FR" sz="2000" spc="199" strike="noStrike">
                <a:solidFill>
                  <a:srgbClr val="ffffff"/>
                </a:solidFill>
                <a:latin typeface="Calibri"/>
              </a:rPr>
              <a:t>RÉSULTATS ATTENDUS</a:t>
            </a:r>
            <a:endParaRPr b="0" lang="fr-FR" sz="2000" spc="-1" strike="noStrike">
              <a:solidFill>
                <a:srgbClr val="000000"/>
              </a:solidFill>
              <a:latin typeface="Arial"/>
            </a:endParaRPr>
          </a:p>
        </p:txBody>
      </p:sp>
      <p:sp>
        <p:nvSpPr>
          <p:cNvPr id="182" name="Shape 2"/>
          <p:cNvSpPr/>
          <p:nvPr/>
        </p:nvSpPr>
        <p:spPr>
          <a:xfrm>
            <a:off x="274320" y="1005840"/>
            <a:ext cx="4022640" cy="3474000"/>
          </a:xfrm>
          <a:prstGeom prst="rect">
            <a:avLst/>
          </a:prstGeom>
          <a:solidFill>
            <a:srgbClr val="fff5f5"/>
          </a:solidFill>
          <a:ln w="12700">
            <a:solidFill>
              <a:srgbClr val="ef4444"/>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83" name="Shape 3"/>
          <p:cNvSpPr/>
          <p:nvPr/>
        </p:nvSpPr>
        <p:spPr>
          <a:xfrm>
            <a:off x="274320" y="1005840"/>
            <a:ext cx="4022640" cy="410760"/>
          </a:xfrm>
          <a:prstGeom prst="rect">
            <a:avLst/>
          </a:prstGeom>
          <a:solidFill>
            <a:srgbClr val="ef4444"/>
          </a:solidFill>
          <a:ln w="12700">
            <a:solidFill>
              <a:srgbClr val="ef4444"/>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84" name="Text 4"/>
          <p:cNvSpPr/>
          <p:nvPr/>
        </p:nvSpPr>
        <p:spPr>
          <a:xfrm>
            <a:off x="274320" y="1005840"/>
            <a:ext cx="402264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00" spc="-1" strike="noStrike">
                <a:solidFill>
                  <a:srgbClr val="ffffff"/>
                </a:solidFill>
                <a:latin typeface="Calibri"/>
              </a:rPr>
              <a:t>❌ </a:t>
            </a:r>
            <a:r>
              <a:rPr b="1" lang="fr-FR" sz="1000" spc="-1" strike="noStrike">
                <a:solidFill>
                  <a:srgbClr val="ffffff"/>
                </a:solidFill>
                <a:latin typeface="Calibri"/>
              </a:rPr>
              <a:t>AVANT — Situation actuelle</a:t>
            </a:r>
            <a:endParaRPr b="0" lang="fr-FR" sz="1000" spc="-1" strike="noStrike">
              <a:solidFill>
                <a:srgbClr val="000000"/>
              </a:solidFill>
              <a:latin typeface="Arial"/>
            </a:endParaRPr>
          </a:p>
        </p:txBody>
      </p:sp>
      <p:sp>
        <p:nvSpPr>
          <p:cNvPr id="185" name="Text 5"/>
          <p:cNvSpPr/>
          <p:nvPr/>
        </p:nvSpPr>
        <p:spPr>
          <a:xfrm>
            <a:off x="457200" y="1508760"/>
            <a:ext cx="3565440" cy="283392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Bailleur consomme sans être mesuré</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Aucune transparence sur la consommation</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Coupure manuelle par le bailleur uniquement</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Conflits récurrents non résolus</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Sous-compteur $15 sans coupure auto</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Locataire ne peut pas vérifier sa consommation</a:t>
            </a:r>
            <a:endParaRPr b="0" lang="fr-FR" sz="1000" spc="-1" strike="noStrike">
              <a:solidFill>
                <a:srgbClr val="000000"/>
              </a:solidFill>
              <a:latin typeface="Arial"/>
            </a:endParaRPr>
          </a:p>
        </p:txBody>
      </p:sp>
      <p:sp>
        <p:nvSpPr>
          <p:cNvPr id="186" name="Shape 6"/>
          <p:cNvSpPr/>
          <p:nvPr/>
        </p:nvSpPr>
        <p:spPr>
          <a:xfrm>
            <a:off x="4846320" y="1005840"/>
            <a:ext cx="4022640" cy="3474000"/>
          </a:xfrm>
          <a:prstGeom prst="rect">
            <a:avLst/>
          </a:prstGeom>
          <a:solidFill>
            <a:srgbClr val="f0fff4"/>
          </a:solidFill>
          <a:ln w="12700">
            <a:solidFill>
              <a:srgbClr val="10b981"/>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000000"/>
              </a:solidFill>
              <a:latin typeface="Arial"/>
            </a:endParaRPr>
          </a:p>
        </p:txBody>
      </p:sp>
      <p:sp>
        <p:nvSpPr>
          <p:cNvPr id="187" name="Shape 7"/>
          <p:cNvSpPr/>
          <p:nvPr/>
        </p:nvSpPr>
        <p:spPr>
          <a:xfrm>
            <a:off x="4846320" y="1005840"/>
            <a:ext cx="4022640" cy="410760"/>
          </a:xfrm>
          <a:prstGeom prst="rect">
            <a:avLst/>
          </a:prstGeom>
          <a:solidFill>
            <a:srgbClr val="10b981"/>
          </a:solidFill>
          <a:ln w="12700">
            <a:solidFill>
              <a:srgbClr val="10b981"/>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88" name="Text 8"/>
          <p:cNvSpPr/>
          <p:nvPr/>
        </p:nvSpPr>
        <p:spPr>
          <a:xfrm>
            <a:off x="4846320" y="1005840"/>
            <a:ext cx="4022640" cy="410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000" spc="-1" strike="noStrike">
                <a:solidFill>
                  <a:srgbClr val="ffffff"/>
                </a:solidFill>
                <a:latin typeface="Calibri"/>
              </a:rPr>
              <a:t>✅ </a:t>
            </a:r>
            <a:r>
              <a:rPr b="1" lang="fr-FR" sz="1000" spc="-1" strike="noStrike">
                <a:solidFill>
                  <a:srgbClr val="ffffff"/>
                </a:solidFill>
                <a:latin typeface="Calibri"/>
              </a:rPr>
              <a:t>APRÈS — Avec le système</a:t>
            </a:r>
            <a:endParaRPr b="0" lang="fr-FR" sz="1000" spc="-1" strike="noStrike">
              <a:solidFill>
                <a:srgbClr val="000000"/>
              </a:solidFill>
              <a:latin typeface="Arial"/>
            </a:endParaRPr>
          </a:p>
        </p:txBody>
      </p:sp>
      <p:sp>
        <p:nvSpPr>
          <p:cNvPr id="189" name="Text 9"/>
          <p:cNvSpPr/>
          <p:nvPr/>
        </p:nvSpPr>
        <p:spPr>
          <a:xfrm>
            <a:off x="5029200" y="1508760"/>
            <a:ext cx="3565440" cy="283392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Chaque consommation mesurée individuellement</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Interface web — historique transparent</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Coupure automatique au dépassement du crédit</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Conflits résolus par preuves numériques</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Coût partagé &lt;$3.75* par personne</a:t>
            </a:r>
            <a:endParaRPr b="0" lang="fr-FR" sz="1000" spc="-1" strike="noStrike">
              <a:solidFill>
                <a:srgbClr val="000000"/>
              </a:solidFill>
              <a:latin typeface="Arial"/>
            </a:endParaRPr>
          </a:p>
          <a:p>
            <a:pPr marL="343080" indent="-343080" defTabSz="914400">
              <a:lnSpc>
                <a:spcPct val="100000"/>
              </a:lnSpc>
              <a:buClr>
                <a:srgbClr val="065a82"/>
              </a:buClr>
              <a:buFont typeface="Symbol" charset="2"/>
              <a:buChar char=""/>
            </a:pPr>
            <a:r>
              <a:rPr b="0" lang="fr-FR" sz="1000" spc="-1" strike="noStrike">
                <a:solidFill>
                  <a:srgbClr val="065a82"/>
                </a:solidFill>
                <a:latin typeface="Calibri"/>
              </a:rPr>
              <a:t>Locataire voit son crédit en temps réel</a:t>
            </a:r>
            <a:endParaRPr b="0" lang="fr-FR" sz="1000" spc="-1" strike="noStrike">
              <a:solidFill>
                <a:srgbClr val="000000"/>
              </a:solidFill>
              <a:latin typeface="Arial"/>
            </a:endParaRPr>
          </a:p>
        </p:txBody>
      </p:sp>
      <p:sp>
        <p:nvSpPr>
          <p:cNvPr id="190" name="Text 10"/>
          <p:cNvSpPr/>
          <p:nvPr/>
        </p:nvSpPr>
        <p:spPr>
          <a:xfrm>
            <a:off x="4114800" y="2286000"/>
            <a:ext cx="730800" cy="730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3200" spc="-1" strike="noStrike">
                <a:solidFill>
                  <a:srgbClr val="00b4d8"/>
                </a:solidFill>
                <a:latin typeface="Calibri"/>
              </a:rPr>
              <a:t>→</a:t>
            </a:r>
            <a:endParaRPr b="0" lang="fr-FR" sz="3200" spc="-1" strike="noStrike">
              <a:solidFill>
                <a:srgbClr val="000000"/>
              </a:solidFill>
              <a:latin typeface="Arial"/>
            </a:endParaRPr>
          </a:p>
        </p:txBody>
      </p:sp>
      <p:sp>
        <p:nvSpPr>
          <p:cNvPr id="191" name="Shape 11"/>
          <p:cNvSpPr/>
          <p:nvPr/>
        </p:nvSpPr>
        <p:spPr>
          <a:xfrm>
            <a:off x="274320" y="4663440"/>
            <a:ext cx="8594640" cy="31932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2" name="Text 12"/>
          <p:cNvSpPr/>
          <p:nvPr/>
        </p:nvSpPr>
        <p:spPr>
          <a:xfrm>
            <a:off x="274320" y="4663440"/>
            <a:ext cx="8594640" cy="319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fr-FR" sz="800" spc="-1" strike="noStrike">
                <a:solidFill>
                  <a:srgbClr val="00b4d8"/>
                </a:solidFill>
                <a:latin typeface="Calibri"/>
              </a:rPr>
              <a:t>Perspectives : V2 — 16 canaux | App Flutter (APK en cours) | Partenariat revendeur agréé (PayIt/Fondeka) pour intégration SOCODEE/Virunga/NURU</a:t>
            </a:r>
            <a:endParaRPr b="0" lang="fr-FR"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628"/>
        </a:solidFill>
      </p:bgPr>
    </p:bg>
    <p:spTree>
      <p:nvGrpSpPr>
        <p:cNvPr id="1" name=""/>
        <p:cNvGrpSpPr/>
        <p:nvPr/>
      </p:nvGrpSpPr>
      <p:grpSpPr>
        <a:xfrm>
          <a:off x="0" y="0"/>
          <a:ext cx="0" cy="0"/>
          <a:chOff x="0" y="0"/>
          <a:chExt cx="0" cy="0"/>
        </a:xfrm>
      </p:grpSpPr>
      <p:sp>
        <p:nvSpPr>
          <p:cNvPr id="193" name="Shape 0"/>
          <p:cNvSpPr/>
          <p:nvPr/>
        </p:nvSpPr>
        <p:spPr>
          <a:xfrm>
            <a:off x="0" y="0"/>
            <a:ext cx="9143280" cy="913680"/>
          </a:xfrm>
          <a:prstGeom prst="rect">
            <a:avLst/>
          </a:prstGeom>
          <a:solidFill>
            <a:srgbClr val="065a82"/>
          </a:solidFill>
          <a:ln w="12700">
            <a:solidFill>
              <a:srgbClr val="065a82"/>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4" name="Text 1"/>
          <p:cNvSpPr/>
          <p:nvPr/>
        </p:nvSpPr>
        <p:spPr>
          <a:xfrm>
            <a:off x="457200" y="0"/>
            <a:ext cx="8228880" cy="913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000" spc="199" strike="noStrike">
                <a:solidFill>
                  <a:srgbClr val="00b4d8"/>
                </a:solidFill>
                <a:latin typeface="Calibri"/>
              </a:rPr>
              <a:t>05  </a:t>
            </a:r>
            <a:r>
              <a:rPr b="1" lang="fr-FR" sz="2000" spc="199" strike="noStrike">
                <a:solidFill>
                  <a:srgbClr val="ffffff"/>
                </a:solidFill>
                <a:latin typeface="Calibri"/>
              </a:rPr>
              <a:t>CONCLUSION</a:t>
            </a:r>
            <a:endParaRPr b="0" lang="fr-FR" sz="2000" spc="-1" strike="noStrike">
              <a:solidFill>
                <a:srgbClr val="ffffff"/>
              </a:solidFill>
              <a:latin typeface="Arial"/>
            </a:endParaRPr>
          </a:p>
        </p:txBody>
      </p:sp>
      <p:sp>
        <p:nvSpPr>
          <p:cNvPr id="195" name="Shape 2"/>
          <p:cNvSpPr/>
          <p:nvPr/>
        </p:nvSpPr>
        <p:spPr>
          <a:xfrm>
            <a:off x="365760" y="1005840"/>
            <a:ext cx="8411760" cy="1188000"/>
          </a:xfrm>
          <a:prstGeom prst="rect">
            <a:avLst/>
          </a:prstGeom>
          <a:solidFill>
            <a:srgbClr val="065a82"/>
          </a:solidFill>
          <a:ln w="12700">
            <a:solidFill>
              <a:srgbClr val="1c7293"/>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6" name="Text 3"/>
          <p:cNvSpPr/>
          <p:nvPr/>
        </p:nvSpPr>
        <p:spPr>
          <a:xfrm>
            <a:off x="548640" y="1051560"/>
            <a:ext cx="8046000" cy="1050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fr-FR" sz="1100" spc="-1" strike="noStrike">
                <a:solidFill>
                  <a:srgbClr val="ffffff"/>
                </a:solidFill>
                <a:latin typeface="Calibri"/>
              </a:rPr>
              <a:t>Ce projet démontre qu'un système IoT embarqué à faible coût peut résoudre un problème social et économique réel vécu quotidiennement à Goma — sans infrastructure internet, sans modification de l'installation existante, avec une transparence totale pour toutes les parties.</a:t>
            </a:r>
            <a:endParaRPr b="0" lang="fr-FR" sz="1100" spc="-1" strike="noStrike">
              <a:solidFill>
                <a:srgbClr val="ffffff"/>
              </a:solidFill>
              <a:latin typeface="Arial"/>
            </a:endParaRPr>
          </a:p>
        </p:txBody>
      </p:sp>
      <p:sp>
        <p:nvSpPr>
          <p:cNvPr id="197" name="Shape 4"/>
          <p:cNvSpPr/>
          <p:nvPr/>
        </p:nvSpPr>
        <p:spPr>
          <a:xfrm>
            <a:off x="365760" y="2377440"/>
            <a:ext cx="1965240" cy="210240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198" name="Text 5"/>
          <p:cNvSpPr/>
          <p:nvPr/>
        </p:nvSpPr>
        <p:spPr>
          <a:xfrm>
            <a:off x="365760" y="2423160"/>
            <a:ext cx="196524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pc="-1" strike="noStrike">
                <a:solidFill>
                  <a:srgbClr val="000000"/>
                </a:solidFill>
                <a:latin typeface="Calibri"/>
              </a:rPr>
              <a:t>🔬</a:t>
            </a:r>
            <a:endParaRPr b="0" lang="fr-FR" sz="2200" spc="-1" strike="noStrike">
              <a:solidFill>
                <a:srgbClr val="ffffff"/>
              </a:solidFill>
              <a:latin typeface="Arial"/>
            </a:endParaRPr>
          </a:p>
        </p:txBody>
      </p:sp>
      <p:sp>
        <p:nvSpPr>
          <p:cNvPr id="199" name="Text 6"/>
          <p:cNvSpPr/>
          <p:nvPr/>
        </p:nvSpPr>
        <p:spPr>
          <a:xfrm>
            <a:off x="365760" y="288036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59e0b"/>
                </a:solidFill>
                <a:latin typeface="Calibri"/>
              </a:rPr>
              <a:t>Technique</a:t>
            </a:r>
            <a:endParaRPr b="0" lang="fr-FR" sz="1100" spc="-1" strike="noStrike">
              <a:solidFill>
                <a:srgbClr val="ffffff"/>
              </a:solidFill>
              <a:latin typeface="Arial"/>
            </a:endParaRPr>
          </a:p>
        </p:txBody>
      </p:sp>
      <p:sp>
        <p:nvSpPr>
          <p:cNvPr id="200" name="Text 7"/>
          <p:cNvSpPr/>
          <p:nvPr/>
        </p:nvSpPr>
        <p:spPr>
          <a:xfrm>
            <a:off x="457200" y="3291840"/>
            <a:ext cx="178236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pc="-1" strike="noStrike">
                <a:solidFill>
                  <a:srgbClr val="ffffff"/>
                </a:solidFill>
                <a:latin typeface="Calibri"/>
              </a:rPr>
              <a:t>ESP32 + C++</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ACS712 + ZMPT101B</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Firmware complet</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Application Flutter (APK)</a:t>
            </a:r>
            <a:endParaRPr b="0" lang="fr-FR" sz="900" spc="-1" strike="noStrike">
              <a:solidFill>
                <a:srgbClr val="ffffff"/>
              </a:solidFill>
              <a:latin typeface="Arial"/>
            </a:endParaRPr>
          </a:p>
        </p:txBody>
      </p:sp>
      <p:sp>
        <p:nvSpPr>
          <p:cNvPr id="201" name="Shape 8"/>
          <p:cNvSpPr/>
          <p:nvPr/>
        </p:nvSpPr>
        <p:spPr>
          <a:xfrm>
            <a:off x="2514600" y="2377440"/>
            <a:ext cx="1965240" cy="210240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02" name="Text 9"/>
          <p:cNvSpPr/>
          <p:nvPr/>
        </p:nvSpPr>
        <p:spPr>
          <a:xfrm>
            <a:off x="2514600" y="2423160"/>
            <a:ext cx="196524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pc="-1" strike="noStrike">
                <a:solidFill>
                  <a:srgbClr val="000000"/>
                </a:solidFill>
                <a:latin typeface="Calibri"/>
              </a:rPr>
              <a:t>💰</a:t>
            </a:r>
            <a:endParaRPr b="0" lang="fr-FR" sz="2200" spc="-1" strike="noStrike">
              <a:solidFill>
                <a:srgbClr val="ffffff"/>
              </a:solidFill>
              <a:latin typeface="Arial"/>
            </a:endParaRPr>
          </a:p>
        </p:txBody>
      </p:sp>
      <p:sp>
        <p:nvSpPr>
          <p:cNvPr id="203" name="Text 10"/>
          <p:cNvSpPr/>
          <p:nvPr/>
        </p:nvSpPr>
        <p:spPr>
          <a:xfrm>
            <a:off x="2514600" y="288036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59e0b"/>
                </a:solidFill>
                <a:latin typeface="Calibri"/>
              </a:rPr>
              <a:t>Économique</a:t>
            </a:r>
            <a:endParaRPr b="0" lang="fr-FR" sz="1100" spc="-1" strike="noStrike">
              <a:solidFill>
                <a:srgbClr val="ffffff"/>
              </a:solidFill>
              <a:latin typeface="Arial"/>
            </a:endParaRPr>
          </a:p>
        </p:txBody>
      </p:sp>
      <p:sp>
        <p:nvSpPr>
          <p:cNvPr id="204" name="Text 11"/>
          <p:cNvSpPr/>
          <p:nvPr/>
        </p:nvSpPr>
        <p:spPr>
          <a:xfrm>
            <a:off x="2606040" y="3291840"/>
            <a:ext cx="178236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pc="-1" strike="noStrike">
                <a:solidFill>
                  <a:srgbClr val="ffffff"/>
                </a:solidFill>
                <a:latin typeface="Calibri"/>
              </a:rPr>
              <a:t>&lt;$30/unité*</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&lt;$3.75* chacun</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ROI immédiat</a:t>
            </a:r>
            <a:endParaRPr b="0" lang="fr-FR" sz="900" spc="-1" strike="noStrike">
              <a:solidFill>
                <a:srgbClr val="ffffff"/>
              </a:solidFill>
              <a:latin typeface="Arial"/>
            </a:endParaRPr>
          </a:p>
        </p:txBody>
      </p:sp>
      <p:sp>
        <p:nvSpPr>
          <p:cNvPr id="205" name="Shape 12"/>
          <p:cNvSpPr/>
          <p:nvPr/>
        </p:nvSpPr>
        <p:spPr>
          <a:xfrm>
            <a:off x="4663440" y="2377440"/>
            <a:ext cx="1965240" cy="210240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06" name="Text 13"/>
          <p:cNvSpPr/>
          <p:nvPr/>
        </p:nvSpPr>
        <p:spPr>
          <a:xfrm>
            <a:off x="4663440" y="2423160"/>
            <a:ext cx="196524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pc="-1" strike="noStrike">
                <a:solidFill>
                  <a:srgbClr val="000000"/>
                </a:solidFill>
                <a:latin typeface="Calibri"/>
              </a:rPr>
              <a:t>🤝</a:t>
            </a:r>
            <a:endParaRPr b="0" lang="fr-FR" sz="2200" spc="-1" strike="noStrike">
              <a:solidFill>
                <a:srgbClr val="ffffff"/>
              </a:solidFill>
              <a:latin typeface="Arial"/>
            </a:endParaRPr>
          </a:p>
        </p:txBody>
      </p:sp>
      <p:sp>
        <p:nvSpPr>
          <p:cNvPr id="207" name="Text 14"/>
          <p:cNvSpPr/>
          <p:nvPr/>
        </p:nvSpPr>
        <p:spPr>
          <a:xfrm>
            <a:off x="4663440" y="288036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59e0b"/>
                </a:solidFill>
                <a:latin typeface="Calibri"/>
              </a:rPr>
              <a:t>Social</a:t>
            </a:r>
            <a:endParaRPr b="0" lang="fr-FR" sz="1100" spc="-1" strike="noStrike">
              <a:solidFill>
                <a:srgbClr val="ffffff"/>
              </a:solidFill>
              <a:latin typeface="Arial"/>
            </a:endParaRPr>
          </a:p>
        </p:txBody>
      </p:sp>
      <p:sp>
        <p:nvSpPr>
          <p:cNvPr id="208" name="Text 15"/>
          <p:cNvSpPr/>
          <p:nvPr/>
        </p:nvSpPr>
        <p:spPr>
          <a:xfrm>
            <a:off x="4754880" y="3291840"/>
            <a:ext cx="178236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pc="-1" strike="noStrike">
                <a:solidFill>
                  <a:srgbClr val="ffffff"/>
                </a:solidFill>
                <a:latin typeface="Calibri"/>
              </a:rPr>
              <a:t>Fin des conflits</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Transparence totale</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Équité énergétique</a:t>
            </a:r>
            <a:endParaRPr b="0" lang="fr-FR" sz="900" spc="-1" strike="noStrike">
              <a:solidFill>
                <a:srgbClr val="ffffff"/>
              </a:solidFill>
              <a:latin typeface="Arial"/>
            </a:endParaRPr>
          </a:p>
        </p:txBody>
      </p:sp>
      <p:sp>
        <p:nvSpPr>
          <p:cNvPr id="209" name="Shape 16"/>
          <p:cNvSpPr/>
          <p:nvPr/>
        </p:nvSpPr>
        <p:spPr>
          <a:xfrm>
            <a:off x="6812280" y="2377440"/>
            <a:ext cx="1965240" cy="2102400"/>
          </a:xfrm>
          <a:prstGeom prst="rect">
            <a:avLst/>
          </a:prstGeom>
          <a:solidFill>
            <a:srgbClr val="1c7293"/>
          </a:solidFill>
          <a:ln w="12700">
            <a:solidFill>
              <a:srgbClr val="1c7293"/>
            </a:solidFill>
            <a:round/>
          </a:ln>
          <a:effectLst>
            <a:outerShdw algn="bl" blurRad="76320" dir="8100000" dist="25455" kx="0" ky="0" rotWithShape="0" sx="100000" sy="100000">
              <a:srgbClr val="000000">
                <a:alpha val="15000"/>
              </a:srgbClr>
            </a:outerShdw>
          </a:effectLst>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10" name="Text 17"/>
          <p:cNvSpPr/>
          <p:nvPr/>
        </p:nvSpPr>
        <p:spPr>
          <a:xfrm>
            <a:off x="6812280" y="2423160"/>
            <a:ext cx="1965240" cy="456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2200" spc="-1" strike="noStrike">
                <a:solidFill>
                  <a:srgbClr val="000000"/>
                </a:solidFill>
                <a:latin typeface="Calibri"/>
              </a:rPr>
              <a:t>🚀</a:t>
            </a:r>
            <a:endParaRPr b="0" lang="fr-FR" sz="2200" spc="-1" strike="noStrike">
              <a:solidFill>
                <a:srgbClr val="ffffff"/>
              </a:solidFill>
              <a:latin typeface="Arial"/>
            </a:endParaRPr>
          </a:p>
        </p:txBody>
      </p:sp>
      <p:sp>
        <p:nvSpPr>
          <p:cNvPr id="211" name="Text 18"/>
          <p:cNvSpPr/>
          <p:nvPr/>
        </p:nvSpPr>
        <p:spPr>
          <a:xfrm>
            <a:off x="6812280" y="2880360"/>
            <a:ext cx="1965240" cy="365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100" spc="-1" strike="noStrike">
                <a:solidFill>
                  <a:srgbClr val="f59e0b"/>
                </a:solidFill>
                <a:latin typeface="Calibri"/>
              </a:rPr>
              <a:t>Perspective</a:t>
            </a:r>
            <a:endParaRPr b="0" lang="fr-FR" sz="1100" spc="-1" strike="noStrike">
              <a:solidFill>
                <a:srgbClr val="ffffff"/>
              </a:solidFill>
              <a:latin typeface="Arial"/>
            </a:endParaRPr>
          </a:p>
        </p:txBody>
      </p:sp>
      <p:sp>
        <p:nvSpPr>
          <p:cNvPr id="212" name="Text 19"/>
          <p:cNvSpPr/>
          <p:nvPr/>
        </p:nvSpPr>
        <p:spPr>
          <a:xfrm>
            <a:off x="6903720" y="3291840"/>
            <a:ext cx="1782360" cy="1005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fr-FR" sz="900" spc="-1" strike="noStrike">
                <a:solidFill>
                  <a:srgbClr val="ffffff"/>
                </a:solidFill>
                <a:latin typeface="Calibri"/>
              </a:rPr>
              <a:t>V2 16 canaux</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Notifications SMS (GSM)</a:t>
            </a:r>
            <a:endParaRPr b="0" lang="fr-FR" sz="900" spc="-1" strike="noStrike">
              <a:solidFill>
                <a:srgbClr val="ffffff"/>
              </a:solidFill>
              <a:latin typeface="Arial"/>
            </a:endParaRPr>
          </a:p>
          <a:p>
            <a:pPr algn="ctr" defTabSz="914400">
              <a:lnSpc>
                <a:spcPct val="100000"/>
              </a:lnSpc>
              <a:tabLst>
                <a:tab algn="l" pos="0"/>
              </a:tabLst>
            </a:pPr>
            <a:r>
              <a:rPr b="0" lang="fr-FR" sz="900" spc="-1" strike="noStrike">
                <a:solidFill>
                  <a:srgbClr val="ffffff"/>
                </a:solidFill>
                <a:latin typeface="Calibri"/>
              </a:rPr>
              <a:t>Partenariat PayIt/Fondeka</a:t>
            </a:r>
            <a:endParaRPr b="0" lang="fr-FR" sz="900" spc="-1" strike="noStrike">
              <a:solidFill>
                <a:srgbClr val="ffffff"/>
              </a:solidFill>
              <a:latin typeface="Arial"/>
            </a:endParaRPr>
          </a:p>
        </p:txBody>
      </p:sp>
      <p:sp>
        <p:nvSpPr>
          <p:cNvPr id="213" name="Shape 20"/>
          <p:cNvSpPr/>
          <p:nvPr/>
        </p:nvSpPr>
        <p:spPr>
          <a:xfrm>
            <a:off x="0" y="4709160"/>
            <a:ext cx="9143280" cy="433800"/>
          </a:xfrm>
          <a:prstGeom prst="rect">
            <a:avLst/>
          </a:prstGeom>
          <a:solidFill>
            <a:srgbClr val="00b4d8"/>
          </a:solidFill>
          <a:ln w="12700">
            <a:solidFill>
              <a:srgbClr val="00b4d8"/>
            </a:solidFill>
            <a:round/>
          </a:ln>
        </p:spPr>
        <p:style>
          <a:lnRef idx="0"/>
          <a:fillRef idx="0"/>
          <a:effectRef idx="0"/>
          <a:fontRef idx="minor"/>
        </p:style>
        <p:txBody>
          <a:bodyPr lIns="90000" rIns="90000" tIns="45000" bIns="45000" anchor="t">
            <a:noAutofit/>
          </a:bodyPr>
          <a:p>
            <a:pPr>
              <a:lnSpc>
                <a:spcPct val="100000"/>
              </a:lnSpc>
            </a:pPr>
            <a:endParaRPr b="0" lang="fr-FR" sz="1800" spc="-1" strike="noStrike">
              <a:solidFill>
                <a:srgbClr val="ffffff"/>
              </a:solidFill>
              <a:latin typeface="Arial"/>
            </a:endParaRPr>
          </a:p>
        </p:txBody>
      </p:sp>
      <p:sp>
        <p:nvSpPr>
          <p:cNvPr id="214" name="Text 21"/>
          <p:cNvSpPr/>
          <p:nvPr/>
        </p:nvSpPr>
        <p:spPr>
          <a:xfrm>
            <a:off x="0" y="4709160"/>
            <a:ext cx="9143280" cy="433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fr-FR" sz="1300" spc="97" strike="noStrike">
                <a:solidFill>
                  <a:srgbClr val="0a1628"/>
                </a:solidFill>
                <a:latin typeface="Calibri"/>
              </a:rPr>
              <a:t>Merci pour votre attention — Questions et suggestions bienvenues</a:t>
            </a:r>
            <a:endParaRPr b="0" lang="fr-FR"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81</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2026-03-14T11:41:00Z</dcterms:created>
  <dc:creator>Votre Nom</dc:creator>
  <dc:description/>
  <dc:language>fr-FR</dc:language>
  <cp:lastModifiedBy/>
  <dcterms:modified xsi:type="dcterms:W3CDTF">2026-03-18T10:50:20Z</dcterms:modified>
  <cp:revision>3</cp:revision>
  <dc:subject>PptxGenJS Presentation</dc:subject>
  <dc:title>Départageur Intelligent — TFC</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11</vt:i4>
  </property>
</Properties>
</file>